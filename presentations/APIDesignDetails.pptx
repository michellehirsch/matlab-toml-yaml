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2">
  <p:sldMasterIdLst>
    <p:sldMasterId id="2147483648" r:id="rId4"/>
  </p:sldMasterIdLst>
  <p:notesMasterIdLst>
    <p:notesMasterId r:id="rId21"/>
  </p:notesMasterIdLst>
  <p:handoutMasterIdLst>
    <p:handoutMasterId r:id="rId22"/>
  </p:handoutMasterIdLst>
  <p:sldIdLst>
    <p:sldId id="2090651499" r:id="rId5"/>
    <p:sldId id="2090651501" r:id="rId6"/>
    <p:sldId id="2090651546" r:id="rId7"/>
    <p:sldId id="2090651593" r:id="rId8"/>
    <p:sldId id="2090651594" r:id="rId9"/>
    <p:sldId id="2090651595" r:id="rId10"/>
    <p:sldId id="368" r:id="rId11"/>
    <p:sldId id="2090651548" r:id="rId12"/>
    <p:sldId id="2090651542" r:id="rId13"/>
    <p:sldId id="371" r:id="rId14"/>
    <p:sldId id="2090651543" r:id="rId15"/>
    <p:sldId id="386" r:id="rId16"/>
    <p:sldId id="2090651545" r:id="rId17"/>
    <p:sldId id="2090651592" r:id="rId18"/>
    <p:sldId id="389" r:id="rId19"/>
    <p:sldId id="391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roposed Design" id="{5C649C11-B93C-496B-B335-E01374618A21}">
          <p14:sldIdLst>
            <p14:sldId id="2090651499"/>
            <p14:sldId id="2090651501"/>
          </p14:sldIdLst>
        </p14:section>
        <p14:section name="API Details" id="{9CDF8958-7587-476B-ACF5-C79BCBDEBFEA}">
          <p14:sldIdLst>
            <p14:sldId id="2090651546"/>
            <p14:sldId id="2090651593"/>
            <p14:sldId id="2090651594"/>
            <p14:sldId id="2090651595"/>
            <p14:sldId id="368"/>
            <p14:sldId id="2090651548"/>
            <p14:sldId id="2090651542"/>
            <p14:sldId id="371"/>
            <p14:sldId id="2090651543"/>
            <p14:sldId id="386"/>
            <p14:sldId id="2090651545"/>
            <p14:sldId id="2090651592"/>
            <p14:sldId id="389"/>
            <p14:sldId id="391"/>
          </p14:sldIdLst>
        </p14:section>
        <p14:section name="Summary" id="{623D4BBB-1553-4A07-A567-7B8CFFC5C83E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29B5830D-16F3-DFFC-96BC-2F13F54A9960}" name="Nandini Sen" initials="NS" userId="S::nsen@mathworks.com::1eb59307-e418-4d42-8660-c8a76b2e6d80" providerId="AD"/>
  <p188:author id="{0C9BBB92-3287-75CE-3924-851D8BE30797}" name="Vadim Teverovsky" initials="VT" userId="S::vteverov@mathworks.com::8207c74c-3121-41e5-ab76-5f266d8f4f02" providerId="AD"/>
  <p188:author id="{FB2483CC-9708-B07E-3E19-3754C1E19721}" name="John Booker" initials="JB" userId="S::jbooker@mathworks.com::6f49b1c6-d488-4c0f-97fd-9cdf97f6b409" providerId="AD"/>
  <p188:author id="{D86331DE-66E0-C9FC-24E0-884C3B4AB979}" name="Scott French" initials="SF" userId="S::scott@mathworks.com::91feeab0-b1db-4cd1-ab51-aed1c67835a6" providerId="AD"/>
  <p188:author id="{2A4ACBE8-06D8-B449-AC5F-6517BC7C0250}" name="Michelle Hirsch" initials="MH" userId="S::mhirsch@mathworks.com::db7ba3ee-5153-464f-bc32-e9970c3eb20a" providerId="AD"/>
  <p188:author id="{47B94EEB-0175-B8F6-FFC8-205C2D9E69B0}" name="Thakur Neupane" initials="TN" userId="S::tneupane@mathworks.com::2b3cc758-6f8d-4d29-8fd9-40bdd5db8e14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020F6"/>
    <a:srgbClr val="FF0000"/>
    <a:srgbClr val="FF6400"/>
    <a:srgbClr val="228B22"/>
    <a:srgbClr val="0000FF"/>
    <a:srgbClr val="636569"/>
    <a:srgbClr val="715091"/>
    <a:srgbClr val="176DAD"/>
    <a:srgbClr val="0D78C9"/>
    <a:srgbClr val="024C8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527"/>
    <p:restoredTop sz="94658"/>
  </p:normalViewPr>
  <p:slideViewPr>
    <p:cSldViewPr snapToGrid="0">
      <p:cViewPr varScale="1">
        <p:scale>
          <a:sx n="102" d="100"/>
          <a:sy n="102" d="100"/>
        </p:scale>
        <p:origin x="392" y="472"/>
      </p:cViewPr>
      <p:guideLst>
        <p:guide orient="horz" pos="2160"/>
        <p:guide pos="3841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handoutMaster" Target="handoutMasters/handoutMaster1.xml"/><Relationship Id="rId27" Type="http://schemas.microsoft.com/office/2018/10/relationships/authors" Target="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F993C83-2184-4286-ABE1-941A40B40C8F}" type="datetimeFigureOut">
              <a:rPr lang="en-US" smtClean="0"/>
              <a:pPr/>
              <a:t>1/16/26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7603001-E0F2-47E5-A338-816CC267AF6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36578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053241F-7ED4-45AC-844C-15DB0D5F9CCD}" type="datetimeFigureOut">
              <a:rPr lang="en-US" smtClean="0"/>
              <a:pPr/>
              <a:t>1/16/26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D73B8C3-A209-4A55-9261-22C2A02B315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40815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Wingdings" panose="05000000000000000000" pitchFamily="2" charset="2"/>
              <a:buChar char="à"/>
            </a:pPr>
            <a:r>
              <a:rPr lang="en-US">
                <a:sym typeface="Wingdings" panose="05000000000000000000" pitchFamily="2" charset="2"/>
              </a:rPr>
              <a:t>I have summarized all APIs and their H1 lines in this slide</a:t>
            </a:r>
          </a:p>
          <a:p>
            <a:pPr marL="0" indent="0">
              <a:buFont typeface="Wingdings" panose="05000000000000000000" pitchFamily="2" charset="2"/>
              <a:buNone/>
            </a:pPr>
            <a:endParaRPr lang="en-US">
              <a:sym typeface="Wingdings" panose="05000000000000000000" pitchFamily="2" charset="2"/>
            </a:endParaRPr>
          </a:p>
          <a:p>
            <a:pPr marL="171450" indent="-171450">
              <a:buFont typeface="Wingdings" panose="05000000000000000000" pitchFamily="2" charset="2"/>
              <a:buChar char="à"/>
            </a:pPr>
            <a:r>
              <a:rPr lang="en-US">
                <a:sym typeface="Wingdings" panose="05000000000000000000" pitchFamily="2" charset="2"/>
              </a:rPr>
              <a:t>There are two broad sets of APIs</a:t>
            </a:r>
          </a:p>
          <a:p>
            <a:pPr marL="628650" lvl="1" indent="-171450">
              <a:buFont typeface="Wingdings" panose="05000000000000000000" pitchFamily="2" charset="2"/>
              <a:buChar char="à"/>
            </a:pPr>
            <a:r>
              <a:rPr lang="en-US">
                <a:sym typeface="Wingdings" panose="05000000000000000000" pitchFamily="2" charset="2"/>
              </a:rPr>
              <a:t>Repository Management APIs</a:t>
            </a:r>
          </a:p>
          <a:p>
            <a:pPr marL="628650" lvl="1" indent="-171450">
              <a:buFont typeface="Wingdings" panose="05000000000000000000" pitchFamily="2" charset="2"/>
              <a:buChar char="à"/>
            </a:pPr>
            <a:r>
              <a:rPr lang="en-US">
                <a:sym typeface="Wingdings" panose="05000000000000000000" pitchFamily="2" charset="2"/>
              </a:rPr>
              <a:t>Package Management APIs</a:t>
            </a:r>
          </a:p>
          <a:p>
            <a:pPr marL="171450" lvl="0" indent="-171450">
              <a:buFont typeface="Wingdings" panose="05000000000000000000" pitchFamily="2" charset="2"/>
              <a:buChar char="à"/>
            </a:pPr>
            <a:r>
              <a:rPr lang="en-US">
                <a:sym typeface="Wingdings" panose="05000000000000000000" pitchFamily="2" charset="2"/>
              </a:rPr>
              <a:t>Combinedly they are called package management APIs</a:t>
            </a:r>
          </a:p>
          <a:p>
            <a:pPr marL="0" lvl="0" indent="0">
              <a:buFont typeface="Wingdings" panose="05000000000000000000" pitchFamily="2" charset="2"/>
              <a:buNone/>
            </a:pPr>
            <a:r>
              <a:rPr lang="en-US">
                <a:sym typeface="Wingdings" panose="05000000000000000000" pitchFamily="2" charset="2"/>
              </a:rPr>
              <a:t> </a:t>
            </a:r>
          </a:p>
          <a:p>
            <a:pPr marL="0" lvl="0" indent="0">
              <a:buFont typeface="Wingdings" panose="05000000000000000000" pitchFamily="2" charset="2"/>
              <a:buNone/>
            </a:pPr>
            <a:r>
              <a:rPr lang="en-US">
                <a:sym typeface="Wingdings" panose="05000000000000000000" pitchFamily="2" charset="2"/>
              </a:rPr>
              <a:t>[click]</a:t>
            </a:r>
          </a:p>
          <a:p>
            <a:pPr marL="0" lvl="0" indent="0">
              <a:buFont typeface="Wingdings" panose="05000000000000000000" pitchFamily="2" charset="2"/>
              <a:buNone/>
            </a:pPr>
            <a:endParaRPr lang="en-US">
              <a:sym typeface="Wingdings" panose="05000000000000000000" pitchFamily="2" charset="2"/>
            </a:endParaRPr>
          </a:p>
          <a:p>
            <a:pPr marL="0" lvl="0" indent="0">
              <a:buFont typeface="Wingdings" panose="05000000000000000000" pitchFamily="2" charset="2"/>
              <a:buNone/>
            </a:pPr>
            <a:endParaRPr lang="en-US">
              <a:sym typeface="Wingdings" panose="05000000000000000000" pitchFamily="2" charset="2"/>
            </a:endParaRPr>
          </a:p>
          <a:p>
            <a:pPr marL="0" lvl="0" indent="0">
              <a:buFont typeface="Wingdings" panose="05000000000000000000" pitchFamily="2" charset="2"/>
              <a:buNone/>
            </a:pPr>
            <a:r>
              <a:rPr lang="en-US">
                <a:sym typeface="Wingdings" panose="05000000000000000000" pitchFamily="2" charset="2"/>
              </a:rPr>
              <a:t>[click]</a:t>
            </a:r>
          </a:p>
          <a:p>
            <a:pPr marL="0" lvl="0" indent="0">
              <a:buFont typeface="Wingdings" panose="05000000000000000000" pitchFamily="2" charset="2"/>
              <a:buNone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73B8C3-A209-4A55-9261-22C2A02B3159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396209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Wingdings" panose="05000000000000000000" pitchFamily="2" charset="2"/>
              <a:buChar char="à"/>
            </a:pPr>
            <a:r>
              <a:rPr lang="en-US"/>
              <a:t>Now that we have seen design cases for some of the APIs, </a:t>
            </a:r>
          </a:p>
          <a:p>
            <a:pPr marL="628650" lvl="1" indent="-171450">
              <a:buFont typeface="Wingdings" panose="05000000000000000000" pitchFamily="2" charset="2"/>
              <a:buChar char="à"/>
            </a:pPr>
            <a:r>
              <a:rPr lang="en-US"/>
              <a:t>I’d like to show the syntax and other options that are available with each of the APIs</a:t>
            </a:r>
          </a:p>
          <a:p>
            <a:pPr marL="171450" indent="-171450">
              <a:buFont typeface="Wingdings" panose="05000000000000000000" pitchFamily="2" charset="2"/>
              <a:buChar char="à"/>
            </a:pPr>
            <a:endParaRPr lang="en-US">
              <a:sym typeface="Wingdings" panose="05000000000000000000" pitchFamily="2" charset="2"/>
            </a:endParaRPr>
          </a:p>
          <a:p>
            <a:pPr marL="171450" indent="-171450">
              <a:buFont typeface="Wingdings" panose="05000000000000000000" pitchFamily="2" charset="2"/>
              <a:buChar char="à"/>
            </a:pPr>
            <a:r>
              <a:rPr lang="en-US">
                <a:sym typeface="Wingdings" panose="05000000000000000000" pitchFamily="2" charset="2"/>
              </a:rPr>
              <a:t>Full documentation for all APIs are in the Handout slides. Please do refer to those to provide feedback. 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73B8C3-A209-4A55-9261-22C2A02B3159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010769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AE2655-8B08-2F53-CD9F-F6E3862D5F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B1DCA20-C84E-3438-4259-B08DC64476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0B289D7-0530-BAB5-8E1B-AE29CD6946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Wingdings" panose="05000000000000000000" pitchFamily="2" charset="2"/>
              <a:buChar char="à"/>
            </a:pPr>
            <a:r>
              <a:rPr lang="en-US">
                <a:sym typeface="Wingdings" panose="05000000000000000000" pitchFamily="2" charset="2"/>
              </a:rPr>
              <a:t>I’ll start with the most important one: Installing a package. </a:t>
            </a:r>
          </a:p>
          <a:p>
            <a:pPr marL="171450" indent="-171450">
              <a:buFont typeface="Wingdings" panose="05000000000000000000" pitchFamily="2" charset="2"/>
              <a:buChar char="à"/>
            </a:pPr>
            <a:r>
              <a:rPr lang="en-US">
                <a:sym typeface="Wingdings" panose="05000000000000000000" pitchFamily="2" charset="2"/>
              </a:rPr>
              <a:t>The syntax is </a:t>
            </a:r>
            <a:r>
              <a:rPr lang="en-US" err="1">
                <a:sym typeface="Wingdings" panose="05000000000000000000" pitchFamily="2" charset="2"/>
              </a:rPr>
              <a:t>installPackage</a:t>
            </a:r>
            <a:r>
              <a:rPr lang="en-US">
                <a:sym typeface="Wingdings" panose="05000000000000000000" pitchFamily="2" charset="2"/>
              </a:rPr>
              <a:t>, list of packages to install</a:t>
            </a:r>
          </a:p>
          <a:p>
            <a:pPr marL="628650" lvl="1" indent="-171450">
              <a:buFont typeface="Wingdings" panose="05000000000000000000" pitchFamily="2" charset="2"/>
              <a:buChar char="à"/>
            </a:pPr>
            <a:r>
              <a:rPr lang="en-US">
                <a:sym typeface="Wingdings" panose="05000000000000000000" pitchFamily="2" charset="2"/>
              </a:rPr>
              <a:t>Package source can be: </a:t>
            </a:r>
          </a:p>
          <a:p>
            <a:pPr marL="171450" lvl="0" indent="-171450">
              <a:buFont typeface="Wingdings" panose="05000000000000000000" pitchFamily="2" charset="2"/>
              <a:buChar char="à"/>
            </a:pPr>
            <a:r>
              <a:rPr lang="en-US">
                <a:sym typeface="Wingdings" panose="05000000000000000000" pitchFamily="2" charset="2"/>
              </a:rPr>
              <a:t>Optional name-value pairs can be specified to change the installation behavior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0BCB0E-F788-064D-212B-754D27BEFE8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73B8C3-A209-4A55-9261-22C2A02B3159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13793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74CFAA-54B6-8168-14DF-7BD6DB332D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DA750CE-B6C6-286D-2944-3F0D1004437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871639F-6ACA-06CC-CB18-D387685527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Wingdings" panose="05000000000000000000" pitchFamily="2" charset="2"/>
              <a:buChar char="à"/>
            </a:pPr>
            <a:r>
              <a:rPr lang="en-US">
                <a:sym typeface="Wingdings" panose="05000000000000000000" pitchFamily="2" charset="2"/>
              </a:rPr>
              <a:t>I’ll start with the most important one: Installing a package. </a:t>
            </a:r>
          </a:p>
          <a:p>
            <a:pPr marL="171450" indent="-171450">
              <a:buFont typeface="Wingdings" panose="05000000000000000000" pitchFamily="2" charset="2"/>
              <a:buChar char="à"/>
            </a:pPr>
            <a:r>
              <a:rPr lang="en-US">
                <a:sym typeface="Wingdings" panose="05000000000000000000" pitchFamily="2" charset="2"/>
              </a:rPr>
              <a:t>The syntax is </a:t>
            </a:r>
            <a:r>
              <a:rPr lang="en-US" err="1">
                <a:sym typeface="Wingdings" panose="05000000000000000000" pitchFamily="2" charset="2"/>
              </a:rPr>
              <a:t>installPackage</a:t>
            </a:r>
            <a:r>
              <a:rPr lang="en-US">
                <a:sym typeface="Wingdings" panose="05000000000000000000" pitchFamily="2" charset="2"/>
              </a:rPr>
              <a:t>, list of packages to install</a:t>
            </a:r>
          </a:p>
          <a:p>
            <a:pPr marL="628650" lvl="1" indent="-171450">
              <a:buFont typeface="Wingdings" panose="05000000000000000000" pitchFamily="2" charset="2"/>
              <a:buChar char="à"/>
            </a:pPr>
            <a:r>
              <a:rPr lang="en-US">
                <a:sym typeface="Wingdings" panose="05000000000000000000" pitchFamily="2" charset="2"/>
              </a:rPr>
              <a:t>Package source can be: </a:t>
            </a:r>
          </a:p>
          <a:p>
            <a:pPr marL="171450" lvl="0" indent="-171450">
              <a:buFont typeface="Wingdings" panose="05000000000000000000" pitchFamily="2" charset="2"/>
              <a:buChar char="à"/>
            </a:pPr>
            <a:r>
              <a:rPr lang="en-US">
                <a:sym typeface="Wingdings" panose="05000000000000000000" pitchFamily="2" charset="2"/>
              </a:rPr>
              <a:t>Optional name-value pairs can be specified to change the installation behavior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2FB5FE-6967-F9E9-BAD9-1557CE9455D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73B8C3-A209-4A55-9261-22C2A02B3159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451668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Wingdings" panose="05000000000000000000" pitchFamily="2" charset="2"/>
              <a:buChar char="à"/>
            </a:pPr>
            <a:r>
              <a:rPr lang="en-US">
                <a:sym typeface="Wingdings" panose="05000000000000000000" pitchFamily="2" charset="2"/>
              </a:rPr>
              <a:t>I’ll start with the most important one: Installing a package. </a:t>
            </a:r>
          </a:p>
          <a:p>
            <a:pPr marL="171450" indent="-171450">
              <a:buFont typeface="Wingdings" panose="05000000000000000000" pitchFamily="2" charset="2"/>
              <a:buChar char="à"/>
            </a:pPr>
            <a:r>
              <a:rPr lang="en-US">
                <a:sym typeface="Wingdings" panose="05000000000000000000" pitchFamily="2" charset="2"/>
              </a:rPr>
              <a:t>The syntax is </a:t>
            </a:r>
            <a:r>
              <a:rPr lang="en-US" err="1">
                <a:sym typeface="Wingdings" panose="05000000000000000000" pitchFamily="2" charset="2"/>
              </a:rPr>
              <a:t>installPackage</a:t>
            </a:r>
            <a:r>
              <a:rPr lang="en-US">
                <a:sym typeface="Wingdings" panose="05000000000000000000" pitchFamily="2" charset="2"/>
              </a:rPr>
              <a:t>, list of packages to install</a:t>
            </a:r>
          </a:p>
          <a:p>
            <a:pPr marL="628650" lvl="1" indent="-171450">
              <a:buFont typeface="Wingdings" panose="05000000000000000000" pitchFamily="2" charset="2"/>
              <a:buChar char="à"/>
            </a:pPr>
            <a:r>
              <a:rPr lang="en-US">
                <a:sym typeface="Wingdings" panose="05000000000000000000" pitchFamily="2" charset="2"/>
              </a:rPr>
              <a:t>Package source can be: </a:t>
            </a:r>
          </a:p>
          <a:p>
            <a:pPr marL="171450" lvl="0" indent="-171450">
              <a:buFont typeface="Wingdings" panose="05000000000000000000" pitchFamily="2" charset="2"/>
              <a:buChar char="à"/>
            </a:pPr>
            <a:r>
              <a:rPr lang="en-US">
                <a:sym typeface="Wingdings" panose="05000000000000000000" pitchFamily="2" charset="2"/>
              </a:rPr>
              <a:t>Optional name-value pairs can be specified to change the installation behavior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73B8C3-A209-4A55-9261-22C2A02B3159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505214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Wingdings" panose="05000000000000000000" pitchFamily="2" charset="2"/>
              <a:buChar char="à"/>
            </a:pPr>
            <a:r>
              <a:rPr lang="en-US"/>
              <a:t>A lot of the package management APIs accepts </a:t>
            </a:r>
            <a:r>
              <a:rPr lang="en-US" err="1"/>
              <a:t>PackageSpecifier</a:t>
            </a:r>
            <a:r>
              <a:rPr lang="en-US"/>
              <a:t> as input to identify a package. </a:t>
            </a:r>
          </a:p>
          <a:p>
            <a:pPr marL="171450" indent="-171450">
              <a:buFont typeface="Wingdings" panose="05000000000000000000" pitchFamily="2" charset="2"/>
              <a:buChar char="à"/>
            </a:pPr>
            <a:r>
              <a:rPr lang="en-US"/>
              <a:t>I’d like to briefly introduce the package specifier. </a:t>
            </a:r>
          </a:p>
          <a:p>
            <a:pPr marL="171450" indent="-171450">
              <a:buFont typeface="Wingdings" panose="05000000000000000000" pitchFamily="2" charset="2"/>
              <a:buChar char="à"/>
            </a:pPr>
            <a:endParaRPr lang="en-US"/>
          </a:p>
          <a:p>
            <a:pPr marL="171450" indent="-171450">
              <a:buFont typeface="Wingdings" panose="05000000000000000000" pitchFamily="2" charset="2"/>
              <a:buChar char="à"/>
            </a:pPr>
            <a:endParaRPr lang="en-US"/>
          </a:p>
          <a:p>
            <a:pPr marL="0" indent="0">
              <a:buFont typeface="Wingdings" panose="05000000000000000000" pitchFamily="2" charset="2"/>
              <a:buNone/>
            </a:pPr>
            <a:r>
              <a:rPr lang="en-US"/>
              <a:t>[click]</a:t>
            </a:r>
          </a:p>
          <a:p>
            <a:pPr marL="171450" indent="-171450">
              <a:buFont typeface="Wingdings" panose="05000000000000000000" pitchFamily="2" charset="2"/>
              <a:buChar char="à"/>
            </a:pPr>
            <a:r>
              <a:rPr lang="en-US">
                <a:sym typeface="Wingdings" panose="05000000000000000000" pitchFamily="2" charset="2"/>
              </a:rPr>
              <a:t>At minimal, it is just the name of a package </a:t>
            </a:r>
          </a:p>
          <a:p>
            <a:pPr marL="171450" indent="-171450">
              <a:buFont typeface="Wingdings" panose="05000000000000000000" pitchFamily="2" charset="2"/>
              <a:buChar char="à"/>
            </a:pPr>
            <a:r>
              <a:rPr lang="en-US">
                <a:sym typeface="Wingdings" panose="05000000000000000000" pitchFamily="2" charset="2"/>
              </a:rPr>
              <a:t>For example, ‘Astronomy’</a:t>
            </a:r>
          </a:p>
          <a:p>
            <a:pPr marL="171450" indent="-171450">
              <a:buFont typeface="Wingdings" panose="05000000000000000000" pitchFamily="2" charset="2"/>
              <a:buChar char="à"/>
            </a:pPr>
            <a:endParaRPr lang="en-US">
              <a:sym typeface="Wingdings" panose="05000000000000000000" pitchFamily="2" charset="2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lang="en-US">
                <a:sym typeface="Wingdings" panose="05000000000000000000" pitchFamily="2" charset="2"/>
              </a:rPr>
              <a:t>[click]</a:t>
            </a:r>
          </a:p>
          <a:p>
            <a:pPr marL="171450" indent="-171450">
              <a:buFont typeface="Wingdings" panose="05000000000000000000" pitchFamily="2" charset="2"/>
              <a:buChar char="à"/>
            </a:pPr>
            <a:r>
              <a:rPr lang="en-US">
                <a:sym typeface="Wingdings" panose="05000000000000000000" pitchFamily="2" charset="2"/>
              </a:rPr>
              <a:t>It can be made more specific by adding a version or version range</a:t>
            </a:r>
          </a:p>
          <a:p>
            <a:pPr marL="171450" indent="-171450">
              <a:buFont typeface="Wingdings" panose="05000000000000000000" pitchFamily="2" charset="2"/>
              <a:buChar char="à"/>
            </a:pPr>
            <a:endParaRPr lang="en-US">
              <a:sym typeface="Wingdings" panose="05000000000000000000" pitchFamily="2" charset="2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lang="en-US">
                <a:sym typeface="Wingdings" panose="05000000000000000000" pitchFamily="2" charset="2"/>
              </a:rPr>
              <a:t>[click]</a:t>
            </a:r>
          </a:p>
          <a:p>
            <a:pPr marL="171450" indent="-171450">
              <a:buFont typeface="Wingdings" panose="05000000000000000000" pitchFamily="2" charset="2"/>
              <a:buChar char="à"/>
            </a:pPr>
            <a:r>
              <a:rPr lang="en-US">
                <a:sym typeface="Wingdings" panose="05000000000000000000" pitchFamily="2" charset="2"/>
              </a:rPr>
              <a:t>And if there are more than one packages with the same name, </a:t>
            </a:r>
          </a:p>
          <a:p>
            <a:pPr marL="628650" lvl="1" indent="-171450">
              <a:buFont typeface="Wingdings" panose="05000000000000000000" pitchFamily="2" charset="2"/>
              <a:buChar char="à"/>
            </a:pPr>
            <a:r>
              <a:rPr lang="en-US">
                <a:sym typeface="Wingdings" panose="05000000000000000000" pitchFamily="2" charset="2"/>
              </a:rPr>
              <a:t>A unique id can be added to disambiguate </a:t>
            </a:r>
            <a:endParaRPr lang="en-US"/>
          </a:p>
          <a:p>
            <a:pPr marL="0" indent="0">
              <a:buFont typeface="Wingdings" panose="05000000000000000000" pitchFamily="2" charset="2"/>
              <a:buNone/>
            </a:pPr>
            <a:endParaRPr lang="en-US"/>
          </a:p>
          <a:p>
            <a:pPr marL="0" indent="0">
              <a:buFont typeface="Wingdings" panose="05000000000000000000" pitchFamily="2" charset="2"/>
              <a:buNone/>
            </a:pPr>
            <a:r>
              <a:rPr lang="en-US"/>
              <a:t>[click]</a:t>
            </a:r>
          </a:p>
          <a:p>
            <a:pPr marL="171450" indent="-171450">
              <a:buFont typeface="Wingdings" panose="05000000000000000000" pitchFamily="2" charset="2"/>
              <a:buChar char="à"/>
            </a:pPr>
            <a:r>
              <a:rPr lang="en-US"/>
              <a:t>So more formal definition of package specifier , “it is a string of format </a:t>
            </a:r>
            <a:r>
              <a:rPr lang="en-US" err="1"/>
              <a:t>name@version-range@id</a:t>
            </a:r>
            <a:r>
              <a:rPr lang="en-US"/>
              <a:t>” where version-range and id are optional.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73B8C3-A209-4A55-9261-22C2A02B3159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937223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Wingdings" panose="05000000000000000000" pitchFamily="2" charset="2"/>
              <a:buChar char="à"/>
            </a:pPr>
            <a:r>
              <a:rPr lang="en-US" err="1">
                <a:sym typeface="Wingdings" panose="05000000000000000000" pitchFamily="2" charset="2"/>
              </a:rPr>
              <a:t>InstallPackage</a:t>
            </a:r>
            <a:r>
              <a:rPr lang="en-US">
                <a:sym typeface="Wingdings" panose="05000000000000000000" pitchFamily="2" charset="2"/>
              </a:rPr>
              <a:t> supports various name-value arguments</a:t>
            </a:r>
          </a:p>
          <a:p>
            <a:pPr marL="171450" indent="-171450">
              <a:buFont typeface="Wingdings" panose="05000000000000000000" pitchFamily="2" charset="2"/>
              <a:buChar char="à"/>
            </a:pPr>
            <a:endParaRPr lang="en-US"/>
          </a:p>
          <a:p>
            <a:r>
              <a:rPr lang="en-US"/>
              <a:t>[click]</a:t>
            </a:r>
          </a:p>
          <a:p>
            <a:endParaRPr lang="en-US"/>
          </a:p>
          <a:p>
            <a:r>
              <a:rPr lang="en-US"/>
              <a:t>[click]</a:t>
            </a:r>
          </a:p>
          <a:p>
            <a:endParaRPr lang="en-US"/>
          </a:p>
          <a:p>
            <a:r>
              <a:rPr lang="en-US"/>
              <a:t>[click]</a:t>
            </a:r>
          </a:p>
          <a:p>
            <a:endParaRPr lang="en-US" sz="1800" b="0" i="0">
              <a:solidFill>
                <a:srgbClr val="242424"/>
              </a:solidFill>
              <a:effectLst/>
              <a:latin typeface="Calibri" panose="020F050202020403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lang="en-US" sz="1800" b="0" i="0">
                <a:solidFill>
                  <a:srgbClr val="242424"/>
                </a:solidFill>
                <a:effectLst/>
                <a:latin typeface="Calibri" panose="020F0502020204030204" pitchFamily="34" charset="0"/>
              </a:rPr>
              <a:t>[click]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73B8C3-A209-4A55-9261-22C2A02B3159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456770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Wingdings" panose="05000000000000000000" pitchFamily="2" charset="2"/>
              <a:buChar char="à"/>
            </a:pPr>
            <a:r>
              <a:rPr lang="en-US" err="1">
                <a:sym typeface="Wingdings" panose="05000000000000000000" pitchFamily="2" charset="2"/>
              </a:rPr>
              <a:t>removePackage</a:t>
            </a:r>
            <a:r>
              <a:rPr lang="en-US">
                <a:sym typeface="Wingdings" panose="05000000000000000000" pitchFamily="2" charset="2"/>
              </a:rPr>
              <a:t> has similar syntax as </a:t>
            </a:r>
            <a:r>
              <a:rPr lang="en-US" err="1">
                <a:sym typeface="Wingdings" panose="05000000000000000000" pitchFamily="2" charset="2"/>
              </a:rPr>
              <a:t>installPacakge</a:t>
            </a:r>
            <a:r>
              <a:rPr lang="en-US">
                <a:sym typeface="Wingdings" panose="05000000000000000000" pitchFamily="2" charset="2"/>
              </a:rPr>
              <a:t> </a:t>
            </a:r>
          </a:p>
          <a:p>
            <a:pPr marL="171450" indent="-171450">
              <a:buFont typeface="Wingdings" panose="05000000000000000000" pitchFamily="2" charset="2"/>
              <a:buChar char="à"/>
            </a:pPr>
            <a:r>
              <a:rPr lang="en-US">
                <a:sym typeface="Wingdings" panose="05000000000000000000" pitchFamily="2" charset="2"/>
              </a:rPr>
              <a:t>Package can only be removed using the package specifier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73B8C3-A209-4A55-9261-22C2A02B3159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130125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Wingdings" panose="05000000000000000000" pitchFamily="2" charset="2"/>
              <a:buChar char="à"/>
            </a:pPr>
            <a:r>
              <a:rPr lang="en-US">
                <a:sym typeface="Wingdings" panose="05000000000000000000" pitchFamily="2" charset="2"/>
              </a:rPr>
              <a:t>Name value arguments supported by </a:t>
            </a:r>
            <a:r>
              <a:rPr lang="en-US" err="1">
                <a:sym typeface="Wingdings" panose="05000000000000000000" pitchFamily="2" charset="2"/>
              </a:rPr>
              <a:t>removePacakge</a:t>
            </a:r>
            <a:endParaRPr lang="en-US">
              <a:sym typeface="Wingdings" panose="05000000000000000000" pitchFamily="2" charset="2"/>
            </a:endParaRPr>
          </a:p>
          <a:p>
            <a:pPr marL="0" indent="0">
              <a:buFont typeface="Wingdings" panose="05000000000000000000" pitchFamily="2" charset="2"/>
              <a:buNone/>
            </a:pPr>
            <a:endParaRPr lang="en-US">
              <a:sym typeface="Wingdings" panose="05000000000000000000" pitchFamily="2" charset="2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lang="en-US">
                <a:sym typeface="Wingdings" panose="05000000000000000000" pitchFamily="2" charset="2"/>
              </a:rPr>
              <a:t>[click]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73B8C3-A209-4A55-9261-22C2A02B3159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964845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Wingdings" panose="05000000000000000000" pitchFamily="2" charset="2"/>
              <a:buChar char="à"/>
            </a:pPr>
            <a:r>
              <a:rPr lang="en-US" err="1">
                <a:sym typeface="Wingdings" panose="05000000000000000000" pitchFamily="2" charset="2"/>
              </a:rPr>
              <a:t>listPackages</a:t>
            </a:r>
            <a:r>
              <a:rPr lang="en-US">
                <a:sym typeface="Wingdings" panose="05000000000000000000" pitchFamily="2" charset="2"/>
              </a:rPr>
              <a:t> does not take any positional arguments </a:t>
            </a:r>
          </a:p>
          <a:p>
            <a:pPr marL="171450" indent="-171450">
              <a:buFont typeface="Wingdings" panose="05000000000000000000" pitchFamily="2" charset="2"/>
              <a:buChar char="à"/>
            </a:pPr>
            <a:r>
              <a:rPr lang="en-US">
                <a:sym typeface="Wingdings" panose="05000000000000000000" pitchFamily="2" charset="2"/>
              </a:rPr>
              <a:t>It supports name-value pairs to filter packages based on different criteria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73B8C3-A209-4A55-9261-22C2A02B3159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880533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Wingdings" panose="05000000000000000000" pitchFamily="2" charset="2"/>
              <a:buChar char="à"/>
            </a:pPr>
            <a:r>
              <a:rPr lang="en-US">
                <a:sym typeface="Wingdings" panose="05000000000000000000" pitchFamily="2" charset="2"/>
              </a:rPr>
              <a:t>Users can find packages based on search criteria that is applied to that particular metadata of the package</a:t>
            </a:r>
          </a:p>
          <a:p>
            <a:pPr marL="171450" indent="-171450">
              <a:buFont typeface="Wingdings" panose="05000000000000000000" pitchFamily="2" charset="2"/>
              <a:buChar char="à"/>
            </a:pPr>
            <a:r>
              <a:rPr lang="en-US">
                <a:sym typeface="Wingdings" panose="05000000000000000000" pitchFamily="2" charset="2"/>
              </a:rPr>
              <a:t>I’ll share what I think will be most commonly used. The complete set is in the API-Handout </a:t>
            </a:r>
          </a:p>
          <a:p>
            <a:pPr marL="171450" indent="-171450">
              <a:buFont typeface="Wingdings" panose="05000000000000000000" pitchFamily="2" charset="2"/>
              <a:buChar char="à"/>
            </a:pPr>
            <a:endParaRPr lang="en-US">
              <a:sym typeface="Wingdings" panose="05000000000000000000" pitchFamily="2" charset="2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lang="en-US">
                <a:sym typeface="Wingdings" panose="05000000000000000000" pitchFamily="2" charset="2"/>
              </a:rPr>
              <a:t>[click]</a:t>
            </a:r>
          </a:p>
          <a:p>
            <a:pPr marL="0" indent="0">
              <a:buFont typeface="Wingdings" panose="05000000000000000000" pitchFamily="2" charset="2"/>
              <a:buNone/>
            </a:pPr>
            <a:endParaRPr lang="en-US">
              <a:sym typeface="Wingdings" panose="05000000000000000000" pitchFamily="2" charset="2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lang="en-US">
                <a:sym typeface="Wingdings" panose="05000000000000000000" pitchFamily="2" charset="2"/>
              </a:rPr>
              <a:t>[click]</a:t>
            </a:r>
          </a:p>
          <a:p>
            <a:pPr marL="171450" indent="-171450">
              <a:buFont typeface="Wingdings" panose="05000000000000000000" pitchFamily="2" charset="2"/>
              <a:buChar char="à"/>
            </a:pPr>
            <a:endParaRPr lang="en-US">
              <a:sym typeface="Wingdings" panose="05000000000000000000" pitchFamily="2" charset="2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lang="en-US">
                <a:sym typeface="Wingdings" panose="05000000000000000000" pitchFamily="2" charset="2"/>
              </a:rPr>
              <a:t>[click]</a:t>
            </a:r>
            <a:endParaRPr lang="en-US" b="1">
              <a:sym typeface="Wingdings" panose="05000000000000000000" pitchFamily="2" charset="2"/>
            </a:endParaRPr>
          </a:p>
          <a:p>
            <a:pPr marL="0" indent="0">
              <a:buFont typeface="Wingdings" panose="05000000000000000000" pitchFamily="2" charset="2"/>
              <a:buNone/>
            </a:pPr>
            <a:endParaRPr lang="en-US">
              <a:sym typeface="Wingdings" panose="05000000000000000000" pitchFamily="2" charset="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73B8C3-A209-4A55-9261-22C2A02B3159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512376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Wingdings" panose="05000000000000000000" pitchFamily="2" charset="2"/>
              <a:buChar char="à"/>
            </a:pPr>
            <a:r>
              <a:rPr lang="en-US">
                <a:sym typeface="Wingdings" panose="05000000000000000000" pitchFamily="2" charset="2"/>
              </a:rPr>
              <a:t>Users can find packages based on search criteria that is applied to that particular metadata of the package</a:t>
            </a:r>
          </a:p>
          <a:p>
            <a:pPr marL="171450" indent="-171450">
              <a:buFont typeface="Wingdings" panose="05000000000000000000" pitchFamily="2" charset="2"/>
              <a:buChar char="à"/>
            </a:pPr>
            <a:r>
              <a:rPr lang="en-US">
                <a:sym typeface="Wingdings" panose="05000000000000000000" pitchFamily="2" charset="2"/>
              </a:rPr>
              <a:t>I’ll share what I think will be most commonly used. The complete set is in the API-Handout </a:t>
            </a:r>
          </a:p>
          <a:p>
            <a:pPr marL="171450" indent="-171450">
              <a:buFont typeface="Wingdings" panose="05000000000000000000" pitchFamily="2" charset="2"/>
              <a:buChar char="à"/>
            </a:pPr>
            <a:endParaRPr lang="en-US">
              <a:sym typeface="Wingdings" panose="05000000000000000000" pitchFamily="2" charset="2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lang="en-US">
                <a:sym typeface="Wingdings" panose="05000000000000000000" pitchFamily="2" charset="2"/>
              </a:rPr>
              <a:t>[click]</a:t>
            </a:r>
          </a:p>
          <a:p>
            <a:pPr marL="0" indent="0">
              <a:buFont typeface="Wingdings" panose="05000000000000000000" pitchFamily="2" charset="2"/>
              <a:buNone/>
            </a:pPr>
            <a:endParaRPr lang="en-US">
              <a:sym typeface="Wingdings" panose="05000000000000000000" pitchFamily="2" charset="2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lang="en-US">
                <a:sym typeface="Wingdings" panose="05000000000000000000" pitchFamily="2" charset="2"/>
              </a:rPr>
              <a:t>[click]</a:t>
            </a:r>
          </a:p>
          <a:p>
            <a:pPr marL="171450" indent="-171450">
              <a:buFont typeface="Wingdings" panose="05000000000000000000" pitchFamily="2" charset="2"/>
              <a:buChar char="à"/>
            </a:pPr>
            <a:endParaRPr lang="en-US">
              <a:sym typeface="Wingdings" panose="05000000000000000000" pitchFamily="2" charset="2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lang="en-US">
                <a:sym typeface="Wingdings" panose="05000000000000000000" pitchFamily="2" charset="2"/>
              </a:rPr>
              <a:t>[click]</a:t>
            </a:r>
            <a:endParaRPr lang="en-US" b="1">
              <a:sym typeface="Wingdings" panose="05000000000000000000" pitchFamily="2" charset="2"/>
            </a:endParaRPr>
          </a:p>
          <a:p>
            <a:pPr marL="0" indent="0">
              <a:buFont typeface="Wingdings" panose="05000000000000000000" pitchFamily="2" charset="2"/>
              <a:buNone/>
            </a:pPr>
            <a:endParaRPr lang="en-US">
              <a:sym typeface="Wingdings" panose="05000000000000000000" pitchFamily="2" charset="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73B8C3-A209-4A55-9261-22C2A02B3159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532632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Wingdings" panose="05000000000000000000" pitchFamily="2" charset="2"/>
              <a:buChar char="à"/>
            </a:pPr>
            <a:r>
              <a:rPr kumimoji="0" lang="en-US" sz="1200" b="0" i="0" u="none" strike="noStrike" kern="1200" cap="none" spc="0" normalizeH="0" baseline="0" noProof="0" err="1">
                <a:ln>
                  <a:noFill/>
                </a:ln>
                <a:solidFill>
                  <a:srgbClr val="D78824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searchPackageRepositories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D78824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 only accepts a keyword </a:t>
            </a:r>
          </a:p>
          <a:p>
            <a:pPr marL="171450" indent="-171450">
              <a:buFont typeface="Wingdings" panose="05000000000000000000" pitchFamily="2" charset="2"/>
              <a:buChar char="à"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D78824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It searches in all the repositories known for packages containing that keyword in name, summary or description of the package</a:t>
            </a:r>
          </a:p>
          <a:p>
            <a:pPr marL="171450" indent="-171450">
              <a:buFont typeface="Wingdings" panose="05000000000000000000" pitchFamily="2" charset="2"/>
              <a:buChar char="à"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73B8C3-A209-4A55-9261-22C2A02B3159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449662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Wingdings" panose="05000000000000000000" pitchFamily="2" charset="2"/>
              <a:buChar char="à"/>
            </a:pPr>
            <a:r>
              <a:rPr lang="en-US">
                <a:sym typeface="Wingdings" panose="05000000000000000000" pitchFamily="2" charset="2"/>
              </a:rPr>
              <a:t>And finally, the repository management APIs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73B8C3-A209-4A55-9261-22C2A02B3159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09755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Background" descr="bluemesh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-4067" y="1287"/>
            <a:ext cx="12209092" cy="6856713"/>
          </a:xfrm>
          <a:prstGeom prst="rect">
            <a:avLst/>
          </a:prstGeom>
        </p:spPr>
      </p:pic>
      <p:sp>
        <p:nvSpPr>
          <p:cNvPr id="21" name="Title"/>
          <p:cNvSpPr>
            <a:spLocks noGrp="1"/>
          </p:cNvSpPr>
          <p:nvPr>
            <p:ph type="ctrTitle"/>
          </p:nvPr>
        </p:nvSpPr>
        <p:spPr>
          <a:xfrm>
            <a:off x="914400" y="914400"/>
            <a:ext cx="10363200" cy="1828800"/>
          </a:xfrm>
        </p:spPr>
        <p:txBody>
          <a:bodyPr/>
          <a:lstStyle>
            <a:lvl1pPr algn="l">
              <a:defRPr sz="32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2" name="Subtitle"/>
          <p:cNvSpPr>
            <a:spLocks noGrp="1"/>
          </p:cNvSpPr>
          <p:nvPr>
            <p:ph type="subTitle" idx="1"/>
          </p:nvPr>
        </p:nvSpPr>
        <p:spPr>
          <a:xfrm>
            <a:off x="914400" y="3203579"/>
            <a:ext cx="10363200" cy="987425"/>
          </a:xfrm>
        </p:spPr>
        <p:txBody>
          <a:bodyPr>
            <a:normAutofit/>
          </a:bodyPr>
          <a:lstStyle>
            <a:lvl1pPr marL="0" indent="0" algn="l">
              <a:buNone/>
              <a:defRPr sz="1604" b="0">
                <a:solidFill>
                  <a:schemeClr val="tx1"/>
                </a:solidFill>
              </a:defRPr>
            </a:lvl1pPr>
            <a:lvl2pPr marL="4583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66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50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333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9170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5004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838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6672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23" name="Copyright"/>
          <p:cNvSpPr txBox="1"/>
          <p:nvPr userDrawn="1"/>
        </p:nvSpPr>
        <p:spPr>
          <a:xfrm>
            <a:off x="10227052" y="6527632"/>
            <a:ext cx="2438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3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© 2023 The MathWorks, Inc.</a:t>
            </a:r>
          </a:p>
        </p:txBody>
      </p:sp>
      <p:cxnSp>
        <p:nvCxnSpPr>
          <p:cNvPr id="26" name="GrayLine"/>
          <p:cNvCxnSpPr/>
          <p:nvPr userDrawn="1"/>
        </p:nvCxnSpPr>
        <p:spPr>
          <a:xfrm>
            <a:off x="-4067" y="4376652"/>
            <a:ext cx="12209092" cy="0"/>
          </a:xfrm>
          <a:prstGeom prst="line">
            <a:avLst/>
          </a:prstGeom>
          <a:ln w="57150">
            <a:solidFill>
              <a:schemeClr val="bg1">
                <a:lumMod val="6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9" name="Logo" descr="09_MW_logo_CMYK_REV.png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10330730" y="141139"/>
            <a:ext cx="1620665" cy="3205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609602" y="457200"/>
            <a:ext cx="10769600" cy="990600"/>
          </a:xfrm>
        </p:spPr>
        <p:txBody>
          <a:bodyPr/>
          <a:lstStyle>
            <a:lvl1pPr>
              <a:defRPr sz="28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"/>
          <p:cNvSpPr>
            <a:spLocks noGrp="1"/>
          </p:cNvSpPr>
          <p:nvPr>
            <p:ph idx="1"/>
          </p:nvPr>
        </p:nvSpPr>
        <p:spPr>
          <a:xfrm>
            <a:off x="609602" y="1600200"/>
            <a:ext cx="10769600" cy="4648200"/>
          </a:xfrm>
        </p:spPr>
        <p:txBody>
          <a:bodyPr/>
          <a:lstStyle>
            <a:lvl1pPr>
              <a:buSzPct val="75000"/>
              <a:defRPr sz="2400"/>
            </a:lvl1pPr>
            <a:lvl2pPr>
              <a:lnSpc>
                <a:spcPct val="105000"/>
              </a:lnSpc>
              <a:defRPr sz="2000"/>
            </a:lvl2pPr>
            <a:lvl3pPr>
              <a:lnSpc>
                <a:spcPct val="105000"/>
              </a:lnSpc>
              <a:buSzPct val="75000"/>
              <a:defRPr sz="1604"/>
            </a:lvl3pPr>
            <a:lvl4pPr>
              <a:lnSpc>
                <a:spcPct val="105000"/>
              </a:lnSpc>
              <a:defRPr/>
            </a:lvl4pPr>
            <a:lvl5pPr>
              <a:lnSpc>
                <a:spcPct val="105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609602" y="457200"/>
            <a:ext cx="10769600" cy="9906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ea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457200"/>
            <a:ext cx="9448800" cy="990600"/>
          </a:xfrm>
        </p:spPr>
        <p:txBody>
          <a:bodyPr anchor="t" anchorCtr="0"/>
          <a:lstStyle>
            <a:lvl1pPr algn="l">
              <a:defRPr sz="2800" b="0" i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Content"/>
          <p:cNvSpPr>
            <a:spLocks noGrp="1"/>
          </p:cNvSpPr>
          <p:nvPr>
            <p:ph sz="half" idx="10" hasCustomPrompt="1"/>
          </p:nvPr>
        </p:nvSpPr>
        <p:spPr>
          <a:xfrm>
            <a:off x="609601" y="2819400"/>
            <a:ext cx="5080001" cy="3200400"/>
          </a:xfrm>
        </p:spPr>
        <p:txBody>
          <a:bodyPr/>
          <a:lstStyle>
            <a:lvl1pPr>
              <a:buClr>
                <a:srgbClr val="125687"/>
              </a:buClr>
              <a:buSzTx/>
              <a:defRPr sz="1800" baseline="0"/>
            </a:lvl1pPr>
            <a:lvl2pPr>
              <a:defRPr sz="1604"/>
            </a:lvl2pPr>
            <a:lvl3pPr>
              <a:buNone/>
              <a:defRPr sz="1604"/>
            </a:lvl3pPr>
            <a:lvl4pPr>
              <a:defRPr sz="1805"/>
            </a:lvl4pPr>
            <a:lvl5pPr>
              <a:defRPr sz="1805"/>
            </a:lvl5pPr>
            <a:lvl6pPr>
              <a:defRPr sz="1805"/>
            </a:lvl6pPr>
            <a:lvl7pPr>
              <a:defRPr sz="1805"/>
            </a:lvl7pPr>
            <a:lvl8pPr>
              <a:defRPr sz="1805"/>
            </a:lvl8pPr>
            <a:lvl9pPr>
              <a:defRPr sz="1805"/>
            </a:lvl9pPr>
          </a:lstStyle>
          <a:p>
            <a:pPr lvl="0">
              <a:buClr>
                <a:srgbClr val="125687"/>
              </a:buClr>
              <a:buSzTx/>
            </a:pPr>
            <a:r>
              <a:rPr lang="en-US"/>
              <a:t>Click to add b</a:t>
            </a:r>
            <a:r>
              <a:rPr lang="en-US" sz="1805">
                <a:solidFill>
                  <a:prstClr val="black"/>
                </a:solidFill>
              </a:rPr>
              <a:t>rief summary and benefits of feature (ideally three bullets)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3" name="Headline"/>
          <p:cNvSpPr>
            <a:spLocks noGrp="1"/>
          </p:cNvSpPr>
          <p:nvPr>
            <p:ph type="body" sz="quarter" idx="11" hasCustomPrompt="1"/>
          </p:nvPr>
        </p:nvSpPr>
        <p:spPr>
          <a:xfrm>
            <a:off x="609601" y="1600200"/>
            <a:ext cx="5080001" cy="838200"/>
          </a:xfrm>
        </p:spPr>
        <p:txBody>
          <a:bodyPr anchor="t"/>
          <a:lstStyle>
            <a:lvl1pPr marL="0" indent="0" algn="l">
              <a:buNone/>
              <a:defRPr sz="2000" b="0" i="0" baseline="0"/>
            </a:lvl1pPr>
          </a:lstStyle>
          <a:p>
            <a:pPr lvl="0"/>
            <a:r>
              <a:rPr lang="en-US"/>
              <a:t>Click to add headline</a:t>
            </a:r>
            <a:r>
              <a:rPr lang="en-US" sz="2005" b="1">
                <a:solidFill>
                  <a:prstClr val="black"/>
                </a:solidFill>
              </a:rPr>
              <a:t> providing value of feature</a:t>
            </a:r>
            <a:endParaRPr lang="en-US"/>
          </a:p>
        </p:txBody>
      </p:sp>
      <p:sp>
        <p:nvSpPr>
          <p:cNvPr id="14" name="ProductName"/>
          <p:cNvSpPr>
            <a:spLocks noGrp="1"/>
          </p:cNvSpPr>
          <p:nvPr>
            <p:ph type="body" sz="half" idx="12" hasCustomPrompt="1"/>
          </p:nvPr>
        </p:nvSpPr>
        <p:spPr>
          <a:xfrm>
            <a:off x="609602" y="6172200"/>
            <a:ext cx="5473700" cy="533400"/>
          </a:xfrm>
        </p:spPr>
        <p:txBody>
          <a:bodyPr anchor="b" anchorCtr="0"/>
          <a:lstStyle>
            <a:lvl1pPr marL="230761" indent="-229170">
              <a:buClrTx/>
              <a:buSzPct val="125000"/>
              <a:buFont typeface="Courier New" pitchFamily="49" charset="0"/>
              <a:buChar char="»"/>
              <a:defRPr sz="1604" b="0">
                <a:latin typeface="Courier New" pitchFamily="49" charset="0"/>
                <a:cs typeface="Courier New" pitchFamily="49" charset="0"/>
              </a:defRPr>
            </a:lvl1pPr>
          </a:lstStyle>
          <a:p>
            <a:pPr lvl="0"/>
            <a:r>
              <a:rPr lang="en-US"/>
              <a:t>Click to add </a:t>
            </a:r>
            <a:r>
              <a:rPr lang="en-US" sz="1604" err="1">
                <a:latin typeface="Courier New" pitchFamily="49" charset="0"/>
                <a:cs typeface="Courier New" pitchFamily="49" charset="0"/>
              </a:rPr>
              <a:t>product_example_name</a:t>
            </a:r>
            <a:r>
              <a:rPr lang="en-US" sz="1604">
                <a:latin typeface="Courier New" pitchFamily="49" charset="0"/>
                <a:cs typeface="Courier New" pitchFamily="49" charset="0"/>
              </a:rPr>
              <a:t>.</a:t>
            </a:r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963084" y="1914529"/>
            <a:ext cx="10363200" cy="1362075"/>
          </a:xfrm>
        </p:spPr>
        <p:txBody>
          <a:bodyPr anchor="t"/>
          <a:lstStyle>
            <a:lvl1pPr algn="ctr">
              <a:defRPr sz="3200" b="0" cap="none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Section Header Title style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609602" y="457200"/>
            <a:ext cx="10769600" cy="9906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LeftContent"/>
          <p:cNvSpPr>
            <a:spLocks noGrp="1"/>
          </p:cNvSpPr>
          <p:nvPr>
            <p:ph sz="half" idx="1"/>
          </p:nvPr>
        </p:nvSpPr>
        <p:spPr>
          <a:xfrm>
            <a:off x="609602" y="1600200"/>
            <a:ext cx="5181600" cy="4648199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4"/>
            </a:lvl3pPr>
            <a:lvl4pPr>
              <a:defRPr sz="1805"/>
            </a:lvl4pPr>
            <a:lvl5pPr>
              <a:defRPr sz="1805"/>
            </a:lvl5pPr>
            <a:lvl6pPr>
              <a:defRPr sz="1805"/>
            </a:lvl6pPr>
            <a:lvl7pPr>
              <a:defRPr sz="1805"/>
            </a:lvl7pPr>
            <a:lvl8pPr>
              <a:defRPr sz="1805"/>
            </a:lvl8pPr>
            <a:lvl9pPr>
              <a:defRPr sz="180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RightContent"/>
          <p:cNvSpPr>
            <a:spLocks noGrp="1"/>
          </p:cNvSpPr>
          <p:nvPr>
            <p:ph sz="half" idx="2"/>
          </p:nvPr>
        </p:nvSpPr>
        <p:spPr>
          <a:xfrm>
            <a:off x="6197602" y="1600200"/>
            <a:ext cx="5181600" cy="4648199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4"/>
            </a:lvl3pPr>
            <a:lvl4pPr>
              <a:defRPr sz="1805"/>
            </a:lvl4pPr>
            <a:lvl5pPr>
              <a:defRPr sz="1805"/>
            </a:lvl5pPr>
            <a:lvl6pPr>
              <a:defRPr sz="1805"/>
            </a:lvl6pPr>
            <a:lvl7pPr>
              <a:defRPr sz="1805"/>
            </a:lvl7pPr>
            <a:lvl8pPr>
              <a:defRPr sz="1805"/>
            </a:lvl8pPr>
            <a:lvl9pPr>
              <a:defRPr sz="180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"/>
          <p:cNvSpPr txBox="1">
            <a:spLocks noChangeArrowheads="1"/>
          </p:cNvSpPr>
          <p:nvPr userDrawn="1"/>
        </p:nvSpPr>
        <p:spPr bwMode="auto">
          <a:xfrm>
            <a:off x="607484" y="1600200"/>
            <a:ext cx="10765536" cy="464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/>
          <a:lstStyle/>
          <a:p>
            <a:pPr marL="342164" lvl="0" indent="-342164">
              <a:buClr>
                <a:schemeClr val="tx2"/>
              </a:buClr>
              <a:buSzPct val="75000"/>
              <a:buFont typeface="Wingdings" pitchFamily="2" charset="2"/>
              <a:buChar char="§"/>
              <a:tabLst>
                <a:tab pos="458340" algn="l"/>
              </a:tabLst>
            </a:pPr>
            <a:r>
              <a:rPr lang="en-US" sz="2400">
                <a:latin typeface="Arial" pitchFamily="34" charset="0"/>
                <a:cs typeface="Arial" pitchFamily="34" charset="0"/>
              </a:rPr>
              <a:t>Edit</a:t>
            </a:r>
            <a:r>
              <a:rPr lang="en-US" sz="2400" baseline="0">
                <a:latin typeface="Arial" pitchFamily="34" charset="0"/>
                <a:cs typeface="Arial" pitchFamily="34" charset="0"/>
              </a:rPr>
              <a:t> in Slide Master view to e</a:t>
            </a:r>
            <a:r>
              <a:rPr lang="en-US" sz="2400">
                <a:latin typeface="Arial" pitchFamily="34" charset="0"/>
                <a:cs typeface="Arial" pitchFamily="34" charset="0"/>
              </a:rPr>
              <a:t>nter agenda items</a:t>
            </a:r>
          </a:p>
          <a:p>
            <a:pPr marL="342164" lvl="0" indent="-342164">
              <a:buClr>
                <a:schemeClr val="tx2"/>
              </a:buClr>
              <a:buSzPct val="75000"/>
              <a:buFont typeface="Wingdings" pitchFamily="2" charset="2"/>
              <a:buChar char="§"/>
              <a:tabLst>
                <a:tab pos="458340" algn="l"/>
              </a:tabLst>
            </a:pPr>
            <a:r>
              <a:rPr lang="en-US" sz="2400">
                <a:latin typeface="Arial" pitchFamily="34" charset="0"/>
                <a:cs typeface="Arial" pitchFamily="34" charset="0"/>
              </a:rPr>
              <a:t>Bullet 2</a:t>
            </a:r>
          </a:p>
          <a:p>
            <a:pPr marL="342164" lvl="0" indent="-342164">
              <a:buClr>
                <a:schemeClr val="tx2"/>
              </a:buClr>
              <a:buSzPct val="75000"/>
              <a:buFont typeface="Wingdings" pitchFamily="2" charset="2"/>
              <a:buChar char="§"/>
              <a:tabLst>
                <a:tab pos="458340" algn="l"/>
              </a:tabLst>
            </a:pPr>
            <a:r>
              <a:rPr lang="en-US" sz="2400">
                <a:latin typeface="Arial" pitchFamily="34" charset="0"/>
                <a:cs typeface="Arial" pitchFamily="34" charset="0"/>
              </a:rPr>
              <a:t>Bullet</a:t>
            </a:r>
            <a:r>
              <a:rPr lang="en-US" sz="2400" baseline="0">
                <a:latin typeface="Arial" pitchFamily="34" charset="0"/>
                <a:cs typeface="Arial" pitchFamily="34" charset="0"/>
              </a:rPr>
              <a:t> 3</a:t>
            </a:r>
          </a:p>
          <a:p>
            <a:pPr marL="342164" lvl="0" indent="-342164">
              <a:buClr>
                <a:schemeClr val="tx2"/>
              </a:buClr>
              <a:buSzPct val="75000"/>
              <a:buFont typeface="Wingdings" pitchFamily="2" charset="2"/>
              <a:buChar char="§"/>
              <a:tabLst>
                <a:tab pos="458340" algn="l"/>
              </a:tabLst>
            </a:pPr>
            <a:r>
              <a:rPr lang="en-US" sz="2400" baseline="0">
                <a:latin typeface="Arial" pitchFamily="34" charset="0"/>
                <a:cs typeface="Arial" pitchFamily="34" charset="0"/>
              </a:rPr>
              <a:t>Bullet 4</a:t>
            </a:r>
          </a:p>
          <a:p>
            <a:pPr marL="342164" lvl="0" indent="-342164">
              <a:buClr>
                <a:schemeClr val="tx2"/>
              </a:buClr>
              <a:buSzPct val="75000"/>
              <a:buFont typeface="Wingdings" pitchFamily="2" charset="2"/>
              <a:buChar char="§"/>
              <a:tabLst>
                <a:tab pos="458340" algn="l"/>
              </a:tabLst>
            </a:pPr>
            <a:endParaRPr lang="en-US" sz="2400"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Title"/>
          <p:cNvSpPr txBox="1">
            <a:spLocks noChangeArrowheads="1"/>
          </p:cNvSpPr>
          <p:nvPr userDrawn="1"/>
        </p:nvSpPr>
        <p:spPr bwMode="auto">
          <a:xfrm>
            <a:off x="607484" y="464695"/>
            <a:ext cx="10765536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/>
          <a:lstStyle/>
          <a:p>
            <a:pPr marL="0" marR="0" indent="0" algn="l" defTabSz="9166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b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Edit in Slide</a:t>
            </a:r>
            <a:r>
              <a:rPr lang="en-US" sz="2800" b="0" baseline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 Master view to e</a:t>
            </a:r>
            <a:r>
              <a:rPr lang="en-US" sz="2800" b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nter agenda</a:t>
            </a:r>
            <a:r>
              <a:rPr lang="en-US" sz="2800" b="0" baseline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 title</a:t>
            </a:r>
            <a:endParaRPr lang="en-US" sz="2800" b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609602" y="457200"/>
            <a:ext cx="10769600" cy="990600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"/>
          <p:cNvSpPr>
            <a:spLocks noGrp="1"/>
          </p:cNvSpPr>
          <p:nvPr>
            <p:ph type="body" idx="1"/>
          </p:nvPr>
        </p:nvSpPr>
        <p:spPr>
          <a:xfrm>
            <a:off x="609602" y="1600200"/>
            <a:ext cx="10769600" cy="46482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SlideNumber"/>
          <p:cNvSpPr/>
          <p:nvPr/>
        </p:nvSpPr>
        <p:spPr>
          <a:xfrm>
            <a:off x="11582400" y="6484954"/>
            <a:ext cx="609600" cy="381001"/>
          </a:xfrm>
          <a:prstGeom prst="rect">
            <a:avLst/>
          </a:prstGeom>
          <a:noFill/>
          <a:ln w="12700">
            <a:noFill/>
          </a:ln>
        </p:spPr>
        <p:txBody>
          <a:bodyPr wrap="square" anchor="ctr">
            <a:noAutofit/>
          </a:bodyPr>
          <a:lstStyle/>
          <a:p>
            <a:pPr algn="ctr"/>
            <a:fld id="{47FBD1EF-0801-4063-B668-C71608ACC70F}" type="slidenum">
              <a:rPr kumimoji="0" lang="en-US" sz="1203" b="1" i="0" u="none" strike="noStrike" kern="120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pPr algn="ctr"/>
              <a:t>‹#›</a:t>
            </a:fld>
            <a:endParaRPr lang="en-US" sz="1203" b="1">
              <a:solidFill>
                <a:schemeClr val="tx2"/>
              </a:solidFill>
            </a:endParaRPr>
          </a:p>
        </p:txBody>
      </p:sp>
      <p:pic>
        <p:nvPicPr>
          <p:cNvPr id="12" name="Logo" descr="logo647.png"/>
          <p:cNvPicPr>
            <a:picLocks noChangeAspect="1"/>
          </p:cNvPicPr>
          <p:nvPr/>
        </p:nvPicPr>
        <p:blipFill>
          <a:blip r:embed="rId10" cstate="print"/>
          <a:stretch>
            <a:fillRect/>
          </a:stretch>
        </p:blipFill>
        <p:spPr>
          <a:xfrm>
            <a:off x="10679339" y="23675"/>
            <a:ext cx="1327516" cy="36026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3" name="Line"/>
          <p:cNvCxnSpPr/>
          <p:nvPr/>
        </p:nvCxnSpPr>
        <p:spPr>
          <a:xfrm rot="10800000" flipV="1">
            <a:off x="229170" y="176521"/>
            <a:ext cx="10297392" cy="211602"/>
          </a:xfrm>
          <a:prstGeom prst="bentConnector3">
            <a:avLst>
              <a:gd name="adj1" fmla="val 100013"/>
            </a:avLst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2" r:id="rId3"/>
    <p:sldLayoutId id="2147483659" r:id="rId4"/>
    <p:sldLayoutId id="2147483663" r:id="rId5"/>
    <p:sldLayoutId id="2147483651" r:id="rId6"/>
    <p:sldLayoutId id="2147483652" r:id="rId7"/>
    <p:sldLayoutId id="2147483664" r:id="rId8"/>
  </p:sldLayoutIdLst>
  <p:hf hdr="0" ftr="0" dt="0"/>
  <p:txStyles>
    <p:titleStyle>
      <a:lvl1pPr algn="l" defTabSz="916680" rtl="0" eaLnBrk="1" latinLnBrk="0" hangingPunct="1">
        <a:spcBef>
          <a:spcPct val="0"/>
        </a:spcBef>
        <a:buNone/>
        <a:defRPr sz="2800" b="0" kern="1200">
          <a:solidFill>
            <a:schemeClr val="tx2"/>
          </a:solidFill>
          <a:latin typeface="Arial" pitchFamily="34" charset="0"/>
          <a:ea typeface="+mj-ea"/>
          <a:cs typeface="Arial" pitchFamily="34" charset="0"/>
        </a:defRPr>
      </a:lvl1pPr>
    </p:titleStyle>
    <p:bodyStyle>
      <a:lvl1pPr marL="343755" indent="-343755" algn="l" defTabSz="916680" rtl="0" eaLnBrk="1" latinLnBrk="0" hangingPunct="1">
        <a:spcBef>
          <a:spcPct val="20000"/>
        </a:spcBef>
        <a:buClr>
          <a:schemeClr val="tx2"/>
        </a:buClr>
        <a:buSzPct val="75000"/>
        <a:buFont typeface="Wingdings" pitchFamily="2" charset="2"/>
        <a:buChar char="§"/>
        <a:defRPr sz="24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1pPr>
      <a:lvl2pPr marL="744802" indent="-286462" algn="l" defTabSz="91668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–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2pPr>
      <a:lvl3pPr marL="1145850" indent="-229170" algn="l" defTabSz="916680" rtl="0" eaLnBrk="1" latinLnBrk="0" hangingPunct="1">
        <a:spcBef>
          <a:spcPct val="20000"/>
        </a:spcBef>
        <a:buClr>
          <a:schemeClr val="tx2"/>
        </a:buClr>
        <a:buSzPct val="75000"/>
        <a:buFont typeface="Wingdings" pitchFamily="2" charset="2"/>
        <a:buChar char="§"/>
        <a:defRPr sz="1604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3pPr>
      <a:lvl4pPr marL="1604190" indent="-229170" algn="l" defTabSz="916680" rtl="0" eaLnBrk="1" latinLnBrk="0" hangingPunct="1">
        <a:spcBef>
          <a:spcPct val="20000"/>
        </a:spcBef>
        <a:buFont typeface="Arial" pitchFamily="34" charset="0"/>
        <a:buNone/>
        <a:defRPr sz="1604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4pPr>
      <a:lvl5pPr marL="2062531" indent="-229170" algn="l" defTabSz="91668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»"/>
        <a:defRPr sz="1404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2520871" indent="-229170" algn="l" defTabSz="916680" rtl="0" eaLnBrk="1" latinLnBrk="0" hangingPunct="1">
        <a:spcBef>
          <a:spcPct val="20000"/>
        </a:spcBef>
        <a:buFont typeface="Arial" pitchFamily="34" charset="0"/>
        <a:buChar char="•"/>
        <a:defRPr sz="2005" kern="1200">
          <a:solidFill>
            <a:schemeClr val="tx1"/>
          </a:solidFill>
          <a:latin typeface="+mn-lt"/>
          <a:ea typeface="+mn-ea"/>
          <a:cs typeface="+mn-cs"/>
        </a:defRPr>
      </a:lvl6pPr>
      <a:lvl7pPr marL="2979211" indent="-229170" algn="l" defTabSz="916680" rtl="0" eaLnBrk="1" latinLnBrk="0" hangingPunct="1">
        <a:spcBef>
          <a:spcPct val="20000"/>
        </a:spcBef>
        <a:buFont typeface="Arial" pitchFamily="34" charset="0"/>
        <a:buChar char="•"/>
        <a:defRPr sz="2005" kern="1200">
          <a:solidFill>
            <a:schemeClr val="tx1"/>
          </a:solidFill>
          <a:latin typeface="+mn-lt"/>
          <a:ea typeface="+mn-ea"/>
          <a:cs typeface="+mn-cs"/>
        </a:defRPr>
      </a:lvl7pPr>
      <a:lvl8pPr marL="3437551" indent="-229170" algn="l" defTabSz="916680" rtl="0" eaLnBrk="1" latinLnBrk="0" hangingPunct="1">
        <a:spcBef>
          <a:spcPct val="20000"/>
        </a:spcBef>
        <a:buFont typeface="Arial" pitchFamily="34" charset="0"/>
        <a:buChar char="•"/>
        <a:defRPr sz="2005" kern="1200">
          <a:solidFill>
            <a:schemeClr val="tx1"/>
          </a:solidFill>
          <a:latin typeface="+mn-lt"/>
          <a:ea typeface="+mn-ea"/>
          <a:cs typeface="+mn-cs"/>
        </a:defRPr>
      </a:lvl8pPr>
      <a:lvl9pPr marL="3895891" indent="-229170" algn="l" defTabSz="916680" rtl="0" eaLnBrk="1" latinLnBrk="0" hangingPunct="1">
        <a:spcBef>
          <a:spcPct val="20000"/>
        </a:spcBef>
        <a:buFont typeface="Arial" pitchFamily="34" charset="0"/>
        <a:buChar char="•"/>
        <a:defRPr sz="200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6680" rtl="0" eaLnBrk="1" latinLnBrk="0" hangingPunct="1">
        <a:defRPr sz="1805" kern="1200">
          <a:solidFill>
            <a:schemeClr val="tx1"/>
          </a:solidFill>
          <a:latin typeface="+mn-lt"/>
          <a:ea typeface="+mn-ea"/>
          <a:cs typeface="+mn-cs"/>
        </a:defRPr>
      </a:lvl1pPr>
      <a:lvl2pPr marL="458340" algn="l" defTabSz="916680" rtl="0" eaLnBrk="1" latinLnBrk="0" hangingPunct="1">
        <a:defRPr sz="1805" kern="1200">
          <a:solidFill>
            <a:schemeClr val="tx1"/>
          </a:solidFill>
          <a:latin typeface="+mn-lt"/>
          <a:ea typeface="+mn-ea"/>
          <a:cs typeface="+mn-cs"/>
        </a:defRPr>
      </a:lvl2pPr>
      <a:lvl3pPr marL="916680" algn="l" defTabSz="916680" rtl="0" eaLnBrk="1" latinLnBrk="0" hangingPunct="1">
        <a:defRPr sz="1805" kern="1200">
          <a:solidFill>
            <a:schemeClr val="tx1"/>
          </a:solidFill>
          <a:latin typeface="+mn-lt"/>
          <a:ea typeface="+mn-ea"/>
          <a:cs typeface="+mn-cs"/>
        </a:defRPr>
      </a:lvl3pPr>
      <a:lvl4pPr marL="1375020" algn="l" defTabSz="916680" rtl="0" eaLnBrk="1" latinLnBrk="0" hangingPunct="1">
        <a:defRPr sz="1805" kern="1200">
          <a:solidFill>
            <a:schemeClr val="tx1"/>
          </a:solidFill>
          <a:latin typeface="+mn-lt"/>
          <a:ea typeface="+mn-ea"/>
          <a:cs typeface="+mn-cs"/>
        </a:defRPr>
      </a:lvl4pPr>
      <a:lvl5pPr marL="1833361" algn="l" defTabSz="916680" rtl="0" eaLnBrk="1" latinLnBrk="0" hangingPunct="1">
        <a:defRPr sz="1805" kern="1200">
          <a:solidFill>
            <a:schemeClr val="tx1"/>
          </a:solidFill>
          <a:latin typeface="+mn-lt"/>
          <a:ea typeface="+mn-ea"/>
          <a:cs typeface="+mn-cs"/>
        </a:defRPr>
      </a:lvl5pPr>
      <a:lvl6pPr marL="2291701" algn="l" defTabSz="916680" rtl="0" eaLnBrk="1" latinLnBrk="0" hangingPunct="1">
        <a:defRPr sz="1805" kern="1200">
          <a:solidFill>
            <a:schemeClr val="tx1"/>
          </a:solidFill>
          <a:latin typeface="+mn-lt"/>
          <a:ea typeface="+mn-ea"/>
          <a:cs typeface="+mn-cs"/>
        </a:defRPr>
      </a:lvl6pPr>
      <a:lvl7pPr marL="2750041" algn="l" defTabSz="916680" rtl="0" eaLnBrk="1" latinLnBrk="0" hangingPunct="1">
        <a:defRPr sz="1805" kern="1200">
          <a:solidFill>
            <a:schemeClr val="tx1"/>
          </a:solidFill>
          <a:latin typeface="+mn-lt"/>
          <a:ea typeface="+mn-ea"/>
          <a:cs typeface="+mn-cs"/>
        </a:defRPr>
      </a:lvl7pPr>
      <a:lvl8pPr marL="3208381" algn="l" defTabSz="916680" rtl="0" eaLnBrk="1" latinLnBrk="0" hangingPunct="1">
        <a:defRPr sz="1805" kern="1200">
          <a:solidFill>
            <a:schemeClr val="tx1"/>
          </a:solidFill>
          <a:latin typeface="+mn-lt"/>
          <a:ea typeface="+mn-ea"/>
          <a:cs typeface="+mn-cs"/>
        </a:defRPr>
      </a:lvl8pPr>
      <a:lvl9pPr marL="3666721" algn="l" defTabSz="916680" rtl="0" eaLnBrk="1" latinLnBrk="0" hangingPunct="1">
        <a:defRPr sz="180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E02EB9A-D4C8-92A9-5CE3-2314BFFC3C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Proposed Design</a:t>
            </a:r>
          </a:p>
        </p:txBody>
      </p:sp>
    </p:spTree>
    <p:extLst>
      <p:ext uri="{BB962C8B-B14F-4D97-AF65-F5344CB8AC3E}">
        <p14:creationId xmlns:p14="http://schemas.microsoft.com/office/powerpoint/2010/main" val="1064230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2E8FF2-6F34-9BB4-672A-7DEBE0F670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High Level API Summary</a:t>
            </a:r>
          </a:p>
        </p:txBody>
      </p:sp>
      <p:graphicFrame>
        <p:nvGraphicFramePr>
          <p:cNvPr id="7" name="Table 7">
            <a:extLst>
              <a:ext uri="{FF2B5EF4-FFF2-40B4-BE49-F238E27FC236}">
                <a16:creationId xmlns:a16="http://schemas.microsoft.com/office/drawing/2014/main" id="{8B551BFE-1780-9F9F-4936-BDACCA5187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7744476"/>
              </p:ext>
            </p:extLst>
          </p:nvPr>
        </p:nvGraphicFramePr>
        <p:xfrm>
          <a:off x="486261" y="1482381"/>
          <a:ext cx="11100954" cy="1188720"/>
        </p:xfrm>
        <a:graphic>
          <a:graphicData uri="http://schemas.openxmlformats.org/drawingml/2006/table">
            <a:tbl>
              <a:tblPr bandRow="1">
                <a:tableStyleId>{BC89EF96-8CEA-46FF-86C4-4CE0E7609802}</a:tableStyleId>
              </a:tblPr>
              <a:tblGrid>
                <a:gridCol w="3835218">
                  <a:extLst>
                    <a:ext uri="{9D8B030D-6E8A-4147-A177-3AD203B41FA5}">
                      <a16:colId xmlns:a16="http://schemas.microsoft.com/office/drawing/2014/main" val="534656722"/>
                    </a:ext>
                  </a:extLst>
                </a:gridCol>
                <a:gridCol w="7265736">
                  <a:extLst>
                    <a:ext uri="{9D8B030D-6E8A-4147-A177-3AD203B41FA5}">
                      <a16:colId xmlns:a16="http://schemas.microsoft.com/office/drawing/2014/main" val="413906227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sz="20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readtoml</a:t>
                      </a:r>
                      <a:endParaRPr lang="en-US" sz="20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dirty="0">
                          <a:latin typeface="+mn-lt"/>
                        </a:rPr>
                        <a:t>Read data from TOML file. Returns </a:t>
                      </a:r>
                      <a:r>
                        <a:rPr lang="en-US" sz="2000" dirty="0" err="1">
                          <a:latin typeface="+mn-lt"/>
                        </a:rPr>
                        <a:t>TOMLData</a:t>
                      </a:r>
                      <a:endParaRPr lang="en-US" sz="2000" dirty="0">
                        <a:latin typeface="+mn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327014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sz="20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writetoml</a:t>
                      </a:r>
                      <a:endParaRPr lang="en-US" sz="20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dirty="0">
                          <a:latin typeface="+mn-lt"/>
                        </a:rPr>
                        <a:t>Write </a:t>
                      </a:r>
                      <a:r>
                        <a:rPr lang="en-US" sz="2000" dirty="0" err="1">
                          <a:latin typeface="+mn-lt"/>
                        </a:rPr>
                        <a:t>TOMLData</a:t>
                      </a:r>
                      <a:r>
                        <a:rPr lang="en-US" sz="2000" dirty="0">
                          <a:latin typeface="+mn-lt"/>
                        </a:rPr>
                        <a:t> or struct to TOML file.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955869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sz="20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matlab.io.toml.TOMLData</a:t>
                      </a:r>
                      <a:endParaRPr lang="en-US" sz="20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dirty="0">
                          <a:latin typeface="+mn-lt"/>
                        </a:rPr>
                        <a:t>Representation of TOML data in MATLAB.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31388880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400247B4-A805-FFD4-E773-226785BC607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2104527"/>
              </p:ext>
            </p:extLst>
          </p:nvPr>
        </p:nvGraphicFramePr>
        <p:xfrm>
          <a:off x="443925" y="4053701"/>
          <a:ext cx="11202552" cy="1781125"/>
        </p:xfrm>
        <a:graphic>
          <a:graphicData uri="http://schemas.openxmlformats.org/drawingml/2006/table">
            <a:tbl>
              <a:tblPr bandRow="1">
                <a:tableStyleId>{BC89EF96-8CEA-46FF-86C4-4CE0E7609802}</a:tableStyleId>
              </a:tblPr>
              <a:tblGrid>
                <a:gridCol w="3902607">
                  <a:extLst>
                    <a:ext uri="{9D8B030D-6E8A-4147-A177-3AD203B41FA5}">
                      <a16:colId xmlns:a16="http://schemas.microsoft.com/office/drawing/2014/main" val="534656722"/>
                    </a:ext>
                  </a:extLst>
                </a:gridCol>
                <a:gridCol w="7299945">
                  <a:extLst>
                    <a:ext uri="{9D8B030D-6E8A-4147-A177-3AD203B41FA5}">
                      <a16:colId xmlns:a16="http://schemas.microsoft.com/office/drawing/2014/main" val="4139062277"/>
                    </a:ext>
                  </a:extLst>
                </a:gridCol>
              </a:tblGrid>
              <a:tr h="425943">
                <a:tc>
                  <a:txBody>
                    <a:bodyPr/>
                    <a:lstStyle/>
                    <a:p>
                      <a:pPr marL="0" algn="l" defTabSz="916680" rtl="0" eaLnBrk="1" latinLnBrk="0" hangingPunct="1"/>
                      <a:r>
                        <a:rPr lang="en-US" sz="2000" kern="120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readyaml</a:t>
                      </a:r>
                      <a:endParaRPr lang="en-US" sz="2000" kern="12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Courier New" panose="020703090202050204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dirty="0">
                          <a:latin typeface="+mn-lt"/>
                        </a:rPr>
                        <a:t>Read data from YAML file. Returns </a:t>
                      </a:r>
                      <a:r>
                        <a:rPr lang="en-US" sz="2000" dirty="0" err="1">
                          <a:latin typeface="+mn-lt"/>
                        </a:rPr>
                        <a:t>YAMLData</a:t>
                      </a:r>
                      <a:endParaRPr lang="en-US" sz="2000" dirty="0">
                        <a:latin typeface="+mn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32701474"/>
                  </a:ext>
                </a:extLst>
              </a:tr>
              <a:tr h="677591">
                <a:tc>
                  <a:txBody>
                    <a:bodyPr/>
                    <a:lstStyle/>
                    <a:p>
                      <a:pPr marL="0" algn="l" defTabSz="916680" rtl="0" eaLnBrk="1" latinLnBrk="0" hangingPunct="1"/>
                      <a:r>
                        <a:rPr lang="en-US" sz="2000" kern="120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writeyaml</a:t>
                      </a:r>
                      <a:endParaRPr lang="en-US" sz="2000" kern="12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Courier New" panose="020703090202050204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dirty="0">
                          <a:latin typeface="+mn-lt"/>
                        </a:rPr>
                        <a:t>Write </a:t>
                      </a:r>
                      <a:r>
                        <a:rPr lang="en-US" sz="2000" dirty="0" err="1">
                          <a:latin typeface="+mn-lt"/>
                        </a:rPr>
                        <a:t>YAMLData</a:t>
                      </a:r>
                      <a:r>
                        <a:rPr lang="en-US" sz="2000" dirty="0">
                          <a:latin typeface="+mn-lt"/>
                        </a:rPr>
                        <a:t> or struct to YAML file.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39192009"/>
                  </a:ext>
                </a:extLst>
              </a:tr>
              <a:tr h="677591">
                <a:tc>
                  <a:txBody>
                    <a:bodyPr/>
                    <a:lstStyle/>
                    <a:p>
                      <a:pPr marL="0" algn="l" defTabSz="916680" rtl="0" eaLnBrk="1" latinLnBrk="0" hangingPunct="1"/>
                      <a:r>
                        <a:rPr lang="en-US" sz="20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matlab.io.yaml.</a:t>
                      </a:r>
                      <a:r>
                        <a:rPr lang="en-US" sz="2000" kern="120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YAMLData</a:t>
                      </a:r>
                      <a:endParaRPr lang="en-US" sz="2000" kern="120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+mn-ea"/>
                        <a:cs typeface="Courier New" panose="020703090202050204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dirty="0">
                          <a:latin typeface="+mn-lt"/>
                        </a:rPr>
                        <a:t>Representation of YAML data in MATLAB.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95586902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4A407CAD-CA22-7782-FE15-67BD809DD234}"/>
              </a:ext>
            </a:extLst>
          </p:cNvPr>
          <p:cNvSpPr txBox="1"/>
          <p:nvPr/>
        </p:nvSpPr>
        <p:spPr>
          <a:xfrm>
            <a:off x="443925" y="1011382"/>
            <a:ext cx="89178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Arial" pitchFamily="34" charset="0"/>
                <a:cs typeface="Arial" pitchFamily="34" charset="0"/>
              </a:rPr>
              <a:t>TOML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17F1FAA-007D-66E9-6208-FC15662F30E5}"/>
              </a:ext>
            </a:extLst>
          </p:cNvPr>
          <p:cNvSpPr txBox="1"/>
          <p:nvPr/>
        </p:nvSpPr>
        <p:spPr>
          <a:xfrm>
            <a:off x="352710" y="3619010"/>
            <a:ext cx="86453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Arial" pitchFamily="34" charset="0"/>
                <a:cs typeface="Arial" pitchFamily="34" charset="0"/>
              </a:rPr>
              <a:t>YAML</a:t>
            </a:r>
          </a:p>
        </p:txBody>
      </p:sp>
    </p:spTree>
    <p:extLst>
      <p:ext uri="{BB962C8B-B14F-4D97-AF65-F5344CB8AC3E}">
        <p14:creationId xmlns:p14="http://schemas.microsoft.com/office/powerpoint/2010/main" val="71538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086444B-7358-D84A-E3DE-CB51169609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API Details</a:t>
            </a:r>
          </a:p>
        </p:txBody>
      </p:sp>
    </p:spTree>
    <p:extLst>
      <p:ext uri="{BB962C8B-B14F-4D97-AF65-F5344CB8AC3E}">
        <p14:creationId xmlns:p14="http://schemas.microsoft.com/office/powerpoint/2010/main" val="20129511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9A62D9-BDDB-048F-4EE3-B868E6C0AF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34EBC33-E47E-2C97-4888-D6E3CC2279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2" y="457200"/>
            <a:ext cx="10769600" cy="584775"/>
          </a:xfrm>
        </p:spPr>
        <p:txBody>
          <a:bodyPr/>
          <a:lstStyle/>
          <a:p>
            <a:r>
              <a:rPr lang="en-US" dirty="0"/>
              <a:t>Reading a TOML File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AA662C1-6A3E-4776-AAF1-6A6B87BC6BFC}"/>
              </a:ext>
            </a:extLst>
          </p:cNvPr>
          <p:cNvSpPr txBox="1"/>
          <p:nvPr/>
        </p:nvSpPr>
        <p:spPr>
          <a:xfrm>
            <a:off x="609601" y="1092462"/>
            <a:ext cx="910813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Courier New" panose="02070309020205020404" pitchFamily="49" charset="0"/>
              </a:rPr>
              <a:t>Syntax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srgbClr val="004B8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td = </a:t>
            </a:r>
            <a:r>
              <a:rPr lang="en-US" dirty="0" err="1">
                <a:solidFill>
                  <a:srgbClr val="004B8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readtoml</a:t>
            </a:r>
            <a:r>
              <a:rPr lang="en-US" dirty="0">
                <a:solidFill>
                  <a:srgbClr val="004B8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(filename)</a:t>
            </a:r>
          </a:p>
          <a:p>
            <a:pPr lvl="0">
              <a:defRPr/>
            </a:pPr>
            <a:r>
              <a:rPr lang="en-US" dirty="0">
                <a:solidFill>
                  <a:srgbClr val="004B8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td = </a:t>
            </a:r>
            <a:r>
              <a:rPr lang="en-US" dirty="0" err="1">
                <a:solidFill>
                  <a:srgbClr val="004B8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readtoml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004B87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(___, Name = Value)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665E143-637A-095A-99B1-AAC3C065DF7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96515821"/>
              </p:ext>
            </p:extLst>
          </p:nvPr>
        </p:nvGraphicFramePr>
        <p:xfrm>
          <a:off x="242692" y="2748524"/>
          <a:ext cx="11725275" cy="3693087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990725">
                  <a:extLst>
                    <a:ext uri="{9D8B030D-6E8A-4147-A177-3AD203B41FA5}">
                      <a16:colId xmlns:a16="http://schemas.microsoft.com/office/drawing/2014/main" val="964240977"/>
                    </a:ext>
                  </a:extLst>
                </a:gridCol>
                <a:gridCol w="1753194">
                  <a:extLst>
                    <a:ext uri="{9D8B030D-6E8A-4147-A177-3AD203B41FA5}">
                      <a16:colId xmlns:a16="http://schemas.microsoft.com/office/drawing/2014/main" val="2401887970"/>
                    </a:ext>
                  </a:extLst>
                </a:gridCol>
                <a:gridCol w="6764582">
                  <a:extLst>
                    <a:ext uri="{9D8B030D-6E8A-4147-A177-3AD203B41FA5}">
                      <a16:colId xmlns:a16="http://schemas.microsoft.com/office/drawing/2014/main" val="3443374254"/>
                    </a:ext>
                  </a:extLst>
                </a:gridCol>
                <a:gridCol w="1216774">
                  <a:extLst>
                    <a:ext uri="{9D8B030D-6E8A-4147-A177-3AD203B41FA5}">
                      <a16:colId xmlns:a16="http://schemas.microsoft.com/office/drawing/2014/main" val="4048346007"/>
                    </a:ext>
                  </a:extLst>
                </a:gridCol>
              </a:tblGrid>
              <a:tr h="530738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400"/>
                        </a:spcAft>
                      </a:pPr>
                      <a:r>
                        <a:rPr lang="en-US" sz="1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Name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400"/>
                        </a:spcAft>
                      </a:pPr>
                      <a:r>
                        <a:rPr lang="en-US" sz="1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Type / Values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400"/>
                        </a:spcAft>
                      </a:pPr>
                      <a:r>
                        <a:rPr lang="en-US" sz="1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Description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400"/>
                        </a:spcAft>
                      </a:pPr>
                      <a:r>
                        <a:rPr lang="en-US" sz="1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Default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625789594"/>
                  </a:ext>
                </a:extLst>
              </a:tr>
              <a:tr h="530738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400"/>
                        </a:spcAft>
                      </a:pPr>
                      <a:endParaRPr lang="en-US" sz="1800" dirty="0">
                        <a:effectLst/>
                        <a:latin typeface="Courier New" panose="02070309020205020404" pitchFamily="49" charset="0"/>
                        <a:ea typeface="Yu Mincho" panose="02020400000000000000" pitchFamily="18" charset="-128"/>
                        <a:cs typeface="Courier New" panose="020703090202050204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400"/>
                        </a:spcAft>
                      </a:pPr>
                      <a:endParaRPr lang="en-US" sz="1800">
                        <a:effectLst/>
                        <a:latin typeface="Courier New" panose="02070309020205020404" pitchFamily="49" charset="0"/>
                        <a:ea typeface="Yu Mincho" panose="02020400000000000000" pitchFamily="18" charset="-128"/>
                        <a:cs typeface="Courier New" panose="020703090202050204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400"/>
                        </a:spcAft>
                      </a:pP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400"/>
                        </a:spcAft>
                      </a:pPr>
                      <a:endParaRPr lang="en-US" sz="1800">
                        <a:effectLst/>
                        <a:latin typeface="Courier New" panose="02070309020205020404" pitchFamily="49" charset="0"/>
                        <a:ea typeface="Yu Mincho" panose="02020400000000000000" pitchFamily="18" charset="-128"/>
                        <a:cs typeface="Courier New" panose="02070309020205020404" pitchFamily="49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66104752"/>
                  </a:ext>
                </a:extLst>
              </a:tr>
              <a:tr h="1351184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400"/>
                        </a:spcAft>
                      </a:pPr>
                      <a:endParaRPr lang="en-US" sz="1800">
                        <a:effectLst/>
                        <a:latin typeface="Courier New" panose="02070309020205020404" pitchFamily="49" charset="0"/>
                        <a:ea typeface="Yu Mincho" panose="02020400000000000000" pitchFamily="18" charset="-128"/>
                        <a:cs typeface="Courier New" panose="020703090202050204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400"/>
                        </a:spcAft>
                      </a:pPr>
                      <a:endParaRPr lang="en-US" sz="1800" dirty="0">
                        <a:effectLst/>
                        <a:latin typeface="Courier New" panose="02070309020205020404" pitchFamily="49" charset="0"/>
                        <a:ea typeface="Yu Mincho" panose="02020400000000000000" pitchFamily="18" charset="-128"/>
                        <a:cs typeface="Courier New" panose="020703090202050204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400"/>
                        </a:spcAft>
                      </a:pP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400"/>
                        </a:spcAft>
                      </a:pPr>
                      <a:endParaRPr lang="en-US" sz="1800">
                        <a:effectLst/>
                        <a:latin typeface="Courier New" panose="02070309020205020404" pitchFamily="49" charset="0"/>
                        <a:ea typeface="Yu Mincho" panose="02020400000000000000" pitchFamily="18" charset="-128"/>
                        <a:cs typeface="Courier New" panose="02070309020205020404" pitchFamily="49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799824704"/>
                  </a:ext>
                </a:extLst>
              </a:tr>
              <a:tr h="530738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400"/>
                        </a:spcAft>
                      </a:pPr>
                      <a:endParaRPr lang="en-US" sz="1800">
                        <a:effectLst/>
                        <a:latin typeface="Courier New" panose="02070309020205020404" pitchFamily="49" charset="0"/>
                        <a:ea typeface="Yu Mincho" panose="02020400000000000000" pitchFamily="18" charset="-128"/>
                        <a:cs typeface="Courier New" panose="020703090202050204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400"/>
                        </a:spcAft>
                      </a:pPr>
                      <a:endParaRPr lang="en-US" sz="1800">
                        <a:effectLst/>
                        <a:latin typeface="Courier New" panose="02070309020205020404" pitchFamily="49" charset="0"/>
                        <a:ea typeface="Yu Mincho" panose="02020400000000000000" pitchFamily="18" charset="-128"/>
                        <a:cs typeface="Courier New" panose="020703090202050204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400"/>
                        </a:spcAft>
                      </a:pP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400"/>
                        </a:spcAft>
                      </a:pPr>
                      <a:endParaRPr lang="en-US" sz="1800">
                        <a:effectLst/>
                        <a:latin typeface="Courier New" panose="02070309020205020404" pitchFamily="49" charset="0"/>
                        <a:ea typeface="Yu Mincho" panose="02020400000000000000" pitchFamily="18" charset="-128"/>
                        <a:cs typeface="Courier New" panose="02070309020205020404" pitchFamily="49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630580186"/>
                  </a:ext>
                </a:extLst>
              </a:tr>
              <a:tr h="749689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400"/>
                        </a:spcAft>
                      </a:pPr>
                      <a:endParaRPr lang="en-US" sz="1800" dirty="0">
                        <a:effectLst/>
                        <a:latin typeface="Courier New" panose="02070309020205020404" pitchFamily="49" charset="0"/>
                        <a:ea typeface="Yu Mincho" panose="02020400000000000000" pitchFamily="18" charset="-128"/>
                        <a:cs typeface="Courier New" panose="020703090202050204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400"/>
                        </a:spcAft>
                      </a:pPr>
                      <a:endParaRPr lang="en-US" sz="1800">
                        <a:effectLst/>
                        <a:latin typeface="Courier New" panose="02070309020205020404" pitchFamily="49" charset="0"/>
                        <a:ea typeface="Yu Mincho" panose="02020400000000000000" pitchFamily="18" charset="-128"/>
                        <a:cs typeface="Courier New" panose="020703090202050204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400"/>
                        </a:spcAft>
                      </a:pP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400"/>
                        </a:spcAft>
                      </a:pPr>
                      <a:endParaRPr lang="en-US" sz="1800" dirty="0">
                        <a:effectLst/>
                        <a:latin typeface="Courier New" panose="02070309020205020404" pitchFamily="49" charset="0"/>
                        <a:ea typeface="Yu Mincho" panose="02020400000000000000" pitchFamily="18" charset="-128"/>
                        <a:cs typeface="Courier New" panose="02070309020205020404" pitchFamily="49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81425685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D61C9E73-4B50-F82C-6DBB-C191C19AF1A4}"/>
              </a:ext>
            </a:extLst>
          </p:cNvPr>
          <p:cNvSpPr txBox="1"/>
          <p:nvPr/>
        </p:nvSpPr>
        <p:spPr>
          <a:xfrm>
            <a:off x="609601" y="2133600"/>
            <a:ext cx="910813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Courier New" panose="02070309020205020404" pitchFamily="49" charset="0"/>
              </a:rPr>
              <a:t>Named Arguments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srgbClr val="004B87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313054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54EA96-5ECA-6AA2-FA82-1684C7A264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TOMLData</a:t>
            </a:r>
            <a:endParaRPr lang="en-US" dirty="0"/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46417EB8-A468-3CBA-3D2E-3F7B46040BF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41055548"/>
              </p:ext>
            </p:extLst>
          </p:nvPr>
        </p:nvGraphicFramePr>
        <p:xfrm>
          <a:off x="334027" y="1750513"/>
          <a:ext cx="11725275" cy="3693087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990725">
                  <a:extLst>
                    <a:ext uri="{9D8B030D-6E8A-4147-A177-3AD203B41FA5}">
                      <a16:colId xmlns:a16="http://schemas.microsoft.com/office/drawing/2014/main" val="964240977"/>
                    </a:ext>
                  </a:extLst>
                </a:gridCol>
                <a:gridCol w="1753194">
                  <a:extLst>
                    <a:ext uri="{9D8B030D-6E8A-4147-A177-3AD203B41FA5}">
                      <a16:colId xmlns:a16="http://schemas.microsoft.com/office/drawing/2014/main" val="2401887970"/>
                    </a:ext>
                  </a:extLst>
                </a:gridCol>
                <a:gridCol w="6764582">
                  <a:extLst>
                    <a:ext uri="{9D8B030D-6E8A-4147-A177-3AD203B41FA5}">
                      <a16:colId xmlns:a16="http://schemas.microsoft.com/office/drawing/2014/main" val="3443374254"/>
                    </a:ext>
                  </a:extLst>
                </a:gridCol>
                <a:gridCol w="1216774">
                  <a:extLst>
                    <a:ext uri="{9D8B030D-6E8A-4147-A177-3AD203B41FA5}">
                      <a16:colId xmlns:a16="http://schemas.microsoft.com/office/drawing/2014/main" val="4048346007"/>
                    </a:ext>
                  </a:extLst>
                </a:gridCol>
              </a:tblGrid>
              <a:tr h="530738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400"/>
                        </a:spcAft>
                      </a:pPr>
                      <a:r>
                        <a:rPr lang="en-US" sz="1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Property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400"/>
                        </a:spcAft>
                      </a:pPr>
                      <a:r>
                        <a:rPr lang="en-US" sz="1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Type / Values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400"/>
                        </a:spcAft>
                      </a:pPr>
                      <a:r>
                        <a:rPr lang="en-US" sz="1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Description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400"/>
                        </a:spcAft>
                      </a:pPr>
                      <a:r>
                        <a:rPr lang="en-US" sz="1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Default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625789594"/>
                  </a:ext>
                </a:extLst>
              </a:tr>
              <a:tr h="530738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400"/>
                        </a:spcAft>
                      </a:pPr>
                      <a:endParaRPr lang="en-US" sz="1800" dirty="0">
                        <a:effectLst/>
                        <a:latin typeface="Courier New" panose="02070309020205020404" pitchFamily="49" charset="0"/>
                        <a:ea typeface="Yu Mincho" panose="02020400000000000000" pitchFamily="18" charset="-128"/>
                        <a:cs typeface="Courier New" panose="020703090202050204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400"/>
                        </a:spcAft>
                      </a:pPr>
                      <a:endParaRPr lang="en-US" sz="1800">
                        <a:effectLst/>
                        <a:latin typeface="Courier New" panose="02070309020205020404" pitchFamily="49" charset="0"/>
                        <a:ea typeface="Yu Mincho" panose="02020400000000000000" pitchFamily="18" charset="-128"/>
                        <a:cs typeface="Courier New" panose="020703090202050204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400"/>
                        </a:spcAft>
                      </a:pP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400"/>
                        </a:spcAft>
                      </a:pPr>
                      <a:endParaRPr lang="en-US" sz="1800">
                        <a:effectLst/>
                        <a:latin typeface="Courier New" panose="02070309020205020404" pitchFamily="49" charset="0"/>
                        <a:ea typeface="Yu Mincho" panose="02020400000000000000" pitchFamily="18" charset="-128"/>
                        <a:cs typeface="Courier New" panose="02070309020205020404" pitchFamily="49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66104752"/>
                  </a:ext>
                </a:extLst>
              </a:tr>
              <a:tr h="1351184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400"/>
                        </a:spcAft>
                      </a:pPr>
                      <a:endParaRPr lang="en-US" sz="1800">
                        <a:effectLst/>
                        <a:latin typeface="Courier New" panose="02070309020205020404" pitchFamily="49" charset="0"/>
                        <a:ea typeface="Yu Mincho" panose="02020400000000000000" pitchFamily="18" charset="-128"/>
                        <a:cs typeface="Courier New" panose="020703090202050204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400"/>
                        </a:spcAft>
                      </a:pPr>
                      <a:endParaRPr lang="en-US" sz="1800" dirty="0">
                        <a:effectLst/>
                        <a:latin typeface="Courier New" panose="02070309020205020404" pitchFamily="49" charset="0"/>
                        <a:ea typeface="Yu Mincho" panose="02020400000000000000" pitchFamily="18" charset="-128"/>
                        <a:cs typeface="Courier New" panose="020703090202050204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400"/>
                        </a:spcAft>
                      </a:pP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400"/>
                        </a:spcAft>
                      </a:pPr>
                      <a:endParaRPr lang="en-US" sz="1800">
                        <a:effectLst/>
                        <a:latin typeface="Courier New" panose="02070309020205020404" pitchFamily="49" charset="0"/>
                        <a:ea typeface="Yu Mincho" panose="02020400000000000000" pitchFamily="18" charset="-128"/>
                        <a:cs typeface="Courier New" panose="02070309020205020404" pitchFamily="49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799824704"/>
                  </a:ext>
                </a:extLst>
              </a:tr>
              <a:tr h="530738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400"/>
                        </a:spcAft>
                      </a:pPr>
                      <a:endParaRPr lang="en-US" sz="1800">
                        <a:effectLst/>
                        <a:latin typeface="Courier New" panose="02070309020205020404" pitchFamily="49" charset="0"/>
                        <a:ea typeface="Yu Mincho" panose="02020400000000000000" pitchFamily="18" charset="-128"/>
                        <a:cs typeface="Courier New" panose="020703090202050204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400"/>
                        </a:spcAft>
                      </a:pPr>
                      <a:endParaRPr lang="en-US" sz="1800">
                        <a:effectLst/>
                        <a:latin typeface="Courier New" panose="02070309020205020404" pitchFamily="49" charset="0"/>
                        <a:ea typeface="Yu Mincho" panose="02020400000000000000" pitchFamily="18" charset="-128"/>
                        <a:cs typeface="Courier New" panose="020703090202050204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400"/>
                        </a:spcAft>
                      </a:pP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400"/>
                        </a:spcAft>
                      </a:pPr>
                      <a:endParaRPr lang="en-US" sz="1800">
                        <a:effectLst/>
                        <a:latin typeface="Courier New" panose="02070309020205020404" pitchFamily="49" charset="0"/>
                        <a:ea typeface="Yu Mincho" panose="02020400000000000000" pitchFamily="18" charset="-128"/>
                        <a:cs typeface="Courier New" panose="02070309020205020404" pitchFamily="49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630580186"/>
                  </a:ext>
                </a:extLst>
              </a:tr>
              <a:tr h="749689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400"/>
                        </a:spcAft>
                      </a:pPr>
                      <a:endParaRPr lang="en-US" sz="1800" dirty="0">
                        <a:effectLst/>
                        <a:latin typeface="Courier New" panose="02070309020205020404" pitchFamily="49" charset="0"/>
                        <a:ea typeface="Yu Mincho" panose="02020400000000000000" pitchFamily="18" charset="-128"/>
                        <a:cs typeface="Courier New" panose="020703090202050204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400"/>
                        </a:spcAft>
                      </a:pPr>
                      <a:endParaRPr lang="en-US" sz="1800">
                        <a:effectLst/>
                        <a:latin typeface="Courier New" panose="02070309020205020404" pitchFamily="49" charset="0"/>
                        <a:ea typeface="Yu Mincho" panose="02020400000000000000" pitchFamily="18" charset="-128"/>
                        <a:cs typeface="Courier New" panose="020703090202050204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400"/>
                        </a:spcAft>
                      </a:pP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400"/>
                        </a:spcAft>
                      </a:pPr>
                      <a:endParaRPr lang="en-US" sz="1800" dirty="0">
                        <a:effectLst/>
                        <a:latin typeface="Courier New" panose="02070309020205020404" pitchFamily="49" charset="0"/>
                        <a:ea typeface="Yu Mincho" panose="02020400000000000000" pitchFamily="18" charset="-128"/>
                        <a:cs typeface="Courier New" panose="02070309020205020404" pitchFamily="49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8142568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324596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915E2A-EBA4-0EFF-184D-2659EE2633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8F56835-E256-007E-E9C4-D44F3387F3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2" y="457200"/>
            <a:ext cx="10769600" cy="584775"/>
          </a:xfrm>
        </p:spPr>
        <p:txBody>
          <a:bodyPr/>
          <a:lstStyle/>
          <a:p>
            <a:r>
              <a:rPr lang="en-US" dirty="0"/>
              <a:t>Writing a TOML File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F7EA501-7933-2831-6CD0-4CA0ABCCB2EB}"/>
              </a:ext>
            </a:extLst>
          </p:cNvPr>
          <p:cNvSpPr txBox="1"/>
          <p:nvPr/>
        </p:nvSpPr>
        <p:spPr>
          <a:xfrm>
            <a:off x="609601" y="1092462"/>
            <a:ext cx="910813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Courier New" panose="02070309020205020404" pitchFamily="49" charset="0"/>
              </a:rPr>
              <a:t>Syntax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err="1">
                <a:solidFill>
                  <a:srgbClr val="004B8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writetoml</a:t>
            </a:r>
            <a:r>
              <a:rPr lang="en-US" dirty="0">
                <a:solidFill>
                  <a:srgbClr val="004B8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(filename)</a:t>
            </a:r>
          </a:p>
          <a:p>
            <a:pPr lvl="0">
              <a:defRPr/>
            </a:pPr>
            <a:r>
              <a:rPr lang="en-US">
                <a:solidFill>
                  <a:srgbClr val="004B8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writetoml</a:t>
            </a:r>
            <a:r>
              <a:rPr kumimoji="0" lang="en-US" b="0" i="0" u="none" strike="noStrike" kern="1200" cap="none" spc="0" normalizeH="0" baseline="0" noProof="0">
                <a:ln>
                  <a:noFill/>
                </a:ln>
                <a:solidFill>
                  <a:srgbClr val="004B87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(___, 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004B87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Name = Value)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9F8DFF9-818F-A898-3DA4-8BE578D90324}"/>
              </a:ext>
            </a:extLst>
          </p:cNvPr>
          <p:cNvGraphicFramePr>
            <a:graphicFrameLocks noGrp="1"/>
          </p:cNvGraphicFramePr>
          <p:nvPr/>
        </p:nvGraphicFramePr>
        <p:xfrm>
          <a:off x="242692" y="2748524"/>
          <a:ext cx="11725275" cy="3693087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990725">
                  <a:extLst>
                    <a:ext uri="{9D8B030D-6E8A-4147-A177-3AD203B41FA5}">
                      <a16:colId xmlns:a16="http://schemas.microsoft.com/office/drawing/2014/main" val="964240977"/>
                    </a:ext>
                  </a:extLst>
                </a:gridCol>
                <a:gridCol w="1753194">
                  <a:extLst>
                    <a:ext uri="{9D8B030D-6E8A-4147-A177-3AD203B41FA5}">
                      <a16:colId xmlns:a16="http://schemas.microsoft.com/office/drawing/2014/main" val="2401887970"/>
                    </a:ext>
                  </a:extLst>
                </a:gridCol>
                <a:gridCol w="6764582">
                  <a:extLst>
                    <a:ext uri="{9D8B030D-6E8A-4147-A177-3AD203B41FA5}">
                      <a16:colId xmlns:a16="http://schemas.microsoft.com/office/drawing/2014/main" val="3443374254"/>
                    </a:ext>
                  </a:extLst>
                </a:gridCol>
                <a:gridCol w="1216774">
                  <a:extLst>
                    <a:ext uri="{9D8B030D-6E8A-4147-A177-3AD203B41FA5}">
                      <a16:colId xmlns:a16="http://schemas.microsoft.com/office/drawing/2014/main" val="4048346007"/>
                    </a:ext>
                  </a:extLst>
                </a:gridCol>
              </a:tblGrid>
              <a:tr h="530738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400"/>
                        </a:spcAft>
                      </a:pPr>
                      <a:r>
                        <a:rPr lang="en-US" sz="1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Name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400"/>
                        </a:spcAft>
                      </a:pPr>
                      <a:r>
                        <a:rPr lang="en-US" sz="1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Type / Values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400"/>
                        </a:spcAft>
                      </a:pPr>
                      <a:r>
                        <a:rPr lang="en-US" sz="1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Description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400"/>
                        </a:spcAft>
                      </a:pPr>
                      <a:r>
                        <a:rPr lang="en-US" sz="1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Default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625789594"/>
                  </a:ext>
                </a:extLst>
              </a:tr>
              <a:tr h="530738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400"/>
                        </a:spcAft>
                      </a:pPr>
                      <a:endParaRPr lang="en-US" sz="1800" dirty="0">
                        <a:effectLst/>
                        <a:latin typeface="Courier New" panose="02070309020205020404" pitchFamily="49" charset="0"/>
                        <a:ea typeface="Yu Mincho" panose="02020400000000000000" pitchFamily="18" charset="-128"/>
                        <a:cs typeface="Courier New" panose="020703090202050204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400"/>
                        </a:spcAft>
                      </a:pPr>
                      <a:endParaRPr lang="en-US" sz="1800">
                        <a:effectLst/>
                        <a:latin typeface="Courier New" panose="02070309020205020404" pitchFamily="49" charset="0"/>
                        <a:ea typeface="Yu Mincho" panose="02020400000000000000" pitchFamily="18" charset="-128"/>
                        <a:cs typeface="Courier New" panose="020703090202050204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400"/>
                        </a:spcAft>
                      </a:pP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400"/>
                        </a:spcAft>
                      </a:pPr>
                      <a:endParaRPr lang="en-US" sz="1800">
                        <a:effectLst/>
                        <a:latin typeface="Courier New" panose="02070309020205020404" pitchFamily="49" charset="0"/>
                        <a:ea typeface="Yu Mincho" panose="02020400000000000000" pitchFamily="18" charset="-128"/>
                        <a:cs typeface="Courier New" panose="02070309020205020404" pitchFamily="49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66104752"/>
                  </a:ext>
                </a:extLst>
              </a:tr>
              <a:tr h="1351184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400"/>
                        </a:spcAft>
                      </a:pPr>
                      <a:endParaRPr lang="en-US" sz="1800">
                        <a:effectLst/>
                        <a:latin typeface="Courier New" panose="02070309020205020404" pitchFamily="49" charset="0"/>
                        <a:ea typeface="Yu Mincho" panose="02020400000000000000" pitchFamily="18" charset="-128"/>
                        <a:cs typeface="Courier New" panose="020703090202050204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400"/>
                        </a:spcAft>
                      </a:pPr>
                      <a:endParaRPr lang="en-US" sz="1800" dirty="0">
                        <a:effectLst/>
                        <a:latin typeface="Courier New" panose="02070309020205020404" pitchFamily="49" charset="0"/>
                        <a:ea typeface="Yu Mincho" panose="02020400000000000000" pitchFamily="18" charset="-128"/>
                        <a:cs typeface="Courier New" panose="020703090202050204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400"/>
                        </a:spcAft>
                      </a:pP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400"/>
                        </a:spcAft>
                      </a:pPr>
                      <a:endParaRPr lang="en-US" sz="1800">
                        <a:effectLst/>
                        <a:latin typeface="Courier New" panose="02070309020205020404" pitchFamily="49" charset="0"/>
                        <a:ea typeface="Yu Mincho" panose="02020400000000000000" pitchFamily="18" charset="-128"/>
                        <a:cs typeface="Courier New" panose="02070309020205020404" pitchFamily="49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799824704"/>
                  </a:ext>
                </a:extLst>
              </a:tr>
              <a:tr h="530738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400"/>
                        </a:spcAft>
                      </a:pPr>
                      <a:endParaRPr lang="en-US" sz="1800">
                        <a:effectLst/>
                        <a:latin typeface="Courier New" panose="02070309020205020404" pitchFamily="49" charset="0"/>
                        <a:ea typeface="Yu Mincho" panose="02020400000000000000" pitchFamily="18" charset="-128"/>
                        <a:cs typeface="Courier New" panose="020703090202050204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400"/>
                        </a:spcAft>
                      </a:pPr>
                      <a:endParaRPr lang="en-US" sz="1800">
                        <a:effectLst/>
                        <a:latin typeface="Courier New" panose="02070309020205020404" pitchFamily="49" charset="0"/>
                        <a:ea typeface="Yu Mincho" panose="02020400000000000000" pitchFamily="18" charset="-128"/>
                        <a:cs typeface="Courier New" panose="020703090202050204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400"/>
                        </a:spcAft>
                      </a:pP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400"/>
                        </a:spcAft>
                      </a:pPr>
                      <a:endParaRPr lang="en-US" sz="1800">
                        <a:effectLst/>
                        <a:latin typeface="Courier New" panose="02070309020205020404" pitchFamily="49" charset="0"/>
                        <a:ea typeface="Yu Mincho" panose="02020400000000000000" pitchFamily="18" charset="-128"/>
                        <a:cs typeface="Courier New" panose="02070309020205020404" pitchFamily="49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630580186"/>
                  </a:ext>
                </a:extLst>
              </a:tr>
              <a:tr h="749689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400"/>
                        </a:spcAft>
                      </a:pPr>
                      <a:endParaRPr lang="en-US" sz="1800" dirty="0">
                        <a:effectLst/>
                        <a:latin typeface="Courier New" panose="02070309020205020404" pitchFamily="49" charset="0"/>
                        <a:ea typeface="Yu Mincho" panose="02020400000000000000" pitchFamily="18" charset="-128"/>
                        <a:cs typeface="Courier New" panose="020703090202050204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400"/>
                        </a:spcAft>
                      </a:pPr>
                      <a:endParaRPr lang="en-US" sz="1800">
                        <a:effectLst/>
                        <a:latin typeface="Courier New" panose="02070309020205020404" pitchFamily="49" charset="0"/>
                        <a:ea typeface="Yu Mincho" panose="02020400000000000000" pitchFamily="18" charset="-128"/>
                        <a:cs typeface="Courier New" panose="020703090202050204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400"/>
                        </a:spcAft>
                      </a:pP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400"/>
                        </a:spcAft>
                      </a:pPr>
                      <a:endParaRPr lang="en-US" sz="1800" dirty="0">
                        <a:effectLst/>
                        <a:latin typeface="Courier New" panose="02070309020205020404" pitchFamily="49" charset="0"/>
                        <a:ea typeface="Yu Mincho" panose="02020400000000000000" pitchFamily="18" charset="-128"/>
                        <a:cs typeface="Courier New" panose="02070309020205020404" pitchFamily="49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81425685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8BB80269-54C8-73AA-1026-162FCEE37099}"/>
              </a:ext>
            </a:extLst>
          </p:cNvPr>
          <p:cNvSpPr txBox="1"/>
          <p:nvPr/>
        </p:nvSpPr>
        <p:spPr>
          <a:xfrm>
            <a:off x="609601" y="2133600"/>
            <a:ext cx="910813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Courier New" panose="02070309020205020404" pitchFamily="49" charset="0"/>
              </a:rPr>
              <a:t>Named Arguments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srgbClr val="004B87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917988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613441D-1D01-5B95-25FE-7FD8CB3F6D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2" y="457200"/>
            <a:ext cx="10769600" cy="584775"/>
          </a:xfrm>
        </p:spPr>
        <p:txBody>
          <a:bodyPr/>
          <a:lstStyle/>
          <a:p>
            <a:r>
              <a:rPr lang="en-US" dirty="0"/>
              <a:t>Installing a package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9659A4B-8896-425B-A401-FE24F7967253}"/>
              </a:ext>
            </a:extLst>
          </p:cNvPr>
          <p:cNvSpPr txBox="1"/>
          <p:nvPr/>
        </p:nvSpPr>
        <p:spPr>
          <a:xfrm>
            <a:off x="609601" y="2019388"/>
            <a:ext cx="9108139" cy="26161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Courier New" panose="02070309020205020404" pitchFamily="49" charset="0"/>
              </a:rPr>
              <a:t>Syntax</a:t>
            </a: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srgbClr val="004B8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install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004B87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Package</a:t>
            </a:r>
            <a:r>
              <a:rPr lang="en-US" dirty="0">
                <a:solidFill>
                  <a:srgbClr val="004B8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("</a:t>
            </a:r>
            <a:r>
              <a:rPr lang="en-US" dirty="0" err="1">
                <a:solidFill>
                  <a:srgbClr val="004B8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packageSource</a:t>
            </a:r>
            <a:r>
              <a:rPr lang="en-US" dirty="0">
                <a:solidFill>
                  <a:srgbClr val="004B8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")</a:t>
            </a:r>
          </a:p>
          <a:p>
            <a:pPr marL="457200" marR="0" lvl="2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srgbClr val="004B8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install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004B87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Package(___, Name = Value)</a:t>
            </a:r>
          </a:p>
          <a:p>
            <a:pPr marL="457200" marR="0" lvl="2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>
              <a:solidFill>
                <a:srgbClr val="004B87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0" marR="0" lvl="2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cs typeface="Courier New" panose="02070309020205020404" pitchFamily="49" charset="0"/>
              </a:rPr>
              <a:t>packageSource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cs typeface="Courier New" panose="02070309020205020404" pitchFamily="49" charset="0"/>
              </a:rPr>
              <a:t>:</a:t>
            </a:r>
          </a:p>
          <a:p>
            <a:pPr marL="742950" marR="0" lvl="2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>
                <a:cs typeface="Courier New" panose="02070309020205020404" pitchFamily="49" charset="0"/>
              </a:rPr>
              <a:t>a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cs typeface="Courier New" panose="02070309020205020404" pitchFamily="49" charset="0"/>
              </a:rPr>
              <a:t> folder where package </a:t>
            </a:r>
            <a:r>
              <a:rPr lang="en-US" dirty="0">
                <a:cs typeface="Courier New" panose="02070309020205020404" pitchFamily="49" charset="0"/>
              </a:rPr>
              <a:t>is located</a:t>
            </a:r>
          </a:p>
          <a:p>
            <a:pPr marL="742950" marR="0" lvl="2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>
                <a:cs typeface="Courier New" panose="02070309020205020404" pitchFamily="49" charset="0"/>
              </a:rPr>
              <a:t>a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cs typeface="Courier New" panose="02070309020205020404" pitchFamily="49" charset="0"/>
              </a:rPr>
              <a:t> .</a:t>
            </a:r>
            <a:r>
              <a:rPr kumimoji="0" lang="en-US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cs typeface="Courier New" panose="02070309020205020404" pitchFamily="49" charset="0"/>
              </a:rPr>
              <a:t>mltbx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cs typeface="Courier New" panose="02070309020205020404" pitchFamily="49" charset="0"/>
              </a:rPr>
              <a:t> file containing package</a:t>
            </a:r>
          </a:p>
          <a:p>
            <a:pPr marL="742950" marR="0" lvl="2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>
                <a:cs typeface="Courier New" panose="02070309020205020404" pitchFamily="49" charset="0"/>
              </a:rPr>
              <a:t>a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cs typeface="Courier New" panose="02070309020205020404" pitchFamily="49" charset="0"/>
              </a:rPr>
              <a:t> link to GitHub repository </a:t>
            </a:r>
          </a:p>
          <a:p>
            <a:pPr marL="742950" marR="0" lvl="2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>
                <a:cs typeface="Courier New" panose="02070309020205020404" pitchFamily="49" charset="0"/>
              </a:rPr>
              <a:t>a package specifier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cs typeface="Courier New" panose="02070309020205020404" pitchFamily="49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1C122DE-F182-8858-34BD-68607DF56672}"/>
              </a:ext>
            </a:extLst>
          </p:cNvPr>
          <p:cNvSpPr txBox="1"/>
          <p:nvPr/>
        </p:nvSpPr>
        <p:spPr>
          <a:xfrm>
            <a:off x="609601" y="1047690"/>
            <a:ext cx="9108139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000" dirty="0">
                <a:solidFill>
                  <a:srgbClr val="D78824"/>
                </a:solidFill>
                <a:latin typeface="Arial"/>
              </a:rPr>
              <a:t>install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D78824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Package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Install package and its transitive dependencies to the current environment</a:t>
            </a:r>
          </a:p>
        </p:txBody>
      </p:sp>
    </p:spTree>
    <p:extLst>
      <p:ext uri="{BB962C8B-B14F-4D97-AF65-F5344CB8AC3E}">
        <p14:creationId xmlns:p14="http://schemas.microsoft.com/office/powerpoint/2010/main" val="26953254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3E4AB1-E06A-8CD7-0C57-B9691332FD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/>
              <a:t>PackageSpecifier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5038C4-EA58-8AED-709B-21F8133F65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2" y="1163593"/>
            <a:ext cx="10769600" cy="5064211"/>
          </a:xfrm>
        </p:spPr>
        <p:txBody>
          <a:bodyPr/>
          <a:lstStyle/>
          <a:p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Name – required</a:t>
            </a:r>
          </a:p>
          <a:p>
            <a:pPr lvl="1"/>
            <a:r>
              <a:rPr lang="en-US">
                <a:latin typeface="+mn-lt"/>
                <a:cs typeface="Courier New" panose="02070309020205020404" pitchFamily="49" charset="0"/>
              </a:rPr>
              <a:t>Name of the package</a:t>
            </a:r>
          </a:p>
          <a:p>
            <a:pPr lvl="1"/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E.g., Astronomy</a:t>
            </a:r>
          </a:p>
          <a:p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version-range – optional</a:t>
            </a:r>
          </a:p>
          <a:p>
            <a:pPr lvl="1"/>
            <a:r>
              <a:rPr lang="en-US"/>
              <a:t>Version or version range</a:t>
            </a:r>
          </a:p>
          <a:p>
            <a:pPr lvl="1"/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E.g., Astronomy@2.0, Astronomy@1.2.1-3.0.0</a:t>
            </a:r>
          </a:p>
          <a:p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id - optional</a:t>
            </a:r>
          </a:p>
          <a:p>
            <a:pPr lvl="1"/>
            <a:r>
              <a:rPr lang="en-US"/>
              <a:t>Unique identifier of a package</a:t>
            </a:r>
          </a:p>
          <a:p>
            <a:pPr lvl="1"/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E.g., Astronomy@2.0@dedfc237-ccc4-4a51-abe0-db767904f616</a:t>
            </a:r>
            <a:endParaRPr lang="en-US"/>
          </a:p>
          <a:p>
            <a:endParaRPr lang="en-US"/>
          </a:p>
          <a:p>
            <a:r>
              <a:rPr lang="en-US"/>
              <a:t>A string of format </a:t>
            </a: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&lt;name&gt;@&lt;version-range&gt;@&lt;id&gt;</a:t>
            </a:r>
          </a:p>
          <a:p>
            <a:pPr lvl="1"/>
            <a:r>
              <a:rPr lang="en-US">
                <a:latin typeface="+mn-lt"/>
                <a:cs typeface="Courier New" panose="02070309020205020404" pitchFamily="49" charset="0"/>
              </a:rPr>
              <a:t>Where version range and id are optional</a:t>
            </a:r>
          </a:p>
        </p:txBody>
      </p:sp>
    </p:spTree>
    <p:extLst>
      <p:ext uri="{BB962C8B-B14F-4D97-AF65-F5344CB8AC3E}">
        <p14:creationId xmlns:p14="http://schemas.microsoft.com/office/powerpoint/2010/main" val="37665678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7AF66CE3-5A2C-83EF-1706-7B1CFC56BA5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35349048"/>
              </p:ext>
            </p:extLst>
          </p:nvPr>
        </p:nvGraphicFramePr>
        <p:xfrm>
          <a:off x="342900" y="1480654"/>
          <a:ext cx="11725275" cy="4304279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990725">
                  <a:extLst>
                    <a:ext uri="{9D8B030D-6E8A-4147-A177-3AD203B41FA5}">
                      <a16:colId xmlns:a16="http://schemas.microsoft.com/office/drawing/2014/main" val="964240977"/>
                    </a:ext>
                  </a:extLst>
                </a:gridCol>
                <a:gridCol w="1753194">
                  <a:extLst>
                    <a:ext uri="{9D8B030D-6E8A-4147-A177-3AD203B41FA5}">
                      <a16:colId xmlns:a16="http://schemas.microsoft.com/office/drawing/2014/main" val="2401887970"/>
                    </a:ext>
                  </a:extLst>
                </a:gridCol>
                <a:gridCol w="6764582">
                  <a:extLst>
                    <a:ext uri="{9D8B030D-6E8A-4147-A177-3AD203B41FA5}">
                      <a16:colId xmlns:a16="http://schemas.microsoft.com/office/drawing/2014/main" val="3443374254"/>
                    </a:ext>
                  </a:extLst>
                </a:gridCol>
                <a:gridCol w="1216774">
                  <a:extLst>
                    <a:ext uri="{9D8B030D-6E8A-4147-A177-3AD203B41FA5}">
                      <a16:colId xmlns:a16="http://schemas.microsoft.com/office/drawing/2014/main" val="4048346007"/>
                    </a:ext>
                  </a:extLst>
                </a:gridCol>
              </a:tblGrid>
              <a:tr h="618573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400"/>
                        </a:spcAft>
                      </a:pPr>
                      <a:r>
                        <a:rPr lang="en-US" sz="1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Name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400"/>
                        </a:spcAft>
                      </a:pPr>
                      <a:r>
                        <a:rPr lang="en-US" sz="1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Type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400"/>
                        </a:spcAft>
                      </a:pPr>
                      <a:r>
                        <a:rPr lang="en-US" sz="1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Description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400"/>
                        </a:spcAft>
                      </a:pPr>
                      <a:r>
                        <a:rPr lang="en-US" sz="1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Default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625789594"/>
                  </a:ext>
                </a:extLst>
              </a:tr>
              <a:tr h="618573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400"/>
                        </a:spcAft>
                      </a:pPr>
                      <a:r>
                        <a:rPr lang="en-US" sz="180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Prompt</a:t>
                      </a:r>
                      <a:endParaRPr lang="en-US" sz="1800">
                        <a:effectLst/>
                        <a:latin typeface="Courier New" panose="02070309020205020404" pitchFamily="49" charset="0"/>
                        <a:ea typeface="Yu Mincho" panose="02020400000000000000" pitchFamily="18" charset="-128"/>
                        <a:cs typeface="Courier New" panose="020703090202050204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400"/>
                        </a:spcAft>
                      </a:pPr>
                      <a:r>
                        <a:rPr lang="en-US" sz="180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logical</a:t>
                      </a:r>
                      <a:endParaRPr lang="en-US" sz="1800">
                        <a:effectLst/>
                        <a:latin typeface="Courier New" panose="02070309020205020404" pitchFamily="49" charset="0"/>
                        <a:ea typeface="Yu Mincho" panose="02020400000000000000" pitchFamily="18" charset="-128"/>
                        <a:cs typeface="Courier New" panose="020703090202050204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400"/>
                        </a:spcAft>
                      </a:pPr>
                      <a:r>
                        <a:rPr lang="en-US" sz="1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Should prompt for confirmation?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400"/>
                        </a:spcAft>
                      </a:pPr>
                      <a:r>
                        <a:rPr lang="en-US" sz="180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true</a:t>
                      </a:r>
                      <a:endParaRPr lang="en-US" sz="1800">
                        <a:effectLst/>
                        <a:latin typeface="Courier New" panose="02070309020205020404" pitchFamily="49" charset="0"/>
                        <a:ea typeface="Yu Mincho" panose="02020400000000000000" pitchFamily="18" charset="-128"/>
                        <a:cs typeface="Courier New" panose="02070309020205020404" pitchFamily="49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66104752"/>
                  </a:ext>
                </a:extLst>
              </a:tr>
              <a:tr h="1324318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400"/>
                        </a:spcAft>
                      </a:pPr>
                      <a:r>
                        <a:rPr lang="en-US" sz="180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Verbosity</a:t>
                      </a:r>
                      <a:endParaRPr lang="en-US" sz="1800">
                        <a:effectLst/>
                        <a:latin typeface="Courier New" panose="02070309020205020404" pitchFamily="49" charset="0"/>
                        <a:ea typeface="Yu Mincho" panose="02020400000000000000" pitchFamily="18" charset="-128"/>
                        <a:cs typeface="Courier New" panose="020703090202050204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400"/>
                        </a:spcAft>
                      </a:pPr>
                      <a:r>
                        <a:rPr lang="en-US" sz="180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enum: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400"/>
                        </a:spcAft>
                      </a:pPr>
                      <a:r>
                        <a:rPr lang="en-US" sz="180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Quiet |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400"/>
                        </a:spcAft>
                      </a:pPr>
                      <a:r>
                        <a:rPr lang="en-US" sz="180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Normal |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400"/>
                        </a:spcAft>
                      </a:pPr>
                      <a:r>
                        <a:rPr lang="en-US" sz="180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Detailed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400"/>
                        </a:spcAft>
                      </a:pPr>
                      <a:r>
                        <a:rPr lang="en-US" sz="180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endParaRPr lang="en-US" sz="1800">
                        <a:effectLst/>
                        <a:latin typeface="Courier New" panose="02070309020205020404" pitchFamily="49" charset="0"/>
                        <a:ea typeface="Yu Mincho" panose="02020400000000000000" pitchFamily="18" charset="-128"/>
                        <a:cs typeface="Courier New" panose="020703090202050204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400"/>
                        </a:spcAft>
                      </a:pPr>
                      <a:r>
                        <a:rPr lang="en-US" sz="1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Controls the amount of informational message printed during installation process.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400"/>
                        </a:spcAft>
                      </a:pPr>
                      <a:r>
                        <a:rPr lang="en-US" sz="1800" kern="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Quiet</a:t>
                      </a:r>
                      <a:r>
                        <a:rPr lang="en-US" sz="1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:    Do not print any message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400"/>
                        </a:spcAft>
                      </a:pPr>
                      <a:r>
                        <a:rPr lang="en-US" sz="1800" kern="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Normal</a:t>
                      </a:r>
                      <a:r>
                        <a:rPr lang="en-US" sz="1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:   Print informational message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400"/>
                        </a:spcAft>
                      </a:pPr>
                      <a:r>
                        <a:rPr lang="en-US" sz="1800" kern="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Detailed</a:t>
                      </a:r>
                      <a:r>
                        <a:rPr lang="en-US" sz="1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: Print extra informational message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400"/>
                        </a:spcAft>
                      </a:pPr>
                      <a:r>
                        <a:rPr lang="en-US" sz="180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Normal</a:t>
                      </a:r>
                      <a:endParaRPr lang="en-US" sz="1800">
                        <a:effectLst/>
                        <a:latin typeface="Courier New" panose="02070309020205020404" pitchFamily="49" charset="0"/>
                        <a:ea typeface="Yu Mincho" panose="02020400000000000000" pitchFamily="18" charset="-128"/>
                        <a:cs typeface="Courier New" panose="02070309020205020404" pitchFamily="49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799824704"/>
                  </a:ext>
                </a:extLst>
              </a:tr>
              <a:tr h="618573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400"/>
                        </a:spcAft>
                      </a:pPr>
                      <a:r>
                        <a:rPr lang="en-US" sz="180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Install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400"/>
                        </a:spcAft>
                      </a:pPr>
                      <a:r>
                        <a:rPr lang="en-US" sz="180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Dependencies</a:t>
                      </a:r>
                      <a:endParaRPr lang="en-US" sz="1800">
                        <a:effectLst/>
                        <a:latin typeface="Courier New" panose="02070309020205020404" pitchFamily="49" charset="0"/>
                        <a:ea typeface="Yu Mincho" panose="02020400000000000000" pitchFamily="18" charset="-128"/>
                        <a:cs typeface="Courier New" panose="020703090202050204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400"/>
                        </a:spcAft>
                      </a:pPr>
                      <a:r>
                        <a:rPr lang="en-US" sz="180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logical</a:t>
                      </a:r>
                      <a:endParaRPr lang="en-US" sz="1800">
                        <a:effectLst/>
                        <a:latin typeface="Courier New" panose="02070309020205020404" pitchFamily="49" charset="0"/>
                        <a:ea typeface="Yu Mincho" panose="02020400000000000000" pitchFamily="18" charset="-128"/>
                        <a:cs typeface="Courier New" panose="020703090202050204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400"/>
                        </a:spcAft>
                      </a:pPr>
                      <a:r>
                        <a:rPr lang="en-US" sz="1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Install transitive dependencies of the package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400"/>
                        </a:spcAft>
                      </a:pPr>
                      <a:r>
                        <a:rPr lang="en-US" sz="180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true</a:t>
                      </a:r>
                      <a:endParaRPr lang="en-US" sz="1800">
                        <a:effectLst/>
                        <a:latin typeface="Courier New" panose="02070309020205020404" pitchFamily="49" charset="0"/>
                        <a:ea typeface="Yu Mincho" panose="02020400000000000000" pitchFamily="18" charset="-128"/>
                        <a:cs typeface="Courier New" panose="02070309020205020404" pitchFamily="49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630580186"/>
                  </a:ext>
                </a:extLst>
              </a:tr>
              <a:tr h="618573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400"/>
                        </a:spcAft>
                      </a:pPr>
                      <a:r>
                        <a:rPr lang="en-US" sz="1800" err="1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IgnoreMissing</a:t>
                      </a:r>
                      <a:endParaRPr lang="en-US" sz="1800"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400"/>
                        </a:spcAft>
                      </a:pPr>
                      <a:r>
                        <a:rPr lang="en-US" sz="180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Dependencies  </a:t>
                      </a:r>
                      <a:endParaRPr lang="en-US" sz="1800">
                        <a:effectLst/>
                        <a:latin typeface="Courier New" panose="02070309020205020404" pitchFamily="49" charset="0"/>
                        <a:ea typeface="Yu Mincho" panose="02020400000000000000" pitchFamily="18" charset="-128"/>
                        <a:cs typeface="Courier New" panose="020703090202050204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400"/>
                        </a:spcAft>
                      </a:pPr>
                      <a:r>
                        <a:rPr lang="en-US" sz="180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logical</a:t>
                      </a:r>
                      <a:endParaRPr lang="en-US" sz="1800">
                        <a:effectLst/>
                        <a:latin typeface="Courier New" panose="02070309020205020404" pitchFamily="49" charset="0"/>
                        <a:ea typeface="Yu Mincho" panose="02020400000000000000" pitchFamily="18" charset="-128"/>
                        <a:cs typeface="Courier New" panose="020703090202050204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400"/>
                        </a:spcAft>
                      </a:pPr>
                      <a:r>
                        <a:rPr lang="en-US" sz="1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Does not error and continues with installation if any dependency is not found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400"/>
                        </a:spcAft>
                      </a:pPr>
                      <a:r>
                        <a:rPr lang="en-US" sz="1800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false</a:t>
                      </a:r>
                      <a:endParaRPr lang="en-US" sz="1800" dirty="0">
                        <a:effectLst/>
                        <a:latin typeface="Courier New" panose="02070309020205020404" pitchFamily="49" charset="0"/>
                        <a:ea typeface="Yu Mincho" panose="02020400000000000000" pitchFamily="18" charset="-128"/>
                        <a:cs typeface="Courier New" panose="02070309020205020404" pitchFamily="49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814256859"/>
                  </a:ext>
                </a:extLst>
              </a:tr>
            </a:tbl>
          </a:graphicData>
        </a:graphic>
      </p:graphicFrame>
      <p:sp>
        <p:nvSpPr>
          <p:cNvPr id="3" name="Title 2">
            <a:extLst>
              <a:ext uri="{FF2B5EF4-FFF2-40B4-BE49-F238E27FC236}">
                <a16:creationId xmlns:a16="http://schemas.microsoft.com/office/drawing/2014/main" id="{F613441D-1D01-5B95-25FE-7FD8CB3F6D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>
                <a:latin typeface="Courier New" panose="02070309020205020404" pitchFamily="49" charset="0"/>
              </a:rPr>
              <a:t>installPackage</a:t>
            </a:r>
            <a:r>
              <a:rPr lang="en-US"/>
              <a:t> Name-Value Options</a:t>
            </a:r>
          </a:p>
        </p:txBody>
      </p:sp>
      <p:sp>
        <p:nvSpPr>
          <p:cNvPr id="2" name="Flowchart: Process 1">
            <a:extLst>
              <a:ext uri="{FF2B5EF4-FFF2-40B4-BE49-F238E27FC236}">
                <a16:creationId xmlns:a16="http://schemas.microsoft.com/office/drawing/2014/main" id="{89DF2A96-1802-BC9E-AAD3-2D87804D87D7}"/>
              </a:ext>
            </a:extLst>
          </p:cNvPr>
          <p:cNvSpPr/>
          <p:nvPr/>
        </p:nvSpPr>
        <p:spPr>
          <a:xfrm>
            <a:off x="364166" y="2083024"/>
            <a:ext cx="11686032" cy="640080"/>
          </a:xfrm>
          <a:prstGeom prst="flowChartProcess">
            <a:avLst/>
          </a:prstGeom>
          <a:ln w="3175"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b="1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Flowchart: Process 3">
            <a:extLst>
              <a:ext uri="{FF2B5EF4-FFF2-40B4-BE49-F238E27FC236}">
                <a16:creationId xmlns:a16="http://schemas.microsoft.com/office/drawing/2014/main" id="{0B06AD31-847B-5E65-3264-FDD556224CC3}"/>
              </a:ext>
            </a:extLst>
          </p:cNvPr>
          <p:cNvSpPr/>
          <p:nvPr/>
        </p:nvSpPr>
        <p:spPr>
          <a:xfrm>
            <a:off x="364166" y="2734692"/>
            <a:ext cx="11686032" cy="1571493"/>
          </a:xfrm>
          <a:prstGeom prst="flowChartProcess">
            <a:avLst/>
          </a:prstGeom>
          <a:ln w="3175"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b="1"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Flowchart: Process 4">
            <a:extLst>
              <a:ext uri="{FF2B5EF4-FFF2-40B4-BE49-F238E27FC236}">
                <a16:creationId xmlns:a16="http://schemas.microsoft.com/office/drawing/2014/main" id="{7463B3D6-F0B6-4A03-E623-97D0DA2C031D}"/>
              </a:ext>
            </a:extLst>
          </p:cNvPr>
          <p:cNvSpPr/>
          <p:nvPr/>
        </p:nvSpPr>
        <p:spPr>
          <a:xfrm>
            <a:off x="364166" y="4306186"/>
            <a:ext cx="11686032" cy="640080"/>
          </a:xfrm>
          <a:prstGeom prst="flowChartProcess">
            <a:avLst/>
          </a:prstGeom>
          <a:ln w="3175"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b="1"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Flowchart: Process 5">
            <a:extLst>
              <a:ext uri="{FF2B5EF4-FFF2-40B4-BE49-F238E27FC236}">
                <a16:creationId xmlns:a16="http://schemas.microsoft.com/office/drawing/2014/main" id="{356930F3-A4A1-2CC8-AA23-605C1C82DBE8}"/>
              </a:ext>
            </a:extLst>
          </p:cNvPr>
          <p:cNvSpPr/>
          <p:nvPr/>
        </p:nvSpPr>
        <p:spPr>
          <a:xfrm>
            <a:off x="364166" y="4946265"/>
            <a:ext cx="11686032" cy="838667"/>
          </a:xfrm>
          <a:prstGeom prst="flowChartProcess">
            <a:avLst/>
          </a:prstGeom>
          <a:ln w="3175"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b="1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966914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5" grpId="0" animBg="1"/>
      <p:bldP spid="6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613441D-1D01-5B95-25FE-7FD8CB3F6D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Removing a package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7FAA78A-9CCA-87F5-0EB6-A58F88CA6CD3}"/>
              </a:ext>
            </a:extLst>
          </p:cNvPr>
          <p:cNvSpPr txBox="1"/>
          <p:nvPr/>
        </p:nvSpPr>
        <p:spPr>
          <a:xfrm>
            <a:off x="609600" y="2836961"/>
            <a:ext cx="910813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Courier New" panose="02070309020205020404" pitchFamily="49" charset="0"/>
              </a:rPr>
              <a:t>Syntax</a:t>
            </a: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1200" cap="none" spc="0" normalizeH="0" baseline="0" noProof="0" err="1">
                <a:ln>
                  <a:noFill/>
                </a:ln>
                <a:solidFill>
                  <a:srgbClr val="004B87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removePackage</a:t>
            </a:r>
            <a:r>
              <a:rPr kumimoji="0" lang="en-US" b="0" i="0" u="none" strike="noStrike" kern="1200" cap="none" spc="0" normalizeH="0" baseline="0" noProof="0">
                <a:ln>
                  <a:noFill/>
                </a:ln>
                <a:solidFill>
                  <a:srgbClr val="004B87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(</a:t>
            </a:r>
            <a:r>
              <a:rPr lang="en-US">
                <a:solidFill>
                  <a:srgbClr val="004B8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kumimoji="0" lang="en-US" b="0" i="0" u="none" strike="noStrike" kern="1200" cap="none" spc="0" normalizeH="0" baseline="0" noProof="0" err="1">
                <a:ln>
                  <a:noFill/>
                </a:ln>
                <a:solidFill>
                  <a:srgbClr val="004B87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packageSpecifier</a:t>
            </a:r>
            <a:r>
              <a:rPr lang="en-US">
                <a:solidFill>
                  <a:srgbClr val="004B8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kumimoji="0" lang="en-US" b="0" i="0" u="none" strike="noStrike" kern="1200" cap="none" spc="0" normalizeH="0" baseline="0" noProof="0">
                <a:ln>
                  <a:noFill/>
                </a:ln>
                <a:solidFill>
                  <a:srgbClr val="004B87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)</a:t>
            </a: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1200" cap="none" spc="0" normalizeH="0" baseline="0" noProof="0" err="1">
                <a:ln>
                  <a:noFill/>
                </a:ln>
                <a:solidFill>
                  <a:srgbClr val="004B87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removePackage</a:t>
            </a:r>
            <a:r>
              <a:rPr kumimoji="0" lang="en-US" b="0" i="0" u="none" strike="noStrike" kern="1200" cap="none" spc="0" normalizeH="0" baseline="0" noProof="0">
                <a:ln>
                  <a:noFill/>
                </a:ln>
                <a:solidFill>
                  <a:srgbClr val="004B87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(___, Name = Value)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0E76E2F-8841-4EE4-BD73-6D4A019F7037}"/>
              </a:ext>
            </a:extLst>
          </p:cNvPr>
          <p:cNvSpPr txBox="1"/>
          <p:nvPr/>
        </p:nvSpPr>
        <p:spPr>
          <a:xfrm>
            <a:off x="609601" y="1447800"/>
            <a:ext cx="910813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err="1">
                <a:ln>
                  <a:noFill/>
                </a:ln>
                <a:solidFill>
                  <a:srgbClr val="D78824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removePackage</a:t>
            </a: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D78824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>
              <a:defRPr/>
            </a:pPr>
            <a:r>
              <a:rPr lang="en-US">
                <a:solidFill>
                  <a:srgbClr val="FFFFFF">
                    <a:lumMod val="50000"/>
                  </a:srgbClr>
                </a:solidFill>
              </a:rPr>
              <a:t>Remove package and its unused dependencies from the current environment without deleting package files and folders</a:t>
            </a:r>
          </a:p>
        </p:txBody>
      </p:sp>
    </p:spTree>
    <p:extLst>
      <p:ext uri="{BB962C8B-B14F-4D97-AF65-F5344CB8AC3E}">
        <p14:creationId xmlns:p14="http://schemas.microsoft.com/office/powerpoint/2010/main" val="20867031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82E7401-FCE2-CCE0-1372-D4AE16842F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25352535"/>
              </p:ext>
            </p:extLst>
          </p:nvPr>
        </p:nvGraphicFramePr>
        <p:xfrm>
          <a:off x="439271" y="1140759"/>
          <a:ext cx="10769599" cy="5260041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649857">
                  <a:extLst>
                    <a:ext uri="{9D8B030D-6E8A-4147-A177-3AD203B41FA5}">
                      <a16:colId xmlns:a16="http://schemas.microsoft.com/office/drawing/2014/main" val="964240977"/>
                    </a:ext>
                  </a:extLst>
                </a:gridCol>
                <a:gridCol w="1783527">
                  <a:extLst>
                    <a:ext uri="{9D8B030D-6E8A-4147-A177-3AD203B41FA5}">
                      <a16:colId xmlns:a16="http://schemas.microsoft.com/office/drawing/2014/main" val="2401887970"/>
                    </a:ext>
                  </a:extLst>
                </a:gridCol>
                <a:gridCol w="6217794">
                  <a:extLst>
                    <a:ext uri="{9D8B030D-6E8A-4147-A177-3AD203B41FA5}">
                      <a16:colId xmlns:a16="http://schemas.microsoft.com/office/drawing/2014/main" val="3443374254"/>
                    </a:ext>
                  </a:extLst>
                </a:gridCol>
                <a:gridCol w="1118421">
                  <a:extLst>
                    <a:ext uri="{9D8B030D-6E8A-4147-A177-3AD203B41FA5}">
                      <a16:colId xmlns:a16="http://schemas.microsoft.com/office/drawing/2014/main" val="4048346007"/>
                    </a:ext>
                  </a:extLst>
                </a:gridCol>
              </a:tblGrid>
              <a:tr h="578473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400"/>
                        </a:spcAft>
                      </a:pPr>
                      <a:r>
                        <a:rPr lang="en-U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Name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400"/>
                        </a:spcAft>
                      </a:pPr>
                      <a:r>
                        <a:rPr lang="en-U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Type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400"/>
                        </a:spcAft>
                      </a:pPr>
                      <a:r>
                        <a:rPr lang="en-U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Description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400"/>
                        </a:spcAft>
                      </a:pPr>
                      <a:r>
                        <a:rPr lang="en-U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Default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625789594"/>
                  </a:ext>
                </a:extLst>
              </a:tr>
              <a:tr h="578473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400"/>
                        </a:spcAft>
                      </a:pPr>
                      <a:r>
                        <a:rPr lang="en-US" sz="160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Prompt</a:t>
                      </a:r>
                      <a:endParaRPr lang="en-US" sz="1600">
                        <a:effectLst/>
                        <a:latin typeface="Courier New" panose="02070309020205020404" pitchFamily="49" charset="0"/>
                        <a:ea typeface="Yu Mincho" panose="02020400000000000000" pitchFamily="18" charset="-128"/>
                        <a:cs typeface="Courier New" panose="020703090202050204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400"/>
                        </a:spcAft>
                      </a:pPr>
                      <a:r>
                        <a:rPr lang="en-US" sz="160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logical</a:t>
                      </a:r>
                      <a:endParaRPr lang="en-US" sz="1600">
                        <a:effectLst/>
                        <a:latin typeface="Courier New" panose="02070309020205020404" pitchFamily="49" charset="0"/>
                        <a:ea typeface="Yu Mincho" panose="02020400000000000000" pitchFamily="18" charset="-128"/>
                        <a:cs typeface="Courier New" panose="020703090202050204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400"/>
                        </a:spcAft>
                      </a:pPr>
                      <a:r>
                        <a:rPr lang="en-U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Should prompt for confirmation?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400"/>
                        </a:spcAft>
                      </a:pPr>
                      <a:r>
                        <a:rPr lang="en-US" sz="160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true</a:t>
                      </a:r>
                      <a:endParaRPr lang="en-US" sz="1600">
                        <a:effectLst/>
                        <a:latin typeface="Courier New" panose="02070309020205020404" pitchFamily="49" charset="0"/>
                        <a:ea typeface="Yu Mincho" panose="02020400000000000000" pitchFamily="18" charset="-128"/>
                        <a:cs typeface="Courier New" panose="02070309020205020404" pitchFamily="49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66104752"/>
                  </a:ext>
                </a:extLst>
              </a:tr>
              <a:tr h="1935003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400"/>
                        </a:spcAft>
                      </a:pPr>
                      <a:r>
                        <a:rPr lang="en-US" sz="160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Verbosity</a:t>
                      </a:r>
                      <a:endParaRPr lang="en-US" sz="1600">
                        <a:effectLst/>
                        <a:latin typeface="Courier New" panose="02070309020205020404" pitchFamily="49" charset="0"/>
                        <a:ea typeface="Yu Mincho" panose="02020400000000000000" pitchFamily="18" charset="-128"/>
                        <a:cs typeface="Courier New" panose="020703090202050204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400"/>
                        </a:spcAft>
                      </a:pPr>
                      <a:r>
                        <a:rPr lang="en-US" sz="160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Enum: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400"/>
                        </a:spcAft>
                      </a:pPr>
                      <a:r>
                        <a:rPr lang="en-US" sz="160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Quiet |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400"/>
                        </a:spcAft>
                      </a:pPr>
                      <a:r>
                        <a:rPr lang="en-US" sz="160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Normal |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400"/>
                        </a:spcAft>
                      </a:pPr>
                      <a:r>
                        <a:rPr lang="en-US" sz="160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Detailed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400"/>
                        </a:spcAft>
                      </a:pPr>
                      <a:r>
                        <a:rPr lang="en-US" sz="160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endParaRPr lang="en-US" sz="1600">
                        <a:effectLst/>
                        <a:latin typeface="Courier New" panose="02070309020205020404" pitchFamily="49" charset="0"/>
                        <a:ea typeface="Yu Mincho" panose="02020400000000000000" pitchFamily="18" charset="-128"/>
                        <a:cs typeface="Courier New" panose="020703090202050204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400"/>
                        </a:spcAft>
                      </a:pPr>
                      <a:r>
                        <a:rPr lang="en-U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Controls the amount of informational message printed during installation process.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400"/>
                        </a:spcAft>
                      </a:pPr>
                      <a:r>
                        <a:rPr lang="en-US" sz="1600" kern="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Quiet</a:t>
                      </a:r>
                      <a:r>
                        <a:rPr lang="en-U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:    Do not print any message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400"/>
                        </a:spcAft>
                      </a:pPr>
                      <a:r>
                        <a:rPr lang="en-US" sz="1600" kern="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Normal</a:t>
                      </a:r>
                      <a:r>
                        <a:rPr lang="en-U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:   Print informational message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400"/>
                        </a:spcAft>
                      </a:pPr>
                      <a:r>
                        <a:rPr lang="en-US" sz="1600" kern="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Detailed</a:t>
                      </a:r>
                      <a:r>
                        <a:rPr lang="en-U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: Print extra informational message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400"/>
                        </a:spcAft>
                      </a:pPr>
                      <a:r>
                        <a:rPr lang="en-US" sz="160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Normal</a:t>
                      </a:r>
                      <a:endParaRPr lang="en-US" sz="1600">
                        <a:effectLst/>
                        <a:latin typeface="Courier New" panose="02070309020205020404" pitchFamily="49" charset="0"/>
                        <a:ea typeface="Yu Mincho" panose="02020400000000000000" pitchFamily="18" charset="-128"/>
                        <a:cs typeface="Courier New" panose="02070309020205020404" pitchFamily="49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799824704"/>
                  </a:ext>
                </a:extLst>
              </a:tr>
              <a:tr h="929626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400"/>
                        </a:spcAft>
                      </a:pPr>
                      <a:r>
                        <a:rPr lang="en-US" sz="1600" err="1">
                          <a:effectLst/>
                          <a:latin typeface="Courier New" panose="02070309020205020404" pitchFamily="49" charset="0"/>
                          <a:ea typeface="Yu Mincho" panose="02020400000000000000" pitchFamily="18" charset="-128"/>
                          <a:cs typeface="Courier New" panose="02070309020205020404" pitchFamily="49" charset="0"/>
                        </a:rPr>
                        <a:t>RemoveUnused</a:t>
                      </a:r>
                      <a:endParaRPr lang="en-US" sz="1600">
                        <a:effectLst/>
                        <a:latin typeface="Courier New" panose="02070309020205020404" pitchFamily="49" charset="0"/>
                        <a:ea typeface="Yu Mincho" panose="02020400000000000000" pitchFamily="18" charset="-128"/>
                        <a:cs typeface="Courier New" panose="02070309020205020404" pitchFamily="49" charset="0"/>
                      </a:endParaRP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400"/>
                        </a:spcAft>
                      </a:pPr>
                      <a:r>
                        <a:rPr lang="en-US" sz="1600">
                          <a:effectLst/>
                          <a:latin typeface="Courier New" panose="02070309020205020404" pitchFamily="49" charset="0"/>
                          <a:ea typeface="Yu Mincho" panose="02020400000000000000" pitchFamily="18" charset="-128"/>
                          <a:cs typeface="Courier New" panose="02070309020205020404" pitchFamily="49" charset="0"/>
                        </a:rPr>
                        <a:t>Dependencies 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400"/>
                        </a:spcAft>
                      </a:pPr>
                      <a:r>
                        <a:rPr lang="en-US" sz="1600">
                          <a:effectLst/>
                          <a:latin typeface="Courier New" panose="02070309020205020404" pitchFamily="49" charset="0"/>
                          <a:ea typeface="Yu Mincho" panose="02020400000000000000" pitchFamily="18" charset="-128"/>
                          <a:cs typeface="Courier New" panose="02070309020205020404" pitchFamily="49" charset="0"/>
                        </a:rPr>
                        <a:t>logical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400"/>
                        </a:spcAft>
                      </a:pPr>
                      <a:r>
                        <a:rPr lang="en-U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Automatically removes unused dependencies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400"/>
                        </a:spcAft>
                      </a:pPr>
                      <a:r>
                        <a:rPr lang="en-US" sz="1600">
                          <a:effectLst/>
                          <a:latin typeface="Courier New" panose="02070309020205020404" pitchFamily="49" charset="0"/>
                          <a:ea typeface="Yu Mincho" panose="02020400000000000000" pitchFamily="18" charset="-128"/>
                          <a:cs typeface="Courier New" panose="02070309020205020404" pitchFamily="49" charset="0"/>
                        </a:rPr>
                        <a:t>true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158295541"/>
                  </a:ext>
                </a:extLst>
              </a:tr>
              <a:tr h="1238466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400"/>
                        </a:spcAft>
                      </a:pPr>
                      <a:r>
                        <a:rPr lang="en-US" sz="1600">
                          <a:effectLst/>
                          <a:latin typeface="Courier New" panose="02070309020205020404" pitchFamily="49" charset="0"/>
                          <a:ea typeface="Yu Mincho" panose="02020400000000000000" pitchFamily="18" charset="-128"/>
                          <a:cs typeface="Courier New" panose="02070309020205020404" pitchFamily="49" charset="0"/>
                        </a:rPr>
                        <a:t>Force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400"/>
                        </a:spcAft>
                      </a:pPr>
                      <a:r>
                        <a:rPr lang="en-US" sz="1600">
                          <a:effectLst/>
                          <a:latin typeface="Courier New" panose="02070309020205020404" pitchFamily="49" charset="0"/>
                          <a:ea typeface="Yu Mincho" panose="02020400000000000000" pitchFamily="18" charset="-128"/>
                          <a:cs typeface="Courier New" panose="02070309020205020404" pitchFamily="49" charset="0"/>
                        </a:rPr>
                        <a:t>logical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400"/>
                        </a:spcAft>
                      </a:pPr>
                      <a:r>
                        <a:rPr lang="en-U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Removes the specified package even if another package depends on it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400"/>
                        </a:spcAft>
                      </a:pPr>
                      <a:r>
                        <a:rPr lang="en-US" sz="1600">
                          <a:effectLst/>
                          <a:latin typeface="Courier New" panose="02070309020205020404" pitchFamily="49" charset="0"/>
                          <a:ea typeface="Yu Mincho" panose="02020400000000000000" pitchFamily="18" charset="-128"/>
                          <a:cs typeface="Courier New" panose="02070309020205020404" pitchFamily="49" charset="0"/>
                        </a:rPr>
                        <a:t>false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850147007"/>
                  </a:ext>
                </a:extLst>
              </a:tr>
            </a:tbl>
          </a:graphicData>
        </a:graphic>
      </p:graphicFrame>
      <p:sp>
        <p:nvSpPr>
          <p:cNvPr id="3" name="Title 2">
            <a:extLst>
              <a:ext uri="{FF2B5EF4-FFF2-40B4-BE49-F238E27FC236}">
                <a16:creationId xmlns:a16="http://schemas.microsoft.com/office/drawing/2014/main" id="{F613441D-1D01-5B95-25FE-7FD8CB3F6D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>
                <a:latin typeface="Courier New" panose="02070309020205020404" pitchFamily="49" charset="0"/>
              </a:rPr>
              <a:t>removePackage</a:t>
            </a:r>
            <a:r>
              <a:rPr lang="en-US"/>
              <a:t> Name-Value Options</a:t>
            </a:r>
          </a:p>
        </p:txBody>
      </p:sp>
      <p:sp>
        <p:nvSpPr>
          <p:cNvPr id="2" name="Flowchart: Process 1">
            <a:extLst>
              <a:ext uri="{FF2B5EF4-FFF2-40B4-BE49-F238E27FC236}">
                <a16:creationId xmlns:a16="http://schemas.microsoft.com/office/drawing/2014/main" id="{8F195C02-D70B-5ABC-BC11-CC6902249CA2}"/>
              </a:ext>
            </a:extLst>
          </p:cNvPr>
          <p:cNvSpPr/>
          <p:nvPr/>
        </p:nvSpPr>
        <p:spPr>
          <a:xfrm>
            <a:off x="439271" y="1710885"/>
            <a:ext cx="10769599" cy="552255"/>
          </a:xfrm>
          <a:prstGeom prst="flowChartProcess">
            <a:avLst/>
          </a:prstGeom>
          <a:ln w="3175"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b="1"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Flowchart: Process 4">
            <a:extLst>
              <a:ext uri="{FF2B5EF4-FFF2-40B4-BE49-F238E27FC236}">
                <a16:creationId xmlns:a16="http://schemas.microsoft.com/office/drawing/2014/main" id="{80835C7E-720F-3A36-96E9-B3A1CC50412C}"/>
              </a:ext>
            </a:extLst>
          </p:cNvPr>
          <p:cNvSpPr/>
          <p:nvPr/>
        </p:nvSpPr>
        <p:spPr>
          <a:xfrm>
            <a:off x="439271" y="2263140"/>
            <a:ext cx="10769599" cy="1963172"/>
          </a:xfrm>
          <a:prstGeom prst="flowChartProcess">
            <a:avLst/>
          </a:prstGeom>
          <a:ln w="3175"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b="1">
              <a:latin typeface="Arial" pitchFamily="34" charset="0"/>
              <a:cs typeface="Arial" pitchFamily="34" charset="0"/>
            </a:endParaRPr>
          </a:p>
        </p:txBody>
      </p:sp>
      <p:sp>
        <p:nvSpPr>
          <p:cNvPr id="7" name="Flowchart: Process 6">
            <a:extLst>
              <a:ext uri="{FF2B5EF4-FFF2-40B4-BE49-F238E27FC236}">
                <a16:creationId xmlns:a16="http://schemas.microsoft.com/office/drawing/2014/main" id="{7AB57046-95AD-B85A-F922-8C28099F0751}"/>
              </a:ext>
            </a:extLst>
          </p:cNvPr>
          <p:cNvSpPr/>
          <p:nvPr/>
        </p:nvSpPr>
        <p:spPr>
          <a:xfrm>
            <a:off x="439271" y="4226312"/>
            <a:ext cx="10769599" cy="920803"/>
          </a:xfrm>
          <a:prstGeom prst="flowChartProcess">
            <a:avLst/>
          </a:prstGeom>
          <a:ln w="3175"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b="1"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Flowchart: Process 5">
            <a:extLst>
              <a:ext uri="{FF2B5EF4-FFF2-40B4-BE49-F238E27FC236}">
                <a16:creationId xmlns:a16="http://schemas.microsoft.com/office/drawing/2014/main" id="{CE9C3E72-FAD1-6687-C42D-571E3463133E}"/>
              </a:ext>
            </a:extLst>
          </p:cNvPr>
          <p:cNvSpPr/>
          <p:nvPr/>
        </p:nvSpPr>
        <p:spPr>
          <a:xfrm>
            <a:off x="439271" y="5147115"/>
            <a:ext cx="10769599" cy="1253685"/>
          </a:xfrm>
          <a:prstGeom prst="flowChartProcess">
            <a:avLst/>
          </a:prstGeom>
          <a:ln w="3175"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b="1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287589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5" grpId="0" animBg="1"/>
      <p:bldP spid="7" grpId="0" animBg="1"/>
      <p:bldP spid="6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613441D-1D01-5B95-25FE-7FD8CB3F6D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List packages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7FAA78A-9CCA-87F5-0EB6-A58F88CA6CD3}"/>
              </a:ext>
            </a:extLst>
          </p:cNvPr>
          <p:cNvSpPr txBox="1"/>
          <p:nvPr/>
        </p:nvSpPr>
        <p:spPr>
          <a:xfrm>
            <a:off x="609595" y="2435360"/>
            <a:ext cx="9108139" cy="1508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Courier New" panose="02070309020205020404" pitchFamily="49" charset="0"/>
              </a:rPr>
              <a:t>Syntax</a:t>
            </a: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err="1">
                <a:solidFill>
                  <a:srgbClr val="004B8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listP</a:t>
            </a:r>
            <a:r>
              <a:rPr kumimoji="0" lang="en-US" b="0" i="0" u="none" strike="noStrike" kern="1200" cap="none" spc="0" normalizeH="0" baseline="0" noProof="0" err="1">
                <a:ln>
                  <a:noFill/>
                </a:ln>
                <a:solidFill>
                  <a:srgbClr val="004B87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ackages</a:t>
            </a:r>
            <a:r>
              <a:rPr kumimoji="0" lang="en-US" b="0" i="0" u="none" strike="noStrike" kern="1200" cap="none" spc="0" normalizeH="0" baseline="0" noProof="0">
                <a:ln>
                  <a:noFill/>
                </a:ln>
                <a:solidFill>
                  <a:srgbClr val="004B87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()</a:t>
            </a: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err="1">
                <a:solidFill>
                  <a:srgbClr val="004B8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listP</a:t>
            </a:r>
            <a:r>
              <a:rPr kumimoji="0" lang="en-US" b="0" i="0" u="none" strike="noStrike" kern="1200" cap="none" spc="0" normalizeH="0" baseline="0" noProof="0" err="1">
                <a:ln>
                  <a:noFill/>
                </a:ln>
                <a:solidFill>
                  <a:srgbClr val="004B87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ackages</a:t>
            </a:r>
            <a:r>
              <a:rPr kumimoji="0" lang="en-US" b="0" i="0" u="none" strike="noStrike" kern="1200" cap="none" spc="0" normalizeH="0" baseline="0" noProof="0">
                <a:ln>
                  <a:noFill/>
                </a:ln>
                <a:solidFill>
                  <a:srgbClr val="004B87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(Name</a:t>
            </a:r>
            <a:r>
              <a:rPr lang="en-US">
                <a:solidFill>
                  <a:srgbClr val="004B8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kumimoji="0" lang="en-US" b="0" i="0" u="none" strike="noStrike" kern="1200" cap="none" spc="0" normalizeH="0" baseline="0" noProof="0">
                <a:ln>
                  <a:noFill/>
                </a:ln>
                <a:solidFill>
                  <a:srgbClr val="004B87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Value)</a:t>
            </a: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b="0" i="0" u="none" strike="noStrike" kern="1200" cap="none" spc="0" normalizeH="0" baseline="0" noProof="0">
              <a:ln>
                <a:noFill/>
              </a:ln>
              <a:solidFill>
                <a:srgbClr val="004B87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1200" cap="none" spc="0" normalizeH="0" baseline="0" noProof="0">
                <a:ln>
                  <a:noFill/>
                </a:ln>
                <a:solidFill>
                  <a:srgbClr val="004B87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P = </a:t>
            </a:r>
            <a:r>
              <a:rPr lang="en-US" err="1">
                <a:solidFill>
                  <a:srgbClr val="004B8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listP</a:t>
            </a:r>
            <a:r>
              <a:rPr kumimoji="0" lang="en-US" b="0" i="0" u="none" strike="noStrike" kern="1200" cap="none" spc="0" normalizeH="0" baseline="0" noProof="0" err="1">
                <a:ln>
                  <a:noFill/>
                </a:ln>
                <a:solidFill>
                  <a:srgbClr val="004B87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ackages</a:t>
            </a:r>
            <a:r>
              <a:rPr kumimoji="0" lang="en-US" b="0" i="0" u="none" strike="noStrike" kern="1200" cap="none" spc="0" normalizeH="0" baseline="0" noProof="0">
                <a:ln>
                  <a:noFill/>
                </a:ln>
                <a:solidFill>
                  <a:srgbClr val="004B87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(___)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94883B3-C8A9-138E-2F66-48AEC9EDCB22}"/>
              </a:ext>
            </a:extLst>
          </p:cNvPr>
          <p:cNvSpPr txBox="1"/>
          <p:nvPr/>
        </p:nvSpPr>
        <p:spPr>
          <a:xfrm>
            <a:off x="609596" y="1444760"/>
            <a:ext cx="910813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err="1">
                <a:ln>
                  <a:noFill/>
                </a:ln>
                <a:solidFill>
                  <a:srgbClr val="D78824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listPackages</a:t>
            </a: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D78824"/>
              </a:solidFill>
              <a:effectLst/>
              <a:uLnTx/>
              <a:uFillTx/>
              <a:latin typeface="Arial"/>
              <a:ea typeface="+mn-ea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List packages satisfying specified criteria. By default, list all packages in the current environment.</a:t>
            </a:r>
          </a:p>
        </p:txBody>
      </p:sp>
    </p:spTree>
    <p:extLst>
      <p:ext uri="{BB962C8B-B14F-4D97-AF65-F5344CB8AC3E}">
        <p14:creationId xmlns:p14="http://schemas.microsoft.com/office/powerpoint/2010/main" val="39341604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82E7401-FCE2-CCE0-1372-D4AE16842F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74482815"/>
              </p:ext>
            </p:extLst>
          </p:nvPr>
        </p:nvGraphicFramePr>
        <p:xfrm>
          <a:off x="528919" y="1352324"/>
          <a:ext cx="11394140" cy="3802605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197774">
                  <a:extLst>
                    <a:ext uri="{9D8B030D-6E8A-4147-A177-3AD203B41FA5}">
                      <a16:colId xmlns:a16="http://schemas.microsoft.com/office/drawing/2014/main" val="964240977"/>
                    </a:ext>
                  </a:extLst>
                </a:gridCol>
                <a:gridCol w="1599232">
                  <a:extLst>
                    <a:ext uri="{9D8B030D-6E8A-4147-A177-3AD203B41FA5}">
                      <a16:colId xmlns:a16="http://schemas.microsoft.com/office/drawing/2014/main" val="2401887970"/>
                    </a:ext>
                  </a:extLst>
                </a:gridCol>
                <a:gridCol w="7597134">
                  <a:extLst>
                    <a:ext uri="{9D8B030D-6E8A-4147-A177-3AD203B41FA5}">
                      <a16:colId xmlns:a16="http://schemas.microsoft.com/office/drawing/2014/main" val="3443374254"/>
                    </a:ext>
                  </a:extLst>
                </a:gridCol>
              </a:tblGrid>
              <a:tr h="314369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400"/>
                        </a:spcAft>
                      </a:pPr>
                      <a:r>
                        <a:rPr lang="en-US" sz="1800">
                          <a:effectLst/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Name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400"/>
                        </a:spcAft>
                      </a:pPr>
                      <a:r>
                        <a:rPr lang="en-US" sz="1800">
                          <a:effectLst/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Type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400"/>
                        </a:spcAft>
                      </a:pPr>
                      <a:r>
                        <a:rPr lang="en-US" sz="1800">
                          <a:effectLst/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Restricts output to those packages for which…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625789594"/>
                  </a:ext>
                </a:extLst>
              </a:tr>
              <a:tr h="872059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400"/>
                        </a:spcAft>
                      </a:pPr>
                      <a:r>
                        <a:rPr lang="en-US" sz="160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Name</a:t>
                      </a:r>
                      <a:endParaRPr lang="en-US" sz="1600">
                        <a:effectLst/>
                        <a:latin typeface="Courier New" panose="02070309020205020404" pitchFamily="49" charset="0"/>
                        <a:ea typeface="Yu Mincho" panose="02020400000000000000" pitchFamily="18" charset="-128"/>
                        <a:cs typeface="Courier New" panose="020703090202050204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400"/>
                        </a:spcAft>
                      </a:pPr>
                      <a:r>
                        <a:rPr lang="en-US" sz="160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string scalar | pattern</a:t>
                      </a:r>
                      <a:endParaRPr lang="en-US" sz="1600">
                        <a:effectLst/>
                        <a:latin typeface="Courier New" panose="02070309020205020404" pitchFamily="49" charset="0"/>
                        <a:ea typeface="Yu Mincho" panose="02020400000000000000" pitchFamily="18" charset="-128"/>
                        <a:cs typeface="Courier New" panose="020703090202050204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400"/>
                        </a:spcAft>
                      </a:pPr>
                      <a:r>
                        <a:rPr lang="en-U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Name attribute matches </a:t>
                      </a:r>
                      <a:r>
                        <a:rPr lang="en-US" sz="160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Name</a:t>
                      </a:r>
                      <a:r>
                        <a:rPr lang="en-U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. </a:t>
                      </a:r>
                      <a:r>
                        <a:rPr lang="en-US" sz="160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Name</a:t>
                      </a:r>
                      <a:r>
                        <a:rPr lang="en-U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can optionally include the wildcard character </a:t>
                      </a:r>
                      <a:r>
                        <a:rPr lang="en-US" sz="16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*</a:t>
                      </a:r>
                      <a:r>
                        <a:rPr lang="en-U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.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66104752"/>
                  </a:ext>
                </a:extLst>
              </a:tr>
              <a:tr h="872059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400"/>
                        </a:spcAft>
                      </a:pPr>
                      <a:r>
                        <a:rPr lang="en-US" sz="1600">
                          <a:effectLst/>
                          <a:latin typeface="Courier New" panose="02070309020205020404" pitchFamily="49" charset="0"/>
                          <a:ea typeface="Yu Mincho" panose="02020400000000000000" pitchFamily="18" charset="-128"/>
                          <a:cs typeface="Courier New" panose="02070309020205020404" pitchFamily="49" charset="0"/>
                        </a:rPr>
                        <a:t>Summary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400"/>
                        </a:spcAft>
                      </a:pPr>
                      <a:r>
                        <a:rPr lang="en-US" sz="1600">
                          <a:effectLst/>
                          <a:latin typeface="Courier New" panose="02070309020205020404" pitchFamily="49" charset="0"/>
                          <a:ea typeface="Yu Mincho" panose="02020400000000000000" pitchFamily="18" charset="-128"/>
                          <a:cs typeface="Courier New" panose="02070309020205020404" pitchFamily="49" charset="0"/>
                        </a:rPr>
                        <a:t>string scalar | pattern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400"/>
                        </a:spcAft>
                      </a:pPr>
                      <a:r>
                        <a:rPr lang="en-U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Summary attribute matches </a:t>
                      </a:r>
                      <a:r>
                        <a:rPr lang="en-US" sz="1600">
                          <a:effectLst/>
                          <a:latin typeface="Courier New" panose="02070309020205020404" pitchFamily="49" charset="0"/>
                          <a:ea typeface="Yu Mincho" panose="02020400000000000000" pitchFamily="18" charset="-128"/>
                          <a:cs typeface="Courier New" panose="02070309020205020404" pitchFamily="49" charset="0"/>
                        </a:rPr>
                        <a:t>Summary</a:t>
                      </a:r>
                      <a:r>
                        <a:rPr lang="en-U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. </a:t>
                      </a:r>
                      <a:r>
                        <a:rPr lang="en-US" sz="1600">
                          <a:effectLst/>
                          <a:latin typeface="Courier New" panose="02070309020205020404" pitchFamily="49" charset="0"/>
                          <a:ea typeface="Yu Mincho" panose="02020400000000000000" pitchFamily="18" charset="-128"/>
                          <a:cs typeface="Courier New" panose="02070309020205020404" pitchFamily="49" charset="0"/>
                        </a:rPr>
                        <a:t>Summary</a:t>
                      </a:r>
                      <a:r>
                        <a:rPr lang="en-U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can optionally include the wildcard character </a:t>
                      </a:r>
                      <a:r>
                        <a:rPr lang="en-US" sz="16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*</a:t>
                      </a:r>
                      <a:r>
                        <a:rPr lang="en-U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.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674850077"/>
                  </a:ext>
                </a:extLst>
              </a:tr>
              <a:tr h="872059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400"/>
                        </a:spcAft>
                      </a:pPr>
                      <a:r>
                        <a:rPr lang="en-US" sz="1600">
                          <a:effectLst/>
                          <a:latin typeface="Courier New" panose="02070309020205020404" pitchFamily="49" charset="0"/>
                          <a:ea typeface="Yu Mincho" panose="02020400000000000000" pitchFamily="18" charset="-128"/>
                          <a:cs typeface="Courier New" panose="02070309020205020404" pitchFamily="49" charset="0"/>
                        </a:rPr>
                        <a:t>Description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668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>
                          <a:effectLst/>
                          <a:latin typeface="Courier New" panose="02070309020205020404" pitchFamily="49" charset="0"/>
                          <a:ea typeface="Yu Mincho" panose="02020400000000000000" pitchFamily="18" charset="-128"/>
                          <a:cs typeface="Courier New" panose="02070309020205020404" pitchFamily="49" charset="0"/>
                        </a:rPr>
                        <a:t>string scalar | pattern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400"/>
                        </a:spcAft>
                      </a:pPr>
                      <a:r>
                        <a:rPr lang="en-U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Description attribute matches </a:t>
                      </a:r>
                      <a:r>
                        <a:rPr lang="en-US" sz="1600">
                          <a:effectLst/>
                          <a:latin typeface="Courier New" panose="02070309020205020404" pitchFamily="49" charset="0"/>
                          <a:ea typeface="Yu Mincho" panose="02020400000000000000" pitchFamily="18" charset="-128"/>
                          <a:cs typeface="Courier New" panose="02070309020205020404" pitchFamily="49" charset="0"/>
                        </a:rPr>
                        <a:t>Description</a:t>
                      </a:r>
                      <a:r>
                        <a:rPr lang="en-U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. </a:t>
                      </a:r>
                      <a:r>
                        <a:rPr lang="en-US" sz="1600">
                          <a:effectLst/>
                          <a:latin typeface="Courier New" panose="02070309020205020404" pitchFamily="49" charset="0"/>
                          <a:ea typeface="Yu Mincho" panose="02020400000000000000" pitchFamily="18" charset="-128"/>
                          <a:cs typeface="Courier New" panose="02070309020205020404" pitchFamily="49" charset="0"/>
                        </a:rPr>
                        <a:t>Description</a:t>
                      </a:r>
                      <a:r>
                        <a:rPr lang="en-U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can optionally include the wildcard character </a:t>
                      </a:r>
                      <a:r>
                        <a:rPr lang="en-US" sz="16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*</a:t>
                      </a:r>
                      <a:r>
                        <a:rPr lang="en-U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.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524916432"/>
                  </a:ext>
                </a:extLst>
              </a:tr>
              <a:tr h="872059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400"/>
                        </a:spcAft>
                      </a:pPr>
                      <a:r>
                        <a:rPr lang="en-US" sz="1600">
                          <a:effectLst/>
                          <a:latin typeface="Courier New" panose="02070309020205020404" pitchFamily="49" charset="0"/>
                          <a:ea typeface="Yu Mincho" panose="02020400000000000000" pitchFamily="18" charset="-128"/>
                          <a:cs typeface="Courier New" panose="02070309020205020404" pitchFamily="49" charset="0"/>
                        </a:rPr>
                        <a:t>Provider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400"/>
                        </a:spcAft>
                      </a:pPr>
                      <a:r>
                        <a:rPr lang="en-US" sz="1600">
                          <a:effectLst/>
                          <a:latin typeface="Courier New" panose="02070309020205020404" pitchFamily="49" charset="0"/>
                          <a:ea typeface="Yu Mincho" panose="02020400000000000000" pitchFamily="18" charset="-128"/>
                          <a:cs typeface="Courier New" panose="02070309020205020404" pitchFamily="49" charset="0"/>
                        </a:rPr>
                        <a:t>string scalar | pattern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400"/>
                        </a:spcAft>
                      </a:pPr>
                      <a:r>
                        <a:rPr lang="en-U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Provider attribute matches </a:t>
                      </a:r>
                      <a:r>
                        <a:rPr lang="en-US" sz="1600">
                          <a:effectLst/>
                          <a:latin typeface="Courier New" panose="02070309020205020404" pitchFamily="49" charset="0"/>
                          <a:ea typeface="Yu Mincho" panose="02020400000000000000" pitchFamily="18" charset="-128"/>
                          <a:cs typeface="Courier New" panose="02070309020205020404" pitchFamily="49" charset="0"/>
                        </a:rPr>
                        <a:t>Provider</a:t>
                      </a:r>
                      <a:r>
                        <a:rPr lang="en-U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. </a:t>
                      </a:r>
                      <a:r>
                        <a:rPr lang="en-US" sz="1600">
                          <a:effectLst/>
                          <a:latin typeface="Courier New" panose="02070309020205020404" pitchFamily="49" charset="0"/>
                          <a:ea typeface="Yu Mincho" panose="02020400000000000000" pitchFamily="18" charset="-128"/>
                          <a:cs typeface="Courier New" panose="02070309020205020404" pitchFamily="49" charset="0"/>
                        </a:rPr>
                        <a:t>Provider</a:t>
                      </a:r>
                      <a:r>
                        <a:rPr lang="en-U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can optionally include the wildcard character </a:t>
                      </a:r>
                      <a:r>
                        <a:rPr lang="en-US" sz="16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*</a:t>
                      </a:r>
                      <a:r>
                        <a:rPr lang="en-U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.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68697023"/>
                  </a:ext>
                </a:extLst>
              </a:tr>
            </a:tbl>
          </a:graphicData>
        </a:graphic>
      </p:graphicFrame>
      <p:sp>
        <p:nvSpPr>
          <p:cNvPr id="7" name="Title 2">
            <a:extLst>
              <a:ext uri="{FF2B5EF4-FFF2-40B4-BE49-F238E27FC236}">
                <a16:creationId xmlns:a16="http://schemas.microsoft.com/office/drawing/2014/main" id="{C75F56DF-D951-A5DF-A797-BE2A4944D7B2}"/>
              </a:ext>
            </a:extLst>
          </p:cNvPr>
          <p:cNvSpPr txBox="1">
            <a:spLocks/>
          </p:cNvSpPr>
          <p:nvPr/>
        </p:nvSpPr>
        <p:spPr>
          <a:xfrm>
            <a:off x="762002" y="609600"/>
            <a:ext cx="10769600" cy="990600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algn="l" defTabSz="916680" rtl="0" eaLnBrk="1" latinLnBrk="0" hangingPunct="1">
              <a:spcBef>
                <a:spcPct val="0"/>
              </a:spcBef>
              <a:buNone/>
              <a:defRPr sz="2800" b="0" kern="1200" baseline="0">
                <a:solidFill>
                  <a:schemeClr val="tx2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pPr marL="0" marR="0" lvl="0" indent="0" algn="l" defTabSz="91668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err="1">
                <a:solidFill>
                  <a:srgbClr val="0076A8"/>
                </a:solidFill>
                <a:latin typeface="Courier New" panose="02070309020205020404" pitchFamily="49" charset="0"/>
              </a:rPr>
              <a:t>listPackages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0076A8"/>
                </a:solidFill>
                <a:effectLst/>
                <a:uLnTx/>
                <a:uFillTx/>
                <a:latin typeface="Arial" pitchFamily="34" charset="0"/>
                <a:ea typeface="+mj-ea"/>
                <a:cs typeface="Arial" pitchFamily="34" charset="0"/>
              </a:rPr>
              <a:t>: </a:t>
            </a:r>
            <a:r>
              <a:rPr lang="en-US"/>
              <a:t>Name-Value Options(not-complete)</a:t>
            </a:r>
            <a:endParaRPr kumimoji="0" lang="en-US" sz="2800" b="0" i="0" u="none" strike="noStrike" kern="1200" cap="none" spc="0" normalizeH="0" baseline="0" noProof="0">
              <a:ln>
                <a:noFill/>
              </a:ln>
              <a:solidFill>
                <a:srgbClr val="0076A8"/>
              </a:solidFill>
              <a:effectLst/>
              <a:uLnTx/>
              <a:uFillTx/>
              <a:latin typeface="Arial" pitchFamily="34" charset="0"/>
              <a:ea typeface="+mj-ea"/>
              <a:cs typeface="Arial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1A61084-3C5E-DFDC-0681-DE268795FDA5}"/>
              </a:ext>
            </a:extLst>
          </p:cNvPr>
          <p:cNvSpPr txBox="1"/>
          <p:nvPr/>
        </p:nvSpPr>
        <p:spPr>
          <a:xfrm>
            <a:off x="6514627" y="5743764"/>
            <a:ext cx="540843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>
                <a:latin typeface="Arial" pitchFamily="34" charset="0"/>
                <a:cs typeface="Arial" pitchFamily="34" charset="0"/>
              </a:rPr>
              <a:t>All string and pattern values are compared case insensitively.</a:t>
            </a:r>
          </a:p>
        </p:txBody>
      </p:sp>
      <p:sp>
        <p:nvSpPr>
          <p:cNvPr id="2" name="Flowchart: Process 1">
            <a:extLst>
              <a:ext uri="{FF2B5EF4-FFF2-40B4-BE49-F238E27FC236}">
                <a16:creationId xmlns:a16="http://schemas.microsoft.com/office/drawing/2014/main" id="{E658B101-FE57-99EF-22EE-5570B39BB9B6}"/>
              </a:ext>
            </a:extLst>
          </p:cNvPr>
          <p:cNvSpPr/>
          <p:nvPr/>
        </p:nvSpPr>
        <p:spPr>
          <a:xfrm>
            <a:off x="528919" y="1703070"/>
            <a:ext cx="11394140" cy="817933"/>
          </a:xfrm>
          <a:prstGeom prst="flowChartProcess">
            <a:avLst/>
          </a:prstGeom>
          <a:ln w="3175"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b="1"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Flowchart: Process 4">
            <a:extLst>
              <a:ext uri="{FF2B5EF4-FFF2-40B4-BE49-F238E27FC236}">
                <a16:creationId xmlns:a16="http://schemas.microsoft.com/office/drawing/2014/main" id="{AA8AE649-9878-599E-560E-617FE9CC363C}"/>
              </a:ext>
            </a:extLst>
          </p:cNvPr>
          <p:cNvSpPr/>
          <p:nvPr/>
        </p:nvSpPr>
        <p:spPr>
          <a:xfrm>
            <a:off x="528919" y="2521003"/>
            <a:ext cx="11394138" cy="907997"/>
          </a:xfrm>
          <a:prstGeom prst="flowChartProcess">
            <a:avLst/>
          </a:prstGeom>
          <a:ln w="3175"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b="1"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Flowchart: Process 5">
            <a:extLst>
              <a:ext uri="{FF2B5EF4-FFF2-40B4-BE49-F238E27FC236}">
                <a16:creationId xmlns:a16="http://schemas.microsoft.com/office/drawing/2014/main" id="{74566B9F-6CD7-2364-FBD5-8C7E79AB4A47}"/>
              </a:ext>
            </a:extLst>
          </p:cNvPr>
          <p:cNvSpPr/>
          <p:nvPr/>
        </p:nvSpPr>
        <p:spPr>
          <a:xfrm>
            <a:off x="528918" y="3405227"/>
            <a:ext cx="11394139" cy="884224"/>
          </a:xfrm>
          <a:prstGeom prst="flowChartProcess">
            <a:avLst/>
          </a:prstGeom>
          <a:ln w="3175"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b="1">
              <a:latin typeface="Arial" pitchFamily="34" charset="0"/>
              <a:cs typeface="Arial" pitchFamily="34" charset="0"/>
            </a:endParaRPr>
          </a:p>
        </p:txBody>
      </p:sp>
      <p:sp>
        <p:nvSpPr>
          <p:cNvPr id="8" name="Flowchart: Process 7">
            <a:extLst>
              <a:ext uri="{FF2B5EF4-FFF2-40B4-BE49-F238E27FC236}">
                <a16:creationId xmlns:a16="http://schemas.microsoft.com/office/drawing/2014/main" id="{4C485B8E-581C-2A1D-A7ED-39D30212CDDD}"/>
              </a:ext>
            </a:extLst>
          </p:cNvPr>
          <p:cNvSpPr/>
          <p:nvPr/>
        </p:nvSpPr>
        <p:spPr>
          <a:xfrm>
            <a:off x="528917" y="4289452"/>
            <a:ext cx="11394140" cy="865478"/>
          </a:xfrm>
          <a:prstGeom prst="flowChartProcess">
            <a:avLst/>
          </a:prstGeom>
          <a:ln w="3175"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b="1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619095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5" grpId="0" animBg="1"/>
      <p:bldP spid="6" grpId="0" animBg="1"/>
      <p:bldP spid="8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82E7401-FCE2-CCE0-1372-D4AE16842F3E}"/>
              </a:ext>
            </a:extLst>
          </p:cNvPr>
          <p:cNvGraphicFramePr>
            <a:graphicFrameLocks noGrp="1"/>
          </p:cNvGraphicFramePr>
          <p:nvPr/>
        </p:nvGraphicFramePr>
        <p:xfrm>
          <a:off x="528919" y="1352324"/>
          <a:ext cx="11394140" cy="3802605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197774">
                  <a:extLst>
                    <a:ext uri="{9D8B030D-6E8A-4147-A177-3AD203B41FA5}">
                      <a16:colId xmlns:a16="http://schemas.microsoft.com/office/drawing/2014/main" val="964240977"/>
                    </a:ext>
                  </a:extLst>
                </a:gridCol>
                <a:gridCol w="1599232">
                  <a:extLst>
                    <a:ext uri="{9D8B030D-6E8A-4147-A177-3AD203B41FA5}">
                      <a16:colId xmlns:a16="http://schemas.microsoft.com/office/drawing/2014/main" val="2401887970"/>
                    </a:ext>
                  </a:extLst>
                </a:gridCol>
                <a:gridCol w="7597134">
                  <a:extLst>
                    <a:ext uri="{9D8B030D-6E8A-4147-A177-3AD203B41FA5}">
                      <a16:colId xmlns:a16="http://schemas.microsoft.com/office/drawing/2014/main" val="3443374254"/>
                    </a:ext>
                  </a:extLst>
                </a:gridCol>
              </a:tblGrid>
              <a:tr h="314369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400"/>
                        </a:spcAft>
                      </a:pPr>
                      <a:r>
                        <a:rPr lang="en-US" sz="1800">
                          <a:effectLst/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Name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400"/>
                        </a:spcAft>
                      </a:pPr>
                      <a:r>
                        <a:rPr lang="en-US" sz="1800">
                          <a:effectLst/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Type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400"/>
                        </a:spcAft>
                      </a:pPr>
                      <a:r>
                        <a:rPr lang="en-US" sz="1800">
                          <a:effectLst/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Restricts output to those packages for which…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625789594"/>
                  </a:ext>
                </a:extLst>
              </a:tr>
              <a:tr h="872059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400"/>
                        </a:spcAft>
                      </a:pPr>
                      <a:r>
                        <a:rPr lang="en-US" sz="160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Name</a:t>
                      </a:r>
                      <a:endParaRPr lang="en-US" sz="1600">
                        <a:effectLst/>
                        <a:latin typeface="Courier New" panose="02070309020205020404" pitchFamily="49" charset="0"/>
                        <a:ea typeface="Yu Mincho" panose="02020400000000000000" pitchFamily="18" charset="-128"/>
                        <a:cs typeface="Courier New" panose="020703090202050204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400"/>
                        </a:spcAft>
                      </a:pPr>
                      <a:r>
                        <a:rPr lang="en-US" sz="160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string scalar | pattern</a:t>
                      </a:r>
                      <a:endParaRPr lang="en-US" sz="1600">
                        <a:effectLst/>
                        <a:latin typeface="Courier New" panose="02070309020205020404" pitchFamily="49" charset="0"/>
                        <a:ea typeface="Yu Mincho" panose="02020400000000000000" pitchFamily="18" charset="-128"/>
                        <a:cs typeface="Courier New" panose="020703090202050204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400"/>
                        </a:spcAft>
                      </a:pPr>
                      <a:r>
                        <a:rPr lang="en-U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Name attribute matches </a:t>
                      </a:r>
                      <a:r>
                        <a:rPr lang="en-US" sz="160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Name</a:t>
                      </a:r>
                      <a:r>
                        <a:rPr lang="en-U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. </a:t>
                      </a:r>
                      <a:r>
                        <a:rPr lang="en-US" sz="160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Name</a:t>
                      </a:r>
                      <a:r>
                        <a:rPr lang="en-U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can optionally include the wildcard character </a:t>
                      </a:r>
                      <a:r>
                        <a:rPr lang="en-US" sz="16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*</a:t>
                      </a:r>
                      <a:r>
                        <a:rPr lang="en-U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.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66104752"/>
                  </a:ext>
                </a:extLst>
              </a:tr>
              <a:tr h="872059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400"/>
                        </a:spcAft>
                      </a:pPr>
                      <a:r>
                        <a:rPr lang="en-US" sz="1600">
                          <a:effectLst/>
                          <a:latin typeface="Courier New" panose="02070309020205020404" pitchFamily="49" charset="0"/>
                          <a:ea typeface="Yu Mincho" panose="02020400000000000000" pitchFamily="18" charset="-128"/>
                          <a:cs typeface="Courier New" panose="02070309020205020404" pitchFamily="49" charset="0"/>
                        </a:rPr>
                        <a:t>Summary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400"/>
                        </a:spcAft>
                      </a:pPr>
                      <a:r>
                        <a:rPr lang="en-US" sz="1600">
                          <a:effectLst/>
                          <a:latin typeface="Courier New" panose="02070309020205020404" pitchFamily="49" charset="0"/>
                          <a:ea typeface="Yu Mincho" panose="02020400000000000000" pitchFamily="18" charset="-128"/>
                          <a:cs typeface="Courier New" panose="02070309020205020404" pitchFamily="49" charset="0"/>
                        </a:rPr>
                        <a:t>string scalar | pattern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400"/>
                        </a:spcAft>
                      </a:pPr>
                      <a:r>
                        <a:rPr lang="en-U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Summary attribute matches </a:t>
                      </a:r>
                      <a:r>
                        <a:rPr lang="en-US" sz="1600">
                          <a:effectLst/>
                          <a:latin typeface="Courier New" panose="02070309020205020404" pitchFamily="49" charset="0"/>
                          <a:ea typeface="Yu Mincho" panose="02020400000000000000" pitchFamily="18" charset="-128"/>
                          <a:cs typeface="Courier New" panose="02070309020205020404" pitchFamily="49" charset="0"/>
                        </a:rPr>
                        <a:t>Summary</a:t>
                      </a:r>
                      <a:r>
                        <a:rPr lang="en-U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. </a:t>
                      </a:r>
                      <a:r>
                        <a:rPr lang="en-US" sz="1600">
                          <a:effectLst/>
                          <a:latin typeface="Courier New" panose="02070309020205020404" pitchFamily="49" charset="0"/>
                          <a:ea typeface="Yu Mincho" panose="02020400000000000000" pitchFamily="18" charset="-128"/>
                          <a:cs typeface="Courier New" panose="02070309020205020404" pitchFamily="49" charset="0"/>
                        </a:rPr>
                        <a:t>Summary</a:t>
                      </a:r>
                      <a:r>
                        <a:rPr lang="en-U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can optionally include the wildcard character </a:t>
                      </a:r>
                      <a:r>
                        <a:rPr lang="en-US" sz="16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*</a:t>
                      </a:r>
                      <a:r>
                        <a:rPr lang="en-U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.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674850077"/>
                  </a:ext>
                </a:extLst>
              </a:tr>
              <a:tr h="872059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400"/>
                        </a:spcAft>
                      </a:pPr>
                      <a:r>
                        <a:rPr lang="en-US" sz="1600">
                          <a:effectLst/>
                          <a:latin typeface="Courier New" panose="02070309020205020404" pitchFamily="49" charset="0"/>
                          <a:ea typeface="Yu Mincho" panose="02020400000000000000" pitchFamily="18" charset="-128"/>
                          <a:cs typeface="Courier New" panose="02070309020205020404" pitchFamily="49" charset="0"/>
                        </a:rPr>
                        <a:t>Description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668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>
                          <a:effectLst/>
                          <a:latin typeface="Courier New" panose="02070309020205020404" pitchFamily="49" charset="0"/>
                          <a:ea typeface="Yu Mincho" panose="02020400000000000000" pitchFamily="18" charset="-128"/>
                          <a:cs typeface="Courier New" panose="02070309020205020404" pitchFamily="49" charset="0"/>
                        </a:rPr>
                        <a:t>string scalar | pattern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400"/>
                        </a:spcAft>
                      </a:pPr>
                      <a:r>
                        <a:rPr lang="en-U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Description attribute matches </a:t>
                      </a:r>
                      <a:r>
                        <a:rPr lang="en-US" sz="1600">
                          <a:effectLst/>
                          <a:latin typeface="Courier New" panose="02070309020205020404" pitchFamily="49" charset="0"/>
                          <a:ea typeface="Yu Mincho" panose="02020400000000000000" pitchFamily="18" charset="-128"/>
                          <a:cs typeface="Courier New" panose="02070309020205020404" pitchFamily="49" charset="0"/>
                        </a:rPr>
                        <a:t>Description</a:t>
                      </a:r>
                      <a:r>
                        <a:rPr lang="en-U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. </a:t>
                      </a:r>
                      <a:r>
                        <a:rPr lang="en-US" sz="1600">
                          <a:effectLst/>
                          <a:latin typeface="Courier New" panose="02070309020205020404" pitchFamily="49" charset="0"/>
                          <a:ea typeface="Yu Mincho" panose="02020400000000000000" pitchFamily="18" charset="-128"/>
                          <a:cs typeface="Courier New" panose="02070309020205020404" pitchFamily="49" charset="0"/>
                        </a:rPr>
                        <a:t>Description</a:t>
                      </a:r>
                      <a:r>
                        <a:rPr lang="en-U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can optionally include the wildcard character </a:t>
                      </a:r>
                      <a:r>
                        <a:rPr lang="en-US" sz="16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*</a:t>
                      </a:r>
                      <a:r>
                        <a:rPr lang="en-U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.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524916432"/>
                  </a:ext>
                </a:extLst>
              </a:tr>
              <a:tr h="872059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400"/>
                        </a:spcAft>
                      </a:pPr>
                      <a:r>
                        <a:rPr lang="en-US" sz="1600">
                          <a:effectLst/>
                          <a:latin typeface="Courier New" panose="02070309020205020404" pitchFamily="49" charset="0"/>
                          <a:ea typeface="Yu Mincho" panose="02020400000000000000" pitchFamily="18" charset="-128"/>
                          <a:cs typeface="Courier New" panose="02070309020205020404" pitchFamily="49" charset="0"/>
                        </a:rPr>
                        <a:t>Provider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400"/>
                        </a:spcAft>
                      </a:pPr>
                      <a:r>
                        <a:rPr lang="en-US" sz="1600">
                          <a:effectLst/>
                          <a:latin typeface="Courier New" panose="02070309020205020404" pitchFamily="49" charset="0"/>
                          <a:ea typeface="Yu Mincho" panose="02020400000000000000" pitchFamily="18" charset="-128"/>
                          <a:cs typeface="Courier New" panose="02070309020205020404" pitchFamily="49" charset="0"/>
                        </a:rPr>
                        <a:t>string scalar | pattern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400"/>
                        </a:spcAft>
                      </a:pPr>
                      <a:r>
                        <a:rPr lang="en-U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Provider attribute matches </a:t>
                      </a:r>
                      <a:r>
                        <a:rPr lang="en-US" sz="1600">
                          <a:effectLst/>
                          <a:latin typeface="Courier New" panose="02070309020205020404" pitchFamily="49" charset="0"/>
                          <a:ea typeface="Yu Mincho" panose="02020400000000000000" pitchFamily="18" charset="-128"/>
                          <a:cs typeface="Courier New" panose="02070309020205020404" pitchFamily="49" charset="0"/>
                        </a:rPr>
                        <a:t>Provider</a:t>
                      </a:r>
                      <a:r>
                        <a:rPr lang="en-U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. </a:t>
                      </a:r>
                      <a:r>
                        <a:rPr lang="en-US" sz="1600">
                          <a:effectLst/>
                          <a:latin typeface="Courier New" panose="02070309020205020404" pitchFamily="49" charset="0"/>
                          <a:ea typeface="Yu Mincho" panose="02020400000000000000" pitchFamily="18" charset="-128"/>
                          <a:cs typeface="Courier New" panose="02070309020205020404" pitchFamily="49" charset="0"/>
                        </a:rPr>
                        <a:t>Provider</a:t>
                      </a:r>
                      <a:r>
                        <a:rPr lang="en-U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can optionally include the wildcard character </a:t>
                      </a:r>
                      <a:r>
                        <a:rPr lang="en-US" sz="16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*</a:t>
                      </a:r>
                      <a:r>
                        <a:rPr lang="en-U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.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68697023"/>
                  </a:ext>
                </a:extLst>
              </a:tr>
            </a:tbl>
          </a:graphicData>
        </a:graphic>
      </p:graphicFrame>
      <p:sp>
        <p:nvSpPr>
          <p:cNvPr id="7" name="Title 2">
            <a:extLst>
              <a:ext uri="{FF2B5EF4-FFF2-40B4-BE49-F238E27FC236}">
                <a16:creationId xmlns:a16="http://schemas.microsoft.com/office/drawing/2014/main" id="{C75F56DF-D951-A5DF-A797-BE2A4944D7B2}"/>
              </a:ext>
            </a:extLst>
          </p:cNvPr>
          <p:cNvSpPr txBox="1">
            <a:spLocks/>
          </p:cNvSpPr>
          <p:nvPr/>
        </p:nvSpPr>
        <p:spPr>
          <a:xfrm>
            <a:off x="762002" y="609600"/>
            <a:ext cx="10769600" cy="990600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algn="l" defTabSz="916680" rtl="0" eaLnBrk="1" latinLnBrk="0" hangingPunct="1">
              <a:spcBef>
                <a:spcPct val="0"/>
              </a:spcBef>
              <a:buNone/>
              <a:defRPr sz="2800" b="0" kern="1200" baseline="0">
                <a:solidFill>
                  <a:schemeClr val="tx2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pPr marL="0" marR="0" lvl="0" indent="0" algn="l" defTabSz="91668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err="1">
                <a:solidFill>
                  <a:srgbClr val="0076A8"/>
                </a:solidFill>
                <a:latin typeface="Courier New" panose="02070309020205020404" pitchFamily="49" charset="0"/>
              </a:rPr>
              <a:t>listPackages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0076A8"/>
                </a:solidFill>
                <a:effectLst/>
                <a:uLnTx/>
                <a:uFillTx/>
                <a:latin typeface="Arial" pitchFamily="34" charset="0"/>
                <a:ea typeface="+mj-ea"/>
                <a:cs typeface="Arial" pitchFamily="34" charset="0"/>
              </a:rPr>
              <a:t>: </a:t>
            </a:r>
            <a:r>
              <a:rPr lang="en-US"/>
              <a:t>Name-Value Options(not-complete)</a:t>
            </a:r>
            <a:endParaRPr kumimoji="0" lang="en-US" sz="2800" b="0" i="0" u="none" strike="noStrike" kern="1200" cap="none" spc="0" normalizeH="0" baseline="0" noProof="0">
              <a:ln>
                <a:noFill/>
              </a:ln>
              <a:solidFill>
                <a:srgbClr val="0076A8"/>
              </a:solidFill>
              <a:effectLst/>
              <a:uLnTx/>
              <a:uFillTx/>
              <a:latin typeface="Arial" pitchFamily="34" charset="0"/>
              <a:ea typeface="+mj-ea"/>
              <a:cs typeface="Arial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1A61084-3C5E-DFDC-0681-DE268795FDA5}"/>
              </a:ext>
            </a:extLst>
          </p:cNvPr>
          <p:cNvSpPr txBox="1"/>
          <p:nvPr/>
        </p:nvSpPr>
        <p:spPr>
          <a:xfrm>
            <a:off x="6514627" y="5743764"/>
            <a:ext cx="540843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>
                <a:latin typeface="Arial" pitchFamily="34" charset="0"/>
                <a:cs typeface="Arial" pitchFamily="34" charset="0"/>
              </a:rPr>
              <a:t>All string and pattern values are compared case insensitively.</a:t>
            </a:r>
          </a:p>
        </p:txBody>
      </p:sp>
    </p:spTree>
    <p:extLst>
      <p:ext uri="{BB962C8B-B14F-4D97-AF65-F5344CB8AC3E}">
        <p14:creationId xmlns:p14="http://schemas.microsoft.com/office/powerpoint/2010/main" val="145247452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613441D-1D01-5B95-25FE-7FD8CB3F6D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Searching packages in repositories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7FAA78A-9CCA-87F5-0EB6-A58F88CA6CD3}"/>
              </a:ext>
            </a:extLst>
          </p:cNvPr>
          <p:cNvSpPr txBox="1"/>
          <p:nvPr/>
        </p:nvSpPr>
        <p:spPr>
          <a:xfrm>
            <a:off x="609595" y="2435360"/>
            <a:ext cx="910813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Courier New" panose="02070309020205020404" pitchFamily="49" charset="0"/>
              </a:rPr>
              <a:t>Syntax</a:t>
            </a: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err="1">
                <a:ln>
                  <a:noFill/>
                </a:ln>
                <a:solidFill>
                  <a:srgbClr val="004B87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searchPackageRepositories</a:t>
            </a: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4B87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(keyword)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94883B3-C8A9-138E-2F66-48AEC9EDCB22}"/>
              </a:ext>
            </a:extLst>
          </p:cNvPr>
          <p:cNvSpPr txBox="1"/>
          <p:nvPr/>
        </p:nvSpPr>
        <p:spPr>
          <a:xfrm>
            <a:off x="609596" y="1444760"/>
            <a:ext cx="9108139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err="1">
                <a:ln>
                  <a:noFill/>
                </a:ln>
                <a:solidFill>
                  <a:srgbClr val="D78824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searchPackageRepositories</a:t>
            </a: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D78824"/>
              </a:solidFill>
              <a:effectLst/>
              <a:uLnTx/>
              <a:uFillTx/>
              <a:latin typeface="Arial"/>
              <a:ea typeface="+mn-ea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Search package repositories for a keyword.</a:t>
            </a: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Yu Mincho" panose="02020400000000000000" pitchFamily="18" charset="-128"/>
                <a:cs typeface="Courier New" panose="02070309020205020404" pitchFamily="49" charset="0"/>
              </a:rPr>
              <a:t> </a:t>
            </a:r>
            <a:r>
              <a:rPr lang="en-US" sz="1600">
                <a:solidFill>
                  <a:srgbClr val="FFFFFF">
                    <a:lumMod val="50000"/>
                  </a:srgbClr>
                </a:solidFill>
                <a:latin typeface="Arial"/>
              </a:rPr>
              <a:t>Looks for packages whose name, summary, and/or description fields contain </a:t>
            </a:r>
            <a:r>
              <a:rPr lang="en-US" sz="1600">
                <a:solidFill>
                  <a:srgbClr val="FFFFFF">
                    <a:lumMod val="50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keyword</a:t>
            </a:r>
            <a:r>
              <a:rPr lang="en-US" sz="1600">
                <a:solidFill>
                  <a:srgbClr val="FFFFFF">
                    <a:lumMod val="50000"/>
                  </a:srgbClr>
                </a:solidFill>
                <a:latin typeface="Arial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9703830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F787DA-8362-593E-6C8A-8C715D6635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"/>
                <a:cs typeface="Arial"/>
              </a:rPr>
              <a:t>Repository Management</a:t>
            </a:r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3B40755-F645-ED8E-EFA2-291285F082B4}"/>
              </a:ext>
            </a:extLst>
          </p:cNvPr>
          <p:cNvSpPr txBox="1"/>
          <p:nvPr/>
        </p:nvSpPr>
        <p:spPr>
          <a:xfrm>
            <a:off x="609602" y="1447800"/>
            <a:ext cx="9108139" cy="255454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Courier New"/>
              </a:rPr>
              <a:t>Syntax</a:t>
            </a: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err="1">
                <a:solidFill>
                  <a:srgbClr val="004B87"/>
                </a:solidFill>
                <a:latin typeface="Courier New"/>
                <a:cs typeface="Courier New"/>
              </a:rPr>
              <a:t>addPackageRepository</a:t>
            </a:r>
            <a:r>
              <a:rPr kumimoji="0" lang="en-US" b="0" i="0" u="none" strike="noStrike" kern="1200" cap="none" spc="0" normalizeH="0" baseline="0" noProof="0">
                <a:ln>
                  <a:noFill/>
                </a:ln>
                <a:solidFill>
                  <a:srgbClr val="004B87"/>
                </a:solidFill>
                <a:effectLst/>
                <a:uLnTx/>
                <a:uFillTx/>
                <a:latin typeface="Courier New"/>
                <a:cs typeface="Courier New"/>
              </a:rPr>
              <a:t>(</a:t>
            </a:r>
            <a:r>
              <a:rPr lang="en-US">
                <a:solidFill>
                  <a:srgbClr val="004B87"/>
                </a:solidFill>
                <a:latin typeface="Courier New"/>
                <a:cs typeface="Courier New"/>
              </a:rPr>
              <a:t>repository</a:t>
            </a:r>
            <a:r>
              <a:rPr kumimoji="0" lang="en-US" b="0" i="0" u="none" strike="noStrike" kern="1200" cap="none" spc="0" normalizeH="0" baseline="0" noProof="0">
                <a:ln>
                  <a:noFill/>
                </a:ln>
                <a:solidFill>
                  <a:srgbClr val="004B87"/>
                </a:solidFill>
                <a:effectLst/>
                <a:uLnTx/>
                <a:uFillTx/>
                <a:latin typeface="Courier New"/>
                <a:cs typeface="Courier New"/>
              </a:rPr>
              <a:t>)</a:t>
            </a:r>
            <a:endParaRPr lang="en-US" b="0" i="0" u="none" strike="noStrike" kern="1200" cap="none" spc="0" normalizeH="0" baseline="0" noProof="0">
              <a:ln>
                <a:noFill/>
              </a:ln>
              <a:solidFill>
                <a:srgbClr val="004B87"/>
              </a:solidFill>
              <a:effectLst/>
              <a:uLnTx/>
              <a:uFillTx/>
              <a:latin typeface="Courier New"/>
              <a:cs typeface="Courier New"/>
            </a:endParaRPr>
          </a:p>
          <a:p>
            <a:pPr lvl="1">
              <a:defRPr/>
            </a:pPr>
            <a:r>
              <a:rPr lang="en-US" err="1">
                <a:solidFill>
                  <a:srgbClr val="004B87"/>
                </a:solidFill>
                <a:latin typeface="Courier New"/>
                <a:cs typeface="Courier New"/>
              </a:rPr>
              <a:t>addPackageRepository</a:t>
            </a:r>
            <a:r>
              <a:rPr lang="en-US">
                <a:solidFill>
                  <a:srgbClr val="004B87"/>
                </a:solidFill>
                <a:latin typeface="Courier New"/>
                <a:cs typeface="Courier New"/>
              </a:rPr>
              <a:t>(___, Name=Value)</a:t>
            </a:r>
          </a:p>
          <a:p>
            <a:pPr lvl="1">
              <a:defRPr/>
            </a:pPr>
            <a:endParaRPr lang="en-US">
              <a:solidFill>
                <a:srgbClr val="004B87"/>
              </a:solidFill>
              <a:latin typeface="Courier New"/>
              <a:cs typeface="Courier New"/>
            </a:endParaRPr>
          </a:p>
          <a:p>
            <a:pPr lvl="1">
              <a:defRPr/>
            </a:pPr>
            <a:r>
              <a:rPr lang="en-US" err="1">
                <a:solidFill>
                  <a:srgbClr val="004B87"/>
                </a:solidFill>
                <a:latin typeface="Courier New"/>
                <a:cs typeface="Courier New"/>
              </a:rPr>
              <a:t>removePackageRepository</a:t>
            </a:r>
            <a:r>
              <a:rPr lang="en-US">
                <a:solidFill>
                  <a:srgbClr val="004B87"/>
                </a:solidFill>
                <a:latin typeface="Courier New"/>
                <a:cs typeface="Courier New"/>
              </a:rPr>
              <a:t>(repository)</a:t>
            </a:r>
          </a:p>
          <a:p>
            <a:pPr marL="1200150" lvl="2" indent="-285750">
              <a:buFont typeface="Arial" panose="020B0604020202020204" pitchFamily="34" charset="0"/>
              <a:buChar char="•"/>
              <a:defRPr/>
            </a:pPr>
            <a:r>
              <a:rPr lang="en-US" sz="1600">
                <a:solidFill>
                  <a:srgbClr val="000000"/>
                </a:solidFill>
                <a:latin typeface="Arial"/>
                <a:cs typeface="Courier New"/>
              </a:rPr>
              <a:t>repository may be location or name alias</a:t>
            </a:r>
            <a:endParaRPr lang="en-US" sz="1600">
              <a:solidFill>
                <a:srgbClr val="004B87"/>
              </a:solidFill>
              <a:latin typeface="Courier New"/>
              <a:cs typeface="Courier New"/>
            </a:endParaRPr>
          </a:p>
          <a:p>
            <a:pPr lvl="1">
              <a:defRPr/>
            </a:pPr>
            <a:endParaRPr lang="en-US">
              <a:solidFill>
                <a:srgbClr val="004B87"/>
              </a:solidFill>
              <a:latin typeface="Courier New"/>
              <a:cs typeface="Courier New"/>
            </a:endParaRPr>
          </a:p>
          <a:p>
            <a:pPr lvl="1">
              <a:defRPr/>
            </a:pPr>
            <a:r>
              <a:rPr lang="en-US">
                <a:solidFill>
                  <a:srgbClr val="004B87"/>
                </a:solidFill>
                <a:latin typeface="Courier New"/>
                <a:cs typeface="Courier New"/>
              </a:rPr>
              <a:t>repos = </a:t>
            </a:r>
            <a:r>
              <a:rPr lang="en-US" err="1">
                <a:solidFill>
                  <a:srgbClr val="004B87"/>
                </a:solidFill>
                <a:latin typeface="Courier New"/>
                <a:cs typeface="Courier New"/>
              </a:rPr>
              <a:t>listPackageRepositories</a:t>
            </a:r>
            <a:r>
              <a:rPr lang="en-US">
                <a:solidFill>
                  <a:srgbClr val="004B87"/>
                </a:solidFill>
                <a:latin typeface="Courier New"/>
                <a:cs typeface="Courier New"/>
              </a:rPr>
              <a:t>()</a:t>
            </a:r>
            <a:endParaRPr lang="en-US">
              <a:cs typeface="Arial"/>
            </a:endParaRPr>
          </a:p>
          <a:p>
            <a:pPr lvl="1">
              <a:defRPr/>
            </a:pPr>
            <a:endParaRPr lang="en-US" sz="1600">
              <a:solidFill>
                <a:srgbClr val="004B87"/>
              </a:solidFill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2223780365"/>
      </p:ext>
    </p:extLst>
  </p:cSld>
  <p:clrMapOvr>
    <a:masterClrMapping/>
  </p:clrMapOvr>
</p:sld>
</file>

<file path=ppt/theme/theme1.xml><?xml version="1.0" encoding="utf-8"?>
<a:theme xmlns:a="http://schemas.openxmlformats.org/drawingml/2006/main" name="MW_Public_widescreen">
  <a:themeElements>
    <a:clrScheme name="MW">
      <a:dk1>
        <a:srgbClr val="000000"/>
      </a:dk1>
      <a:lt1>
        <a:srgbClr val="FFFFFF"/>
      </a:lt1>
      <a:dk2>
        <a:srgbClr val="0076A8"/>
      </a:dk2>
      <a:lt2>
        <a:srgbClr val="ECF5F8"/>
      </a:lt2>
      <a:accent1>
        <a:srgbClr val="D78824"/>
      </a:accent1>
      <a:accent2>
        <a:srgbClr val="004B87"/>
      </a:accent2>
      <a:accent3>
        <a:srgbClr val="00A9E0"/>
      </a:accent3>
      <a:accent4>
        <a:srgbClr val="F2A900"/>
      </a:accent4>
      <a:accent5>
        <a:srgbClr val="B7302C"/>
      </a:accent5>
      <a:accent6>
        <a:srgbClr val="48A23F"/>
      </a:accent6>
      <a:hlink>
        <a:srgbClr val="0000FF"/>
      </a:hlink>
      <a:folHlink>
        <a:srgbClr val="800080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b="1" dirty="0" smtClean="0">
            <a:latin typeface="Arial" pitchFamily="34" charset="0"/>
            <a:cs typeface="Arial" pitchFamily="34" charset="0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>
          <a:solidFill>
            <a:schemeClr val="accent5">
              <a:lumMod val="75000"/>
            </a:schemeClr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sz="2000" dirty="0">
            <a:latin typeface="Arial" pitchFamily="34" charset="0"/>
            <a:cs typeface="Arial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mw_public.potx" id="{6373C024-208B-4210-B9D7-DE9E6D46232F}" vid="{0AAF3998-E945-49EA-AE21-DC9C55644A9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B33291C80D20540A94D9CFBF1780E8F" ma:contentTypeVersion="13" ma:contentTypeDescription="Create a new document." ma:contentTypeScope="" ma:versionID="ea852957fd6c321d0031210363d39d2f">
  <xsd:schema xmlns:xsd="http://www.w3.org/2001/XMLSchema" xmlns:xs="http://www.w3.org/2001/XMLSchema" xmlns:p="http://schemas.microsoft.com/office/2006/metadata/properties" xmlns:ns2="ee0baada-77a5-4611-8cd6-672a68aeea58" xmlns:ns3="a5c3e8b0-7608-49eb-a067-53f2827a6faf" targetNamespace="http://schemas.microsoft.com/office/2006/metadata/properties" ma:root="true" ma:fieldsID="b67f25532dd947fc47ece65e189d3bf4" ns2:_="" ns3:_="">
    <xsd:import namespace="ee0baada-77a5-4611-8cd6-672a68aeea58"/>
    <xsd:import namespace="a5c3e8b0-7608-49eb-a067-53f2827a6fa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DateTaken" minOccurs="0"/>
                <xsd:element ref="ns2:MediaServiceLocation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e0baada-77a5-4611-8cd6-672a68aeea5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5" nillable="true" ma:displayName="Location" ma:internalName="MediaServiceLocation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5c3e8b0-7608-49eb-a067-53f2827a6faf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187C06A9-FB6F-41BB-B794-5FB1A73B228A}">
  <ds:schemaRefs>
    <ds:schemaRef ds:uri="a5c3e8b0-7608-49eb-a067-53f2827a6faf"/>
    <ds:schemaRef ds:uri="ee0baada-77a5-4611-8cd6-672a68aeea58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3B61DF2E-245C-45DF-A9A5-EABECEA4295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3B851B7-D313-4E85-A1E0-5976CFE11EC3}">
  <ds:schemaRefs>
    <ds:schemaRef ds:uri="a5c3e8b0-7608-49eb-a067-53f2827a6faf"/>
    <ds:schemaRef ds:uri="ee0baada-77a5-4611-8cd6-672a68aeea58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blank</Template>
  <TotalTime>101</TotalTime>
  <Words>1245</Words>
  <Application>Microsoft Macintosh PowerPoint</Application>
  <PresentationFormat>Widescreen</PresentationFormat>
  <Paragraphs>279</Paragraphs>
  <Slides>16</Slides>
  <Notes>14</Notes>
  <HiddenSlides>1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Calibri</vt:lpstr>
      <vt:lpstr>Courier New</vt:lpstr>
      <vt:lpstr>Wingdings</vt:lpstr>
      <vt:lpstr>MW_Public_widescreen</vt:lpstr>
      <vt:lpstr>Proposed Design</vt:lpstr>
      <vt:lpstr>High Level API Summary</vt:lpstr>
      <vt:lpstr>API Details</vt:lpstr>
      <vt:lpstr>Reading a TOML File</vt:lpstr>
      <vt:lpstr>TOMLData</vt:lpstr>
      <vt:lpstr>Writing a TOML File</vt:lpstr>
      <vt:lpstr>Installing a package</vt:lpstr>
      <vt:lpstr>PackageSpecifier</vt:lpstr>
      <vt:lpstr>installPackage Name-Value Options</vt:lpstr>
      <vt:lpstr>Removing a package</vt:lpstr>
      <vt:lpstr>removePackage Name-Value Options</vt:lpstr>
      <vt:lpstr>List packages</vt:lpstr>
      <vt:lpstr>PowerPoint Presentation</vt:lpstr>
      <vt:lpstr>PowerPoint Presentation</vt:lpstr>
      <vt:lpstr>Searching packages in repositories</vt:lpstr>
      <vt:lpstr>Repository Management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Best Practices for Organizational Design Review Presentations</dc:title>
  <dc:subject/>
  <dc:creator>Nirja Mehta</dc:creator>
  <cp:keywords>Version 21.2</cp:keywords>
  <dc:description/>
  <cp:lastModifiedBy>Michelle Hirsch</cp:lastModifiedBy>
  <cp:revision>8</cp:revision>
  <dcterms:created xsi:type="dcterms:W3CDTF">2021-10-15T18:21:21Z</dcterms:created>
  <dcterms:modified xsi:type="dcterms:W3CDTF">2026-01-16T18:36:17Z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AdHocReviewCycleID">
    <vt:i4>441712758</vt:i4>
  </property>
  <property fmtid="{D5CDD505-2E9C-101B-9397-08002B2CF9AE}" pid="3" name="_NewReviewCycle">
    <vt:lpwstr/>
  </property>
  <property fmtid="{D5CDD505-2E9C-101B-9397-08002B2CF9AE}" pid="4" name="_EmailSubject">
    <vt:lpwstr>Quick PPT question</vt:lpwstr>
  </property>
  <property fmtid="{D5CDD505-2E9C-101B-9397-08002B2CF9AE}" pid="5" name="_AuthorEmail">
    <vt:lpwstr>Julie.Cornell@mathworks.com</vt:lpwstr>
  </property>
  <property fmtid="{D5CDD505-2E9C-101B-9397-08002B2CF9AE}" pid="6" name="_AuthorEmailDisplayName">
    <vt:lpwstr>Julie Cornell</vt:lpwstr>
  </property>
  <property fmtid="{D5CDD505-2E9C-101B-9397-08002B2CF9AE}" pid="7" name="ContentTypeId">
    <vt:lpwstr>0x0101003B33291C80D20540A94D9CFBF1780E8F</vt:lpwstr>
  </property>
  <property fmtid="{D5CDD505-2E9C-101B-9397-08002B2CF9AE}" pid="8" name="Order">
    <vt:r8>47491500</vt:r8>
  </property>
  <property fmtid="{D5CDD505-2E9C-101B-9397-08002B2CF9AE}" pid="9" name="xd_Signature">
    <vt:bool>false</vt:bool>
  </property>
  <property fmtid="{D5CDD505-2E9C-101B-9397-08002B2CF9AE}" pid="10" name="xd_ProgID">
    <vt:lpwstr/>
  </property>
  <property fmtid="{D5CDD505-2E9C-101B-9397-08002B2CF9AE}" pid="11" name="ComplianceAssetId">
    <vt:lpwstr/>
  </property>
  <property fmtid="{D5CDD505-2E9C-101B-9397-08002B2CF9AE}" pid="12" name="TemplateUrl">
    <vt:lpwstr/>
  </property>
</Properties>
</file>