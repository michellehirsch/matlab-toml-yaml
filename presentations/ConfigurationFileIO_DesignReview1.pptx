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341" r:id="rId5"/>
    <p:sldId id="343" r:id="rId6"/>
    <p:sldId id="276" r:id="rId7"/>
    <p:sldId id="345" r:id="rId8"/>
    <p:sldId id="346" r:id="rId9"/>
    <p:sldId id="356" r:id="rId10"/>
    <p:sldId id="358" r:id="rId11"/>
    <p:sldId id="344" r:id="rId12"/>
    <p:sldId id="350" r:id="rId13"/>
    <p:sldId id="357" r:id="rId14"/>
    <p:sldId id="355" r:id="rId15"/>
    <p:sldId id="288" r:id="rId16"/>
    <p:sldId id="293" r:id="rId17"/>
    <p:sldId id="354" r:id="rId18"/>
    <p:sldId id="292" r:id="rId19"/>
    <p:sldId id="295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 userDrawn="1">
          <p15:clr>
            <a:srgbClr val="A4A3A4"/>
          </p15:clr>
        </p15:guide>
        <p15:guide id="2" pos="221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5830D-16F3-DFFC-96BC-2F13F54A9960}" name="Nandini Sen" initials="NS" userId="S::nsen@mathworks.com::1eb59307-e418-4d42-8660-c8a76b2e6d80" providerId="AD"/>
  <p188:author id="{FB2483CC-9708-B07E-3E19-3754C1E19721}" name="John Booker" initials="JB" userId="S::jbooker@mathworks.com::6f49b1c6-d488-4c0f-97fd-9cdf97f6b40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400"/>
    <a:srgbClr val="228B22"/>
    <a:srgbClr val="A020F6"/>
    <a:srgbClr val="0000FF"/>
    <a:srgbClr val="636569"/>
    <a:srgbClr val="715091"/>
    <a:srgbClr val="176DAD"/>
    <a:srgbClr val="0D78C9"/>
    <a:srgbClr val="024C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78CE3-BB38-490A-8F3F-0AD936C4C8CA}" v="1" dt="2025-05-23T14:32:09.564"/>
    <p1510:client id="{21BD1D15-9772-8C89-0266-31454428197C}" v="2" dt="2025-05-23T14:42:18.4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2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5F993C83-2184-4286-ABE1-941A40B40C8F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F7603001-E0F2-47E5-A338-816CC267AF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57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>
              <a:defRPr sz="1200"/>
            </a:lvl1pPr>
          </a:lstStyle>
          <a:p>
            <a:fld id="{6053241F-7ED4-45AC-844C-15DB0D5F9CCD}" type="datetimeFigureOut">
              <a:rPr lang="en-US" smtClean="0"/>
              <a:pPr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8500"/>
            <a:ext cx="6207125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324" tIns="46662" rIns="93324" bIns="46662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2" y="8842029"/>
            <a:ext cx="3043343" cy="465455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>
              <a:defRPr sz="1200"/>
            </a:lvl1pPr>
          </a:lstStyle>
          <a:p>
            <a:fld id="{AD73B8C3-A209-4A55-9261-22C2A02B31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8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 of recent MDR - https://sharepoint.mathworks.com/dev/ltc/rme/Design/_layouts/15/WopiFrame.aspx?sourcedoc={C80CB5FC-9218-4036-908A-B56D878C5370}&amp;file=Live%20Editor%20ViewsNew.pptx&amp;action=default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29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71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54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721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55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25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73B8C3-A209-4A55-9261-22C2A02B31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1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 descr="bluemesh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4067" y="1287"/>
            <a:ext cx="12209092" cy="6856713"/>
          </a:xfrm>
          <a:prstGeom prst="rect">
            <a:avLst/>
          </a:prstGeom>
        </p:spPr>
      </p:pic>
      <p:sp>
        <p:nvSpPr>
          <p:cNvPr id="21" name="Title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3200" cy="1828800"/>
          </a:xfrm>
        </p:spPr>
        <p:txBody>
          <a:bodyPr/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Subtitle"/>
          <p:cNvSpPr>
            <a:spLocks noGrp="1"/>
          </p:cNvSpPr>
          <p:nvPr>
            <p:ph type="subTitle" idx="1"/>
          </p:nvPr>
        </p:nvSpPr>
        <p:spPr>
          <a:xfrm>
            <a:off x="914400" y="3203579"/>
            <a:ext cx="10363200" cy="987425"/>
          </a:xfrm>
        </p:spPr>
        <p:txBody>
          <a:bodyPr>
            <a:normAutofit/>
          </a:bodyPr>
          <a:lstStyle>
            <a:lvl1pPr marL="0" indent="0" algn="l">
              <a:buNone/>
              <a:defRPr sz="1604" b="0">
                <a:solidFill>
                  <a:schemeClr val="tx1"/>
                </a:solidFill>
              </a:defRPr>
            </a:lvl1pPr>
            <a:lvl2pPr marL="458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6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7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3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6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3" name="Copyright"/>
          <p:cNvSpPr txBox="1"/>
          <p:nvPr userDrawn="1"/>
        </p:nvSpPr>
        <p:spPr>
          <a:xfrm>
            <a:off x="10227052" y="6527632"/>
            <a:ext cx="2438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3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2021 The MathWorks, Inc.</a:t>
            </a:r>
          </a:p>
        </p:txBody>
      </p:sp>
      <p:cxnSp>
        <p:nvCxnSpPr>
          <p:cNvPr id="26" name="GrayLine"/>
          <p:cNvCxnSpPr/>
          <p:nvPr userDrawn="1"/>
        </p:nvCxnSpPr>
        <p:spPr>
          <a:xfrm>
            <a:off x="-4067" y="4376652"/>
            <a:ext cx="12209092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Logo" descr="09_MW_logo_CMYK_REV.pn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0330730" y="141139"/>
            <a:ext cx="1620665" cy="320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>
            <a:lvl1pPr>
              <a:buSzPct val="75000"/>
              <a:defRPr sz="2400"/>
            </a:lvl1pPr>
            <a:lvl2pPr>
              <a:lnSpc>
                <a:spcPct val="105000"/>
              </a:lnSpc>
              <a:defRPr sz="2000"/>
            </a:lvl2pPr>
            <a:lvl3pPr>
              <a:lnSpc>
                <a:spcPct val="105000"/>
              </a:lnSpc>
              <a:buSzPct val="75000"/>
              <a:defRPr sz="1604"/>
            </a:lvl3pPr>
            <a:lvl4pPr>
              <a:lnSpc>
                <a:spcPct val="105000"/>
              </a:lnSpc>
              <a:defRPr/>
            </a:lvl4pPr>
            <a:lvl5pPr>
              <a:lnSpc>
                <a:spcPct val="105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457200"/>
            <a:ext cx="9448800" cy="990600"/>
          </a:xfrm>
        </p:spPr>
        <p:txBody>
          <a:bodyPr anchor="t" anchorCtr="0"/>
          <a:lstStyle>
            <a:lvl1pPr algn="l">
              <a:defRPr sz="2800" b="0" i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"/>
          <p:cNvSpPr>
            <a:spLocks noGrp="1"/>
          </p:cNvSpPr>
          <p:nvPr>
            <p:ph sz="half" idx="10" hasCustomPrompt="1"/>
          </p:nvPr>
        </p:nvSpPr>
        <p:spPr>
          <a:xfrm>
            <a:off x="609601" y="2819400"/>
            <a:ext cx="5080001" cy="3200400"/>
          </a:xfrm>
        </p:spPr>
        <p:txBody>
          <a:bodyPr/>
          <a:lstStyle>
            <a:lvl1pPr>
              <a:buClr>
                <a:srgbClr val="125687"/>
              </a:buClr>
              <a:buSzTx/>
              <a:defRPr sz="1800" baseline="0"/>
            </a:lvl1pPr>
            <a:lvl2pPr>
              <a:defRPr sz="1604"/>
            </a:lvl2pPr>
            <a:lvl3pPr>
              <a:buNone/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>
              <a:buClr>
                <a:srgbClr val="125687"/>
              </a:buClr>
              <a:buSzTx/>
            </a:pPr>
            <a:r>
              <a:rPr lang="en-US"/>
              <a:t>Click to add b</a:t>
            </a:r>
            <a:r>
              <a:rPr lang="en-US" sz="1805">
                <a:solidFill>
                  <a:prstClr val="black"/>
                </a:solidFill>
              </a:rPr>
              <a:t>rief summary and benefits of feature (ideally three bullets)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Headline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600200"/>
            <a:ext cx="5080001" cy="838200"/>
          </a:xfrm>
        </p:spPr>
        <p:txBody>
          <a:bodyPr anchor="t"/>
          <a:lstStyle>
            <a:lvl1pPr marL="0" indent="0" algn="l">
              <a:buNone/>
              <a:defRPr sz="2000" b="0" i="0" baseline="0"/>
            </a:lvl1pPr>
          </a:lstStyle>
          <a:p>
            <a:pPr lvl="0"/>
            <a:r>
              <a:rPr lang="en-US"/>
              <a:t>Click to add headline</a:t>
            </a:r>
            <a:r>
              <a:rPr lang="en-US" sz="2005" b="1">
                <a:solidFill>
                  <a:prstClr val="black"/>
                </a:solidFill>
              </a:rPr>
              <a:t> providing value of feature</a:t>
            </a:r>
            <a:endParaRPr lang="en-US"/>
          </a:p>
        </p:txBody>
      </p:sp>
      <p:sp>
        <p:nvSpPr>
          <p:cNvPr id="14" name="ProductName"/>
          <p:cNvSpPr>
            <a:spLocks noGrp="1"/>
          </p:cNvSpPr>
          <p:nvPr>
            <p:ph type="body" sz="half" idx="12" hasCustomPrompt="1"/>
          </p:nvPr>
        </p:nvSpPr>
        <p:spPr>
          <a:xfrm>
            <a:off x="609602" y="6172200"/>
            <a:ext cx="5473700" cy="533400"/>
          </a:xfrm>
        </p:spPr>
        <p:txBody>
          <a:bodyPr anchor="b" anchorCtr="0"/>
          <a:lstStyle>
            <a:lvl1pPr marL="230761" indent="-229170">
              <a:buClrTx/>
              <a:buSzPct val="125000"/>
              <a:buFont typeface="Courier New" pitchFamily="49" charset="0"/>
              <a:buChar char="»"/>
              <a:defRPr sz="1604" b="0">
                <a:latin typeface="Courier New" pitchFamily="49" charset="0"/>
                <a:cs typeface="Courier New" pitchFamily="49" charset="0"/>
              </a:defRPr>
            </a:lvl1pPr>
          </a:lstStyle>
          <a:p>
            <a:pPr lvl="0"/>
            <a:r>
              <a:rPr lang="en-US"/>
              <a:t>Click to add </a:t>
            </a:r>
            <a:r>
              <a:rPr lang="en-US" sz="1604" err="1">
                <a:latin typeface="Courier New" pitchFamily="49" charset="0"/>
                <a:cs typeface="Courier New" pitchFamily="49" charset="0"/>
              </a:rPr>
              <a:t>product_example_name</a:t>
            </a:r>
            <a:r>
              <a:rPr lang="en-US" sz="1604">
                <a:latin typeface="Courier New" pitchFamily="49" charset="0"/>
                <a:cs typeface="Courier New" pitchFamily="49" charset="0"/>
              </a:rPr>
              <a:t>.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963084" y="1914529"/>
            <a:ext cx="10363200" cy="1362075"/>
          </a:xfrm>
        </p:spPr>
        <p:txBody>
          <a:bodyPr anchor="t"/>
          <a:lstStyle>
            <a:lvl1pPr algn="ctr">
              <a:defRPr sz="3200" b="0" cap="none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Section Header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LeftContent"/>
          <p:cNvSpPr>
            <a:spLocks noGrp="1"/>
          </p:cNvSpPr>
          <p:nvPr>
            <p:ph sz="half" idx="1"/>
          </p:nvPr>
        </p:nvSpPr>
        <p:spPr>
          <a:xfrm>
            <a:off x="609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ightContent"/>
          <p:cNvSpPr>
            <a:spLocks noGrp="1"/>
          </p:cNvSpPr>
          <p:nvPr>
            <p:ph sz="half" idx="2"/>
          </p:nvPr>
        </p:nvSpPr>
        <p:spPr>
          <a:xfrm>
            <a:off x="6197602" y="1600200"/>
            <a:ext cx="5181600" cy="46481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4"/>
            </a:lvl3pPr>
            <a:lvl4pPr>
              <a:defRPr sz="1805"/>
            </a:lvl4pPr>
            <a:lvl5pPr>
              <a:defRPr sz="1805"/>
            </a:lvl5pPr>
            <a:lvl6pPr>
              <a:defRPr sz="1805"/>
            </a:lvl6pPr>
            <a:lvl7pPr>
              <a:defRPr sz="1805"/>
            </a:lvl7pPr>
            <a:lvl8pPr>
              <a:defRPr sz="1805"/>
            </a:lvl8pPr>
            <a:lvl9pPr>
              <a:defRPr sz="18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"/>
          <p:cNvSpPr txBox="1">
            <a:spLocks noChangeArrowheads="1"/>
          </p:cNvSpPr>
          <p:nvPr userDrawn="1"/>
        </p:nvSpPr>
        <p:spPr bwMode="auto">
          <a:xfrm>
            <a:off x="607484" y="1600200"/>
            <a:ext cx="10765536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Edit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in Slide Master view to e</a:t>
            </a:r>
            <a:r>
              <a:rPr lang="en-US" sz="2400">
                <a:latin typeface="Arial" pitchFamily="34" charset="0"/>
                <a:cs typeface="Arial" pitchFamily="34" charset="0"/>
              </a:rPr>
              <a:t>nter agenda items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 2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>
                <a:latin typeface="Arial" pitchFamily="34" charset="0"/>
                <a:cs typeface="Arial" pitchFamily="34" charset="0"/>
              </a:rPr>
              <a:t>Bullet</a:t>
            </a:r>
            <a:r>
              <a:rPr lang="en-US" sz="2400" baseline="0">
                <a:latin typeface="Arial" pitchFamily="34" charset="0"/>
                <a:cs typeface="Arial" pitchFamily="34" charset="0"/>
              </a:rPr>
              <a:t> 3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r>
              <a:rPr lang="en-US" sz="2400" baseline="0">
                <a:latin typeface="Arial" pitchFamily="34" charset="0"/>
                <a:cs typeface="Arial" pitchFamily="34" charset="0"/>
              </a:rPr>
              <a:t>Bullet 4</a:t>
            </a:r>
          </a:p>
          <a:p>
            <a:pPr marL="342164" lvl="0" indent="-342164">
              <a:buClr>
                <a:schemeClr val="tx2"/>
              </a:buClr>
              <a:buSzPct val="75000"/>
              <a:buFont typeface="Wingdings" pitchFamily="2" charset="2"/>
              <a:buChar char="§"/>
              <a:tabLst>
                <a:tab pos="458340" algn="l"/>
              </a:tabLst>
            </a:pPr>
            <a:endParaRPr lang="en-US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"/>
          <p:cNvSpPr txBox="1">
            <a:spLocks noChangeArrowheads="1"/>
          </p:cNvSpPr>
          <p:nvPr userDrawn="1"/>
        </p:nvSpPr>
        <p:spPr bwMode="auto">
          <a:xfrm>
            <a:off x="607484" y="464695"/>
            <a:ext cx="10765536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marL="0" marR="0" indent="0" algn="l" defTabSz="9166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Edit in Slide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Master view to e</a:t>
            </a:r>
            <a:r>
              <a:rPr lang="en-US" sz="2800" b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nter agenda</a:t>
            </a:r>
            <a:r>
              <a:rPr lang="en-US" sz="2800" b="0" baseline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title</a:t>
            </a:r>
            <a:endParaRPr lang="en-US" sz="2800" b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09602" y="457200"/>
            <a:ext cx="10769600" cy="9906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609602" y="1600200"/>
            <a:ext cx="10769600" cy="4648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SlideNumber"/>
          <p:cNvSpPr/>
          <p:nvPr/>
        </p:nvSpPr>
        <p:spPr>
          <a:xfrm>
            <a:off x="11582400" y="6484954"/>
            <a:ext cx="609600" cy="381001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algn="ctr"/>
            <a:fld id="{47FBD1EF-0801-4063-B668-C71608ACC70F}" type="slidenum">
              <a:rPr kumimoji="0" lang="en-US" sz="1203" b="1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pPr algn="ctr"/>
              <a:t>‹#›</a:t>
            </a:fld>
            <a:endParaRPr lang="en-US" sz="1203" b="1">
              <a:solidFill>
                <a:schemeClr val="tx2"/>
              </a:solidFill>
            </a:endParaRPr>
          </a:p>
        </p:txBody>
      </p:sp>
      <p:pic>
        <p:nvPicPr>
          <p:cNvPr id="12" name="Logo" descr="logo647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679339" y="23675"/>
            <a:ext cx="1327516" cy="3602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Line"/>
          <p:cNvCxnSpPr/>
          <p:nvPr/>
        </p:nvCxnSpPr>
        <p:spPr>
          <a:xfrm rot="10800000" flipV="1">
            <a:off x="229170" y="176521"/>
            <a:ext cx="10297392" cy="211602"/>
          </a:xfrm>
          <a:prstGeom prst="bentConnector3">
            <a:avLst>
              <a:gd name="adj1" fmla="val 100013"/>
            </a:avLst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9" r:id="rId4"/>
    <p:sldLayoutId id="2147483663" r:id="rId5"/>
    <p:sldLayoutId id="2147483651" r:id="rId6"/>
    <p:sldLayoutId id="2147483652" r:id="rId7"/>
    <p:sldLayoutId id="2147483664" r:id="rId8"/>
  </p:sldLayoutIdLst>
  <p:hf hdr="0" ftr="0" dt="0"/>
  <p:txStyles>
    <p:titleStyle>
      <a:lvl1pPr algn="l" defTabSz="916680" rtl="0" eaLnBrk="1" latinLnBrk="0" hangingPunct="1">
        <a:spcBef>
          <a:spcPct val="0"/>
        </a:spcBef>
        <a:buNone/>
        <a:defRPr sz="2800" b="0" kern="1200">
          <a:solidFill>
            <a:schemeClr val="tx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3755" indent="-343755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4802" indent="-286462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5850" indent="-229170" algn="l" defTabSz="916680" rtl="0" eaLnBrk="1" latinLnBrk="0" hangingPunct="1">
        <a:spcBef>
          <a:spcPct val="20000"/>
        </a:spcBef>
        <a:buClr>
          <a:schemeClr val="tx2"/>
        </a:buClr>
        <a:buSzPct val="75000"/>
        <a:buFont typeface="Wingdings" pitchFamily="2" charset="2"/>
        <a:buChar char="§"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4190" indent="-229170" algn="l" defTabSz="916680" rtl="0" eaLnBrk="1" latinLnBrk="0" hangingPunct="1">
        <a:spcBef>
          <a:spcPct val="20000"/>
        </a:spcBef>
        <a:buFont typeface="Arial" pitchFamily="34" charset="0"/>
        <a:buNone/>
        <a:defRPr sz="16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62531" indent="-229170" algn="l" defTabSz="91668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404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2087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6pPr>
      <a:lvl7pPr marL="297921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7pPr>
      <a:lvl8pPr marL="343755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8pPr>
      <a:lvl9pPr marL="3895891" indent="-229170" algn="l" defTabSz="916680" rtl="0" eaLnBrk="1" latinLnBrk="0" hangingPunct="1">
        <a:spcBef>
          <a:spcPct val="20000"/>
        </a:spcBef>
        <a:buFont typeface="Arial" pitchFamily="34" charset="0"/>
        <a:buChar char="•"/>
        <a:defRPr sz="2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1pPr>
      <a:lvl2pPr marL="45834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2pPr>
      <a:lvl3pPr marL="91668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3pPr>
      <a:lvl4pPr marL="1375020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4pPr>
      <a:lvl5pPr marL="183336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5pPr>
      <a:lvl6pPr marL="229170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6pPr>
      <a:lvl7pPr marL="275004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7pPr>
      <a:lvl8pPr marL="320838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8pPr>
      <a:lvl9pPr marL="3666721" algn="l" defTabSz="916680" rtl="0" eaLnBrk="1" latinLnBrk="0" hangingPunct="1">
        <a:defRPr sz="18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hyperlink" Target="https://sharepoint.mathworks.com/dev/devu/RFAINcommunity/RFResourceCenter/requirements/DRF_DeVMAPPS/_layouts/15/WopiFrame.aspx?sourcedoc=%7b0BBFA5EC-38D2-4B10-8A2C-9D6F97FA58C5%7d&amp;file=User%20Data%20Sources%20v3.docx&amp;action=defaul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rPr i="1"/>
              <a:t>Configuration File I/O Toolbox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1600" i="1">
                <a:solidFill>
                  <a:schemeClr val="bg1"/>
                </a:solidFill>
                <a:latin typeface="Arial"/>
              </a:rPr>
              <a:t>Michelle Hirsch</a:t>
            </a:r>
            <a:endParaRPr lang="en-US" sz="1600" i="1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sz="1600" i="1">
                <a:solidFill>
                  <a:schemeClr val="bg1"/>
                </a:solidFill>
                <a:latin typeface="Arial"/>
              </a:rPr>
              <a:t>January 15, 2026</a:t>
            </a:r>
          </a:p>
          <a:p>
            <a:pPr marL="0" indent="0">
              <a:buNone/>
            </a:pPr>
            <a:r>
              <a:rPr sz="1600" i="1">
                <a:solidFill>
                  <a:schemeClr val="bg1"/>
                </a:solidFill>
                <a:latin typeface="Arial"/>
              </a:rPr>
              <a:t>Design Review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Agenda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Meeting Goals</a:t>
            </a:r>
          </a:p>
          <a:p>
            <a:pPr marL="0" indent="0">
              <a:buNone/>
            </a:pPr>
            <a:r>
              <a:t>Design Goals and Direction</a:t>
            </a:r>
          </a:p>
          <a:p>
            <a:pPr marL="0" indent="0">
              <a:buNone/>
            </a:pPr>
            <a:r>
              <a:t>Design Proposal</a:t>
            </a:r>
          </a:p>
          <a:p>
            <a:pPr marL="0" indent="0">
              <a:buNone/>
            </a:pPr>
            <a:r>
              <a:t>Alternatives Considered</a:t>
            </a:r>
          </a:p>
          <a:p>
            <a:pPr marL="0" indent="0">
              <a:buNone/>
            </a:pPr>
            <a:r>
              <a:t>Summary and Next Steps</a:t>
            </a:r>
          </a:p>
        </p:txBody>
      </p:sp>
      <p:sp>
        <p:nvSpPr>
          <p:cNvPr id="5" name="Rectangle: Folded Corner 4"/>
          <p:cNvSpPr/>
          <p:nvPr/>
        </p:nvSpPr>
        <p:spPr>
          <a:xfrm rot="166620">
            <a:off x="7165613" y="171880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9617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What is the goal of today's meeting?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t>This is a design review for the Configuration File I/O Toolbox</a:t>
            </a:r>
            <a:endParaRPr lang="en-US"/>
          </a:p>
          <a:p>
            <a:pPr marL="365760" indent="-182880" algn="l">
              <a:buChar char="•"/>
            </a:pPr>
            <a:r>
              <a:t>Goal: Obtain feedback on proposed API design and class architecture</a:t>
            </a:r>
          </a:p>
          <a:p>
            <a:pPr marL="365760" indent="-182880" algn="l">
              <a:buChar char="•"/>
            </a:pPr>
            <a:r>
              <a:t>Goal: Validate design decisions for value class semantics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Feedback requested on:</a:t>
            </a:r>
          </a:p>
          <a:p>
            <a:pPr marL="365760" indent="-182880" algn="l">
              <a:buChar char="•"/>
            </a:pPr>
            <a:r>
              <a:t>Function naming and argument conventions</a:t>
            </a:r>
          </a:p>
          <a:p>
            <a:pPr marL="365760" indent="-182880" algn="l">
              <a:buChar char="•"/>
            </a:pPr>
            <a:r>
              <a:t>ConfigurationData class design and value semantics</a:t>
            </a:r>
          </a:p>
          <a:p>
            <a:pPr marL="365760" indent="-182880" algn="l">
              <a:buChar char="•"/>
            </a:pPr>
            <a:r>
              <a:t>Handling of special characters in keys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4E89F91A-08D2-46E0-9631-461EDA96AD7D}"/>
              </a:ext>
            </a:extLst>
          </p:cNvPr>
          <p:cNvSpPr/>
          <p:nvPr/>
        </p:nvSpPr>
        <p:spPr>
          <a:xfrm rot="166620">
            <a:off x="7053528" y="1311278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4214831-C6F3-480B-A690-B531AD9DE970}"/>
              </a:ext>
            </a:extLst>
          </p:cNvPr>
          <p:cNvSpPr/>
          <p:nvPr/>
        </p:nvSpPr>
        <p:spPr>
          <a:xfrm rot="166620">
            <a:off x="6977328" y="3199764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3363" indent="-233363">
              <a:buFont typeface="+mj-lt"/>
              <a:buAutoNum type="arabicPeriod" startAt="2"/>
            </a:pPr>
            <a:endParaRPr lang="en-US" sz="16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94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Goals and Direction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707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39F-88B9-4C73-BC12-036A310D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0769600" cy="4648200"/>
          </a:xfrm>
        </p:spPr>
        <p:txBody>
          <a:bodyPr/>
          <a:lstStyle/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CD2460-0412-424D-997F-D4CC78D5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Who are our users?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9F6235EB-F70B-4A02-8538-724E355DE3D2}"/>
              </a:ext>
            </a:extLst>
          </p:cNvPr>
          <p:cNvSpPr/>
          <p:nvPr/>
        </p:nvSpPr>
        <p:spPr>
          <a:xfrm rot="166620">
            <a:off x="7477147" y="455389"/>
            <a:ext cx="3475897" cy="36290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indent="-182880" algn="l">
              <a:buChar char="•"/>
            </a:pPr>
            <a:r>
              <a:t>Platform Engineers managing CI/CD pipelines with MATLAB (GitHub Actions, Docker)</a:t>
            </a:r>
            <a:endParaRPr lang="en-US" sz="160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MATLAB developers working in Python/MATLAB interop environments (pyproject.toml)</a:t>
            </a:r>
          </a:p>
          <a:p>
            <a:pPr marL="365760" indent="-182880" algn="l">
              <a:buChar char="•"/>
            </a:pPr>
            <a:r>
              <a:t>Application developers needing human-readable configuration management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4CC18DD2-B593-4979-AEF8-932098794DF6}"/>
              </a:ext>
            </a:extLst>
          </p:cNvPr>
          <p:cNvSpPr/>
          <p:nvPr/>
        </p:nvSpPr>
        <p:spPr>
          <a:xfrm rot="166620">
            <a:off x="7751316" y="4650940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9D742758-6A98-4DBE-8222-E2D1C9FF93BA}"/>
              </a:ext>
            </a:extLst>
          </p:cNvPr>
          <p:cNvSpPr/>
          <p:nvPr/>
        </p:nvSpPr>
        <p:spPr>
          <a:xfrm rot="166620">
            <a:off x="4255093" y="4463126"/>
            <a:ext cx="3478617" cy="189414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611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Requirements Summary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/>
              <a:t>Must Have:</a:t>
            </a:r>
          </a:p>
          <a:p>
            <a:pPr marL="365760" indent="-182880" algn="l">
              <a:buChar char="•"/>
            </a:pPr>
            <a:r>
              <a:t>Read and write YAML, TOML, and INI files</a:t>
            </a:r>
          </a:p>
          <a:p>
            <a:pPr marL="365760" indent="-182880" algn="l">
              <a:buChar char="•"/>
            </a:pPr>
            <a:r>
              <a:t>Natural dot notation access: config.database.host</a:t>
            </a:r>
          </a:p>
          <a:p>
            <a:pPr marL="365760" indent="-182880" algn="l">
              <a:buChar char="•"/>
            </a:pPr>
            <a:r>
              <a:t>Support special characters in keys: config.("build-system")</a:t>
            </a:r>
          </a:p>
          <a:p>
            <a:pPr marL="365760" indent="-182880" algn="l">
              <a:buChar char="•"/>
            </a:pPr>
            <a:r>
              <a:t>Value class semantics for intuitive MATLAB behavior</a:t>
            </a:r>
          </a:p>
          <a:p>
            <a:pPr marL="365760" indent="-182880" algn="l">
              <a:buChar char="•"/>
            </a:pPr>
            <a:r>
              <a:t>Preserve data fidelity through read-modify-write cycles</a:t>
            </a:r>
          </a:p>
          <a:p>
            <a:pPr marL="365760" indent="-182880" algn="l">
              <a:buChar char="•"/>
            </a:pPr>
            <a:r>
              <a:t>No external dependencies (pure MATLAB)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02B95A2C-30CA-4CDE-BF22-C5DCD3172DF3}"/>
              </a:ext>
            </a:extLst>
          </p:cNvPr>
          <p:cNvSpPr/>
          <p:nvPr/>
        </p:nvSpPr>
        <p:spPr>
          <a:xfrm rot="166620">
            <a:off x="7872114" y="1297083"/>
            <a:ext cx="3475897" cy="2131094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889FDE37-07D1-4A04-9EE8-3CDDD3454499}"/>
              </a:ext>
            </a:extLst>
          </p:cNvPr>
          <p:cNvSpPr/>
          <p:nvPr/>
        </p:nvSpPr>
        <p:spPr>
          <a:xfrm rot="166620">
            <a:off x="7725069" y="3509219"/>
            <a:ext cx="3432357" cy="281951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79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073DE-9DF9-4CEE-E285-2A9486E6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F353-38E0-18F7-17CE-04F4E0AF5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38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420CB-E572-471C-A1E8-BD906F819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Proposal and Assessment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9928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Walkthrough: Reading YAML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t>% Read YAML file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t>config = readyaml("github-workflow.yaml");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Dot notation access</a:t>
            </a:r>
          </a:p>
          <a:p>
            <a:pPr marL="0" indent="0">
              <a:buNone/>
            </a:pPr>
            <a:r>
              <a:t>workflowName = config.name;  % "CI"</a:t>
            </a:r>
          </a:p>
          <a:p>
            <a:pPr marL="0" indent="0">
              <a:buNone/>
            </a:pPr>
            <a:r>
              <a:t>branches = config.on.push.branches;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Arrays of mappings</a:t>
            </a:r>
          </a:p>
          <a:p>
            <a:pPr marL="0" indent="0">
              <a:buNone/>
            </a:pPr>
            <a:r>
              <a:t>stepName = config.jobs.build.steps(1).name;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Special characters</a:t>
            </a:r>
          </a:p>
          <a:p>
            <a:pPr marL="0" indent="0">
              <a:buNone/>
            </a:pPr>
            <a:r>
              <a:t>runCommand = config.jobs.build.("runs-on");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rId4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7971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Class Hierarchy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>
              <a:buNone/>
            </a:pPr>
            <a:r>
              <a:t>ConfigurationData (abstract base - value class)</a:t>
            </a:r>
            <a:endParaRPr lang="en-US" sz="1600" dirty="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├── YAMLData — YAML-specific features</a:t>
            </a:r>
          </a:p>
          <a:p>
            <a:pPr marL="365760" indent="-182880" algn="l">
              <a:buChar char="•"/>
            </a:pPr>
            <a:r>
              <a:t>├── TOMLData — TOML-specific features</a:t>
            </a:r>
          </a:p>
          <a:p>
            <a:pPr marL="365760" indent="-182880" algn="l">
              <a:buChar char="•"/>
            </a:pPr>
            <a:r>
              <a:t>└── INIData — INI-specific features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All support:</a:t>
            </a:r>
          </a:p>
          <a:p>
            <a:pPr marL="365760" indent="-182880" algn="l">
              <a:buChar char="•"/>
            </a:pPr>
            <a:r>
              <a:t>keys, isfield, show, struct, copy</a:t>
            </a:r>
          </a:p>
          <a:p>
            <a:pPr marL="365760" indent="-182880" algn="l">
              <a:buChar char="•"/>
            </a:pPr>
            <a:r>
              <a:t>Dot notation and special character access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96022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09D44-79E3-4BAD-A689-860F14476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Benchmarks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2F31FF2-7DB7-4FDB-AA2A-11E49F213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600200"/>
            <a:ext cx="10769600" cy="4648200"/>
          </a:xfrm>
        </p:spPr>
        <p:txBody>
          <a:bodyPr/>
          <a:lstStyle/>
          <a:p>
            <a:endParaRPr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DC0235DA-3E60-4EE3-A544-458767827391}"/>
              </a:ext>
            </a:extLst>
          </p:cNvPr>
          <p:cNvSpPr/>
          <p:nvPr/>
        </p:nvSpPr>
        <p:spPr>
          <a:xfrm rot="166620">
            <a:off x="7227472" y="470953"/>
            <a:ext cx="3856505" cy="590881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b="1"/>
              <a:t>MATLAB native support:</a:t>
            </a:r>
          </a:p>
          <a:p>
            <a:pPr marL="365760" indent="-182880" algn="l">
              <a:buChar char="•"/>
            </a:pPr>
            <a:r>
              <a:t>readstruct / writestruct — JSON, XML (no YAML/TOML)</a:t>
            </a:r>
          </a:p>
          <a:p>
            <a:pPr marL="365760" indent="-182880" algn="l">
              <a:buChar char="•"/>
            </a:pPr>
            <a:r>
              <a:t>jsondecode / jsonencode — JSON only, no file I/O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External solutions:</a:t>
            </a:r>
          </a:p>
          <a:p>
            <a:pPr marL="365760" indent="-182880" algn="l">
              <a:buChar char="•"/>
            </a:pPr>
            <a:r>
              <a:t>File Exchange YAML parsers — Handle classes, inconsistent quality</a:t>
            </a:r>
          </a:p>
          <a:p>
            <a:pPr marL="365760" indent="-182880" algn="l">
              <a:buChar char="•"/>
            </a:pPr>
            <a:r>
              <a:t>Java SnakeYAML — Complex, non-idiomatic MATLAB</a:t>
            </a:r>
          </a:p>
          <a:p>
            <a:pPr marL="365760" indent="-182880" algn="l">
              <a:buChar char="•"/>
            </a:pPr>
            <a:r>
              <a:t>Python interop — Requires Python, context switching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9CE50-F382-6A80-300D-6959DD3C261D}"/>
              </a:ext>
            </a:extLst>
          </p:cNvPr>
          <p:cNvSpPr txBox="1"/>
          <p:nvPr/>
        </p:nvSpPr>
        <p:spPr>
          <a:xfrm>
            <a:off x="4724400" y="3200400"/>
            <a:ext cx="27432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66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Alternative 1: containers.Map vs dictionary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Use containers.Map instead of dictionary for internal storage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PROS</a:t>
            </a:r>
          </a:p>
          <a:p>
            <a:pPr marL="365760" indent="-182880" algn="l">
              <a:buChar char="•"/>
            </a:pPr>
            <a:r>
              <a:t>Works with older MATLAB versions</a:t>
            </a:r>
          </a:p>
          <a:p>
            <a:pPr marL="365760" indent="-182880" algn="l">
              <a:buChar char="•"/>
            </a:pPr>
            <a:r>
              <a:t>Well-understood API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CONS</a:t>
            </a:r>
          </a:p>
          <a:p>
            <a:pPr marL="365760" indent="-182880" algn="l">
              <a:buChar char="•"/>
            </a:pPr>
            <a:r>
              <a:t>containers.Map is handle class — propagates handle semantics</a:t>
            </a:r>
          </a:p>
          <a:p>
            <a:pPr marL="365760" indent="-182880" algn="l">
              <a:buChar char="•"/>
            </a:pPr>
            <a:r>
              <a:t>Requires explicit deep copy implementation</a:t>
            </a:r>
          </a:p>
          <a:p>
            <a:pPr marL="365760" indent="-182880" algn="l">
              <a:buChar char="•"/>
            </a:pPr>
            <a:r>
              <a:t>dictionary is the modern MATLAB approach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BBB66951-48AA-44ED-892D-565D62EB61A1}"/>
              </a:ext>
            </a:extLst>
          </p:cNvPr>
          <p:cNvSpPr/>
          <p:nvPr/>
        </p:nvSpPr>
        <p:spPr>
          <a:xfrm rot="166620">
            <a:off x="7608646" y="1274983"/>
            <a:ext cx="347589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AE720B3-D9FA-4A20-988D-173561DB8880}"/>
              </a:ext>
            </a:extLst>
          </p:cNvPr>
          <p:cNvSpPr/>
          <p:nvPr/>
        </p:nvSpPr>
        <p:spPr>
          <a:xfrm rot="166620">
            <a:off x="7608672" y="3312179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74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Alternative 2: dynamicprops Instead of RedefinesDot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Use dynamicprops mixin to create properties at runtime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PROS</a:t>
            </a:r>
          </a:p>
          <a:p>
            <a:pPr marL="365760" indent="-182880" algn="l">
              <a:buChar char="•"/>
            </a:pPr>
            <a:r>
              <a:t>Array indexing works naturally</a:t>
            </a:r>
          </a:p>
          <a:p>
            <a:pPr marL="365760" indent="-182880" algn="l">
              <a:buChar char="•"/>
            </a:pPr>
            <a:r>
              <a:t>Simpler implementation</a:t>
            </a:r>
          </a:p>
          <a:p>
            <a:pPr marL="365760" indent="-182880" algn="l">
              <a:buChar char="•"/>
            </a:pPr>
            <a:r>
              <a:t>Better performance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CONS</a:t>
            </a:r>
          </a:p>
          <a:p>
            <a:pPr marL="365760" indent="-182880" algn="l">
              <a:buChar char="•"/>
            </a:pPr>
            <a:r>
              <a:t>Cannot handle special characters (build-system fails)</a:t>
            </a:r>
          </a:p>
          <a:p>
            <a:pPr marL="365760" indent="-182880" algn="l">
              <a:buChar char="•"/>
            </a:pPr>
            <a:r>
              <a:t>Loses key ordering (properties() sorts alphabetically)</a:t>
            </a:r>
          </a:p>
          <a:p>
            <a:pPr marL="365760" indent="-182880" algn="l">
              <a:buChar char="•"/>
            </a:pPr>
            <a:r>
              <a:t>Heterogeneous arrays fail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A31BAA-3181-48BF-90C9-001C23995928}"/>
              </a:ext>
            </a:extLst>
          </p:cNvPr>
          <p:cNvSpPr/>
          <p:nvPr/>
        </p:nvSpPr>
        <p:spPr>
          <a:xfrm rot="166620">
            <a:off x="7510728" y="1834651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083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Pros and Cons of Design Alternatives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898D8FB5-4E11-460F-9810-069AFEA8141B}"/>
              </a:ext>
            </a:extLst>
          </p:cNvPr>
          <p:cNvSpPr/>
          <p:nvPr/>
        </p:nvSpPr>
        <p:spPr>
          <a:xfrm rot="166620">
            <a:off x="7302715" y="453510"/>
            <a:ext cx="3432357" cy="4044933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>
              <a:buNone/>
            </a:pPr>
            <a:r>
              <a:rPr b="1"/>
              <a:t>Proposed: dictionary + RedefinesDot</a:t>
            </a:r>
            <a:endParaRPr lang="en-US" sz="1400" dirty="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✓ Value semantics without complex copy logic</a:t>
            </a:r>
          </a:p>
          <a:p>
            <a:pPr marL="365760" indent="-182880" algn="l">
              <a:buChar char="•"/>
            </a:pPr>
            <a:r>
              <a:t>✓ Handles special characters in keys</a:t>
            </a:r>
          </a:p>
          <a:p>
            <a:pPr marL="365760" indent="-182880" algn="l">
              <a:buChar char="•"/>
            </a:pPr>
            <a:r>
              <a:t>✓ Preserves key ordering</a:t>
            </a:r>
          </a:p>
          <a:p>
            <a:pPr marL="365760" indent="-182880" algn="l">
              <a:buChar char="•"/>
            </a:pPr>
            <a:r>
              <a:t>✗ Requires R2022b+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Special characters in keys are essential for TOML/YAML (build-system, runs-on, etc.)</a:t>
            </a:r>
          </a:p>
        </p:txBody>
      </p:sp>
    </p:spTree>
    <p:extLst>
      <p:ext uri="{BB962C8B-B14F-4D97-AF65-F5344CB8AC3E}">
        <p14:creationId xmlns:p14="http://schemas.microsoft.com/office/powerpoint/2010/main" val="3681204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Proposal Summary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DEBFF021-BEFC-4C16-BA5C-7F173B6B64EF}"/>
              </a:ext>
            </a:extLst>
          </p:cNvPr>
          <p:cNvSpPr/>
          <p:nvPr/>
        </p:nvSpPr>
        <p:spPr>
          <a:xfrm rot="166620">
            <a:off x="7436440" y="19880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indent="-182880" algn="l">
              <a:buChar char="•"/>
            </a:pPr>
            <a:r>
              <a:t>Unified read&lt;format&gt;/write&lt;format&gt; API</a:t>
            </a:r>
            <a:endParaRPr lang="en-US" sz="160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ConfigurationData value class</a:t>
            </a:r>
          </a:p>
          <a:p>
            <a:pPr marL="731520" lvl="1" indent="-182880" algn="l">
              <a:buChar char="•"/>
            </a:pPr>
            <a:r>
              <a:t>Dot notation + special characters</a:t>
            </a:r>
          </a:p>
          <a:p>
            <a:pPr marL="365760" indent="-182880" algn="l">
              <a:buChar char="•"/>
            </a:pPr>
            <a:r>
              <a:t>Smart array type conversion</a:t>
            </a:r>
          </a:p>
          <a:p>
            <a:pPr marL="365760" indent="-182880" algn="l">
              <a:buChar char="•"/>
            </a:pPr>
            <a:r>
              <a:t>Pure MATLAB, R2022b+</a:t>
            </a:r>
          </a:p>
        </p:txBody>
      </p:sp>
    </p:spTree>
    <p:extLst>
      <p:ext uri="{BB962C8B-B14F-4D97-AF65-F5344CB8AC3E}">
        <p14:creationId xmlns:p14="http://schemas.microsoft.com/office/powerpoint/2010/main" val="3077182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F1DE-AC91-4C67-93D2-306B4DB9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Feedback Requested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B73F323-0776-4D9F-AD79-8004F19C7F48}"/>
              </a:ext>
            </a:extLst>
          </p:cNvPr>
          <p:cNvSpPr/>
          <p:nvPr/>
        </p:nvSpPr>
        <p:spPr>
          <a:xfrm rot="166620">
            <a:off x="7588840" y="1835661"/>
            <a:ext cx="3475897" cy="194352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indent="-182880" algn="l">
              <a:buChar char="•"/>
            </a:pPr>
            <a:r>
              <a:t>API naming conventions</a:t>
            </a:r>
            <a:endParaRPr lang="en-US" sz="1600" dirty="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Named argument defaults</a:t>
            </a:r>
          </a:p>
          <a:p>
            <a:pPr marL="365760" indent="-182880" algn="l">
              <a:buChar char="•"/>
            </a:pPr>
            <a:r>
              <a:t>Value class design</a:t>
            </a:r>
          </a:p>
          <a:p>
            <a:pPr marL="365760" indent="-182880" algn="l">
              <a:buChar char="•"/>
            </a:pPr>
            <a:r>
              <a:t>Special character handling</a:t>
            </a:r>
          </a:p>
          <a:p>
            <a:pPr marL="365760" indent="-182880" algn="l">
              <a:buChar char="•"/>
            </a:pPr>
            <a:r>
              <a:t>Next: IDR</a:t>
            </a:r>
          </a:p>
        </p:txBody>
      </p:sp>
    </p:spTree>
    <p:extLst>
      <p:ext uri="{BB962C8B-B14F-4D97-AF65-F5344CB8AC3E}">
        <p14:creationId xmlns:p14="http://schemas.microsoft.com/office/powerpoint/2010/main" val="2712329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F6C39F-88B9-4C73-BC12-036A310D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47800"/>
            <a:ext cx="10769600" cy="4648200"/>
          </a:xfrm>
        </p:spPr>
        <p:txBody>
          <a:bodyPr/>
          <a:lstStyle/>
          <a:p>
            <a:endParaRPr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2CD2460-0412-424D-997F-D4CC78D5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Key Use Cases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9F6235EB-F70B-4A02-8538-724E355DE3D2}"/>
              </a:ext>
            </a:extLst>
          </p:cNvPr>
          <p:cNvSpPr/>
          <p:nvPr/>
        </p:nvSpPr>
        <p:spPr>
          <a:xfrm rot="166620">
            <a:off x="7477147" y="455389"/>
            <a:ext cx="3475897" cy="36290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65760" indent="-182880" algn="l">
              <a:buChar char="•"/>
            </a:pPr>
            <a:r>
              <a:t>UC_GITHUB_ACTIONS: Programmatically modify GitHub Actions workflows</a:t>
            </a:r>
            <a:endParaRPr lang="en-US" sz="160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UC_PYPROJECT: Access Python package metadata from pyproject.toml</a:t>
            </a:r>
          </a:p>
          <a:p>
            <a:pPr marL="365760" indent="-182880" algn="l">
              <a:buChar char="•"/>
            </a:pPr>
            <a:r>
              <a:t>UC_APP_CONFIG: Store application settings in readable config files</a:t>
            </a:r>
          </a:p>
          <a:p>
            <a:pPr marL="365760" indent="-182880" algn="l">
              <a:buChar char="•"/>
            </a:pPr>
            <a:r>
              <a:t>UC_CONTAINER: Generate Docker Compose and Kubernetes configs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4CC18DD2-B593-4979-AEF8-932098794DF6}"/>
              </a:ext>
            </a:extLst>
          </p:cNvPr>
          <p:cNvSpPr/>
          <p:nvPr/>
        </p:nvSpPr>
        <p:spPr>
          <a:xfrm rot="166620">
            <a:off x="7751316" y="4650940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9D742758-6A98-4DBE-8222-E2D1C9FF93BA}"/>
              </a:ext>
            </a:extLst>
          </p:cNvPr>
          <p:cNvSpPr/>
          <p:nvPr/>
        </p:nvSpPr>
        <p:spPr>
          <a:xfrm rot="166620">
            <a:off x="4255093" y="4463126"/>
            <a:ext cx="3478617" cy="1894148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Walkthrough: Reading TOML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t>% Read TOML file (pyproject.toml)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t>project = readtoml("pyproject.toml");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Access nested tables</a:t>
            </a:r>
          </a:p>
          <a:p>
            <a:pPr marL="0" indent="0">
              <a:buNone/>
            </a:pPr>
            <a:r>
              <a:t>name = project.project.name;</a:t>
            </a:r>
          </a:p>
          <a:p>
            <a:pPr marL="0" indent="0">
              <a:buNone/>
            </a:pPr>
            <a:r>
              <a:t>homepage = project.project.urls.homepage;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Arrays of values</a:t>
            </a:r>
          </a:p>
          <a:p>
            <a:pPr marL="0" indent="0">
              <a:buNone/>
            </a:pPr>
            <a:r>
              <a:t>deps = project.project.dependencies;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Special characters (common in TOML)</a:t>
            </a:r>
          </a:p>
          <a:p>
            <a:pPr marL="0" indent="0">
              <a:buNone/>
            </a:pPr>
            <a:r>
              <a:t>buildBackend = project.("build-system").("build-backend");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Design Walkthrough: Writing Files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t>% Create configuration data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t>config = YAMLData();</a:t>
            </a:r>
          </a:p>
          <a:p>
            <a:pPr marL="0" indent="0">
              <a:buNone/>
            </a:pPr>
            <a:r>
              <a:t>config.server.host = "localhost";</a:t>
            </a:r>
          </a:p>
          <a:p>
            <a:pPr marL="0" indent="0">
              <a:buNone/>
            </a:pPr>
            <a:r>
              <a:t>config.server.port = 8080;</a:t>
            </a:r>
          </a:p>
          <a:p>
            <a:pPr marL="0" indent="0">
              <a:buNone/>
            </a:pPr>
            <a:r>
              <a:t>config.server.ssl = true;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Write to YAML</a:t>
            </a:r>
          </a:p>
          <a:p>
            <a:pPr marL="0" indent="0">
              <a:buNone/>
            </a:pPr>
            <a:r>
              <a:t>writeyaml(config, "server.yaml");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% Control formatting</a:t>
            </a:r>
          </a:p>
          <a:p>
            <a:pPr marL="0" indent="0">
              <a:buNone/>
            </a:pPr>
            <a:r>
              <a:t>writeyaml(config, "server.yaml", ...</a:t>
            </a:r>
          </a:p>
          <a:p>
            <a:pPr marL="0" indent="0">
              <a:buNone/>
            </a:pPr>
            <a:r>
              <a:t>    Indent=4, ArrayStyle="block");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ConfigurationData Class Design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4DD3101-10CE-4260-A6A5-F0C647D8B171}"/>
              </a:ext>
            </a:extLst>
          </p:cNvPr>
          <p:cNvSpPr/>
          <p:nvPr/>
        </p:nvSpPr>
        <p:spPr>
          <a:xfrm rot="166620">
            <a:off x="7823003" y="698764"/>
            <a:ext cx="3762989" cy="3392236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t>Abstract base class for structured config data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b="1"/>
              <a:t>Key Design Decisions:</a:t>
            </a:r>
          </a:p>
          <a:p>
            <a:pPr marL="365760" indent="-182880" algn="l">
              <a:buChar char="•"/>
            </a:pPr>
            <a:r>
              <a:t>Value class (not handle class) for intuitive assignment behavior</a:t>
            </a:r>
          </a:p>
          <a:p>
            <a:pPr marL="365760" indent="-182880" algn="l">
              <a:buChar char="•"/>
            </a:pPr>
            <a:r>
              <a:t>Uses dictionary (R2022b+) with value semantics</a:t>
            </a:r>
          </a:p>
          <a:p>
            <a:pPr marL="365760" indent="-182880" algn="l">
              <a:buChar char="•"/>
            </a:pPr>
            <a:r>
              <a:t>RedefinesDot mixin enables natural dot notation</a:t>
            </a:r>
          </a:p>
          <a:p>
            <a:pPr marL="365760" indent="-182880" algn="l">
              <a:buChar char="•"/>
            </a:pPr>
            <a:r>
              <a:t>Key aliasing system handles special characters</a:t>
            </a:r>
          </a:p>
          <a:p>
            <a:pPr marL="365760" indent="-182880" algn="l">
              <a:buChar char="•"/>
            </a:pPr>
            <a:r>
              <a:t>Preserves key insertion order for reproducible output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47C0EC3B-D3C8-4AA3-AB4C-51CD2F3632FB}"/>
              </a:ext>
            </a:extLst>
          </p:cNvPr>
          <p:cNvSpPr/>
          <p:nvPr/>
        </p:nvSpPr>
        <p:spPr>
          <a:xfrm rot="166620">
            <a:off x="7752448" y="3404671"/>
            <a:ext cx="3753049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  <a:hlinkClick r:id="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API Overview: Read Functions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>
              <a:buNone/>
            </a:pPr>
            <a:r>
              <a:rPr b="1"/>
              <a:t>data = readyaml(filename)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b="1"/>
              <a:t>data = readyaml(filename, SequenceRule=rule)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rPr b="1"/>
              <a:t>data = readtoml(filename)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rPr b="1"/>
              <a:t>data = readini(filename)</a:t>
            </a:r>
          </a:p>
          <a:p>
            <a:pPr marL="0" indent="0">
              <a:buNone/>
            </a:pPr>
            <a:r>
              <a:rPr b="1"/>
              <a:t>data = readini(filename, TypeDetection=mode)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t>Follows readstruct/readtable naming convention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API Overview: Write Functions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>
              <a:buNone/>
            </a:pPr>
            <a:r>
              <a:rPr b="1"/>
              <a:t>writeyaml(data, filename)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b="1"/>
              <a:t>writeyaml(data, filename, Indent=n, ArrayStyle=style)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rPr b="1"/>
              <a:t>writetoml(data, filename)</a:t>
            </a:r>
          </a:p>
          <a:p>
            <a:pPr marL="0" indent="0">
              <a:buNone/>
            </a:pPr>
            <a:r>
              <a:rPr b="1"/>
              <a:t>writetoml(data, filename, Indent=n, SectionSpacing=n)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rPr b="1"/>
              <a:t>writeini(data, filename)</a:t>
            </a:r>
          </a:p>
          <a:p>
            <a:pPr marL="0" indent="0">
              <a:buNone/>
            </a:pPr>
            <a:endParaRPr b="1"/>
          </a:p>
          <a:p>
            <a:pPr marL="0" indent="0">
              <a:buNone/>
            </a:pPr>
            <a:r>
              <a:t>Follows writestruct/writetable naming convention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D6F2AA-4FFD-43C1-9EE0-4B15423D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Named Arguments</a:t>
            </a:r>
            <a:endParaRPr lang="en-US" b="0">
              <a:latin typeface="Arial"/>
              <a:cs typeface="Arial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DC65AA1-524F-49B8-8CFE-B0C6DABD4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E67F163C-2FB7-4718-ABAF-28D842D73150}"/>
              </a:ext>
            </a:extLst>
          </p:cNvPr>
          <p:cNvSpPr/>
          <p:nvPr/>
        </p:nvSpPr>
        <p:spPr>
          <a:xfrm rot="166620">
            <a:off x="7873958" y="988993"/>
            <a:ext cx="3475897" cy="2671252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indent="0">
              <a:buNone/>
            </a:pPr>
            <a:r>
              <a:rPr b="1"/>
              <a:t>SequenceRule (readyaml only):</a:t>
            </a:r>
            <a:endParaRPr lang="en-US" sz="1600" dirty="0">
              <a:solidFill>
                <a:schemeClr val="tx1"/>
              </a:solidFill>
            </a:endParaRPr>
          </a:p>
          <a:p>
            <a:pPr marL="365760" indent="-182880" algn="l">
              <a:buChar char="•"/>
            </a:pPr>
            <a:r>
              <a:t>"auto" (default) — Use specialized arrays when possible</a:t>
            </a:r>
          </a:p>
          <a:p>
            <a:pPr marL="365760" indent="-182880" algn="l">
              <a:buChar char="•"/>
            </a:pPr>
            <a:r>
              <a:t>"cell" — Always return cell arrays for consistency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Indent (writeyaml, writetoml):</a:t>
            </a:r>
          </a:p>
          <a:p>
            <a:pPr marL="365760" indent="-182880" algn="l">
              <a:buChar char="•"/>
            </a:pPr>
            <a:r>
              <a:t>Number of spaces for indentation (default: 2)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ArrayStyle (writeyaml only):</a:t>
            </a:r>
          </a:p>
          <a:p>
            <a:pPr marL="365760" indent="-182880" algn="l">
              <a:buChar char="•"/>
            </a:pPr>
            <a:r>
              <a:t>"flow" or "block" style for YAML arrays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3CC8B036-2E5B-441B-86EE-56573821922D}"/>
              </a:ext>
            </a:extLst>
          </p:cNvPr>
          <p:cNvSpPr/>
          <p:nvPr/>
        </p:nvSpPr>
        <p:spPr>
          <a:xfrm rot="166620">
            <a:off x="7796628" y="3826338"/>
            <a:ext cx="3475897" cy="1264725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Alternative 3: Struct with Metadata Wrapper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t>Return structs with thin wrapper for metadata</a:t>
            </a:r>
          </a:p>
          <a:p>
            <a:pPr marL="0" indent="0">
              <a:buNone/>
            </a:pPr>
            <a:r>
              <a:t>[data, meta] = readyaml("file.yaml");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PROS</a:t>
            </a:r>
          </a:p>
          <a:p>
            <a:pPr marL="365760" indent="-182880" algn="l">
              <a:buChar char="•"/>
            </a:pPr>
            <a:r>
              <a:t>Structs are familiar</a:t>
            </a:r>
          </a:p>
          <a:p>
            <a:pPr marL="365760" indent="-182880" algn="l">
              <a:buChar char="•"/>
            </a:pPr>
            <a:r>
              <a:t>No custom class needed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rPr b="1"/>
              <a:t>CONS</a:t>
            </a:r>
          </a:p>
          <a:p>
            <a:pPr marL="365760" indent="-182880" algn="l">
              <a:buChar char="•"/>
            </a:pPr>
            <a:r>
              <a:t>Special character keys not supported</a:t>
            </a:r>
          </a:p>
          <a:p>
            <a:pPr marL="365760" indent="-182880" algn="l">
              <a:buChar char="•"/>
            </a:pPr>
            <a:r>
              <a:t>Two outputs awkward for users</a:t>
            </a:r>
          </a:p>
          <a:p>
            <a:pPr marL="365760" indent="-182880" algn="l">
              <a:buChar char="•"/>
            </a:pPr>
            <a:r>
              <a:t>Cannot add methods to data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BBB66951-48AA-44ED-892D-565D62EB61A1}"/>
              </a:ext>
            </a:extLst>
          </p:cNvPr>
          <p:cNvSpPr/>
          <p:nvPr/>
        </p:nvSpPr>
        <p:spPr>
          <a:xfrm rot="166620">
            <a:off x="7608646" y="1274983"/>
            <a:ext cx="347589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AE720B3-D9FA-4A20-988D-173561DB8880}"/>
              </a:ext>
            </a:extLst>
          </p:cNvPr>
          <p:cNvSpPr/>
          <p:nvPr/>
        </p:nvSpPr>
        <p:spPr>
          <a:xfrm rot="166620">
            <a:off x="7608672" y="3312179"/>
            <a:ext cx="3432357" cy="1863569"/>
          </a:xfrm>
          <a:prstGeom prst="foldedCorner">
            <a:avLst/>
          </a:prstGeom>
          <a:solidFill>
            <a:srgbClr val="FEEE9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indent="-457200"/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MW_Public_widescreen">
  <a:themeElements>
    <a:clrScheme name="MW">
      <a:dk1>
        <a:srgbClr val="000000"/>
      </a:dk1>
      <a:lt1>
        <a:srgbClr val="FFFFFF"/>
      </a:lt1>
      <a:dk2>
        <a:srgbClr val="0076A8"/>
      </a:dk2>
      <a:lt2>
        <a:srgbClr val="ECF5F8"/>
      </a:lt2>
      <a:accent1>
        <a:srgbClr val="D78824"/>
      </a:accent1>
      <a:accent2>
        <a:srgbClr val="004B87"/>
      </a:accent2>
      <a:accent3>
        <a:srgbClr val="00A9E0"/>
      </a:accent3>
      <a:accent4>
        <a:srgbClr val="F2A900"/>
      </a:accent4>
      <a:accent5>
        <a:srgbClr val="B7302C"/>
      </a:accent5>
      <a:accent6>
        <a:srgbClr val="48A23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1" dirty="0" smtClean="0"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w_public.potx" id="{6373C024-208B-4210-B9D7-DE9E6D46232F}" vid="{0AAF3998-E945-49EA-AE21-DC9C55644A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33291C80D20540A94D9CFBF1780E8F" ma:contentTypeVersion="15" ma:contentTypeDescription="Create a new document." ma:contentTypeScope="" ma:versionID="39d7a9c272b837caf57fd7c18d0fa356">
  <xsd:schema xmlns:xsd="http://www.w3.org/2001/XMLSchema" xmlns:xs="http://www.w3.org/2001/XMLSchema" xmlns:p="http://schemas.microsoft.com/office/2006/metadata/properties" xmlns:ns2="ee0baada-77a5-4611-8cd6-672a68aeea58" xmlns:ns3="a5c3e8b0-7608-49eb-a067-53f2827a6faf" targetNamespace="http://schemas.microsoft.com/office/2006/metadata/properties" ma:root="true" ma:fieldsID="7b3a0b646f601630b8901e2664c3efc3" ns2:_="" ns3:_="">
    <xsd:import namespace="ee0baada-77a5-4611-8cd6-672a68aeea58"/>
    <xsd:import namespace="a5c3e8b0-7608-49eb-a067-53f2827a6f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0baada-77a5-4611-8cd6-672a68aeea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c3e8b0-7608-49eb-a067-53f2827a6f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5c3e8b0-7608-49eb-a067-53f2827a6faf">
      <UserInfo>
        <DisplayName>Andreas Sorgatz</DisplayName>
        <AccountId>407</AccountId>
        <AccountType/>
      </UserInfo>
      <UserInfo>
        <DisplayName>Steph Round</DisplayName>
        <AccountId>220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3B61DF2E-245C-45DF-A9A5-EABECEA429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CCB852-5936-4FF3-922C-9D47B073236D}">
  <ds:schemaRefs>
    <ds:schemaRef ds:uri="a5c3e8b0-7608-49eb-a067-53f2827a6faf"/>
    <ds:schemaRef ds:uri="ee0baada-77a5-4611-8cd6-672a68aeea5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3B851B7-D313-4E85-A1E0-5976CFE11EC3}">
  <ds:schemaRefs>
    <ds:schemaRef ds:uri="a5c3e8b0-7608-49eb-a067-53f2827a6faf"/>
    <ds:schemaRef ds:uri="ee0baada-77a5-4611-8cd6-672a68aeea5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</TotalTime>
  <Words>1073</Words>
  <Application>Microsoft Macintosh PowerPoint</Application>
  <PresentationFormat>Widescreen</PresentationFormat>
  <Paragraphs>199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Wingdings</vt:lpstr>
      <vt:lpstr>MW_Public_widescreen</vt:lpstr>
      <vt:lpstr>Configuration File I/O Toolbox</vt:lpstr>
      <vt:lpstr>Agenda</vt:lpstr>
      <vt:lpstr>What is the goal of today's meeting?</vt:lpstr>
      <vt:lpstr>Design Goals and Direction</vt:lpstr>
      <vt:lpstr>Who are our users?</vt:lpstr>
      <vt:lpstr>Requirements Summary</vt:lpstr>
      <vt:lpstr>PowerPoint Presentation</vt:lpstr>
      <vt:lpstr>Design Proposal and Assessment</vt:lpstr>
      <vt:lpstr>Design Walkthrough: Reading YAML</vt:lpstr>
      <vt:lpstr>Class Hierarchy</vt:lpstr>
      <vt:lpstr>Benchmarks</vt:lpstr>
      <vt:lpstr>Alternative 1: containers.Map vs dictionary</vt:lpstr>
      <vt:lpstr>Alternative 2: dynamicprops Instead of RedefinesDot</vt:lpstr>
      <vt:lpstr>Pros and Cons of Design Alternatives</vt:lpstr>
      <vt:lpstr>Design Proposal Summary</vt:lpstr>
      <vt:lpstr>Feedback Requested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Practices for Organizational Design Review Presentations</dc:title>
  <dc:subject/>
  <dc:creator>Nirja Mehta</dc:creator>
  <cp:keywords>Version 21.2</cp:keywords>
  <dc:description/>
  <cp:lastModifiedBy>Michelle Hirsch</cp:lastModifiedBy>
  <cp:revision>4</cp:revision>
  <cp:lastPrinted>2024-12-10T20:16:37Z</cp:lastPrinted>
  <dcterms:created xsi:type="dcterms:W3CDTF">2021-10-15T18:21:21Z</dcterms:created>
  <dcterms:modified xsi:type="dcterms:W3CDTF">2026-01-16T12:33:26Z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441712758</vt:i4>
  </property>
  <property fmtid="{D5CDD505-2E9C-101B-9397-08002B2CF9AE}" pid="3" name="_NewReviewCycle">
    <vt:lpwstr/>
  </property>
  <property fmtid="{D5CDD505-2E9C-101B-9397-08002B2CF9AE}" pid="4" name="_EmailSubject">
    <vt:lpwstr>Quick PPT question</vt:lpwstr>
  </property>
  <property fmtid="{D5CDD505-2E9C-101B-9397-08002B2CF9AE}" pid="5" name="_AuthorEmail">
    <vt:lpwstr>Julie.Cornell@mathworks.com</vt:lpwstr>
  </property>
  <property fmtid="{D5CDD505-2E9C-101B-9397-08002B2CF9AE}" pid="6" name="_AuthorEmailDisplayName">
    <vt:lpwstr>Julie Cornell</vt:lpwstr>
  </property>
  <property fmtid="{D5CDD505-2E9C-101B-9397-08002B2CF9AE}" pid="7" name="ContentTypeId">
    <vt:lpwstr>0x0101003B33291C80D20540A94D9CFBF1780E8F</vt:lpwstr>
  </property>
  <property fmtid="{D5CDD505-2E9C-101B-9397-08002B2CF9AE}" pid="8" name="Order">
    <vt:r8>47491500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</Properties>
</file>