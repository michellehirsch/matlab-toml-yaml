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41" r:id="rId5"/>
    <p:sldId id="343" r:id="rId6"/>
    <p:sldId id="276" r:id="rId7"/>
    <p:sldId id="345" r:id="rId8"/>
    <p:sldId id="346" r:id="rId9"/>
    <p:sldId id="356" r:id="rId10"/>
    <p:sldId id="358" r:id="rId11"/>
    <p:sldId id="344" r:id="rId12"/>
    <p:sldId id="350" r:id="rId13"/>
    <p:sldId id="357" r:id="rId14"/>
    <p:sldId id="355" r:id="rId15"/>
    <p:sldId id="288" r:id="rId16"/>
    <p:sldId id="293" r:id="rId17"/>
    <p:sldId id="354" r:id="rId18"/>
    <p:sldId id="292" r:id="rId19"/>
    <p:sldId id="295" r:id="rId20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 userDrawn="1">
          <p15:clr>
            <a:srgbClr val="A4A3A4"/>
          </p15:clr>
        </p15:guide>
        <p15:guide id="2" pos="2212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B5830D-16F3-DFFC-96BC-2F13F54A9960}" name="Nandini Sen" initials="NS" userId="S::nsen@mathworks.com::1eb59307-e418-4d42-8660-c8a76b2e6d80" providerId="AD"/>
  <p188:author id="{FB2483CC-9708-B07E-3E19-3754C1E19721}" name="John Booker" initials="JB" userId="S::jbooker@mathworks.com::6f49b1c6-d488-4c0f-97fd-9cdf97f6b40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6400"/>
    <a:srgbClr val="228B22"/>
    <a:srgbClr val="A020F6"/>
    <a:srgbClr val="0000FF"/>
    <a:srgbClr val="636569"/>
    <a:srgbClr val="715091"/>
    <a:srgbClr val="176DAD"/>
    <a:srgbClr val="0D78C9"/>
    <a:srgbClr val="024C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678CE3-BB38-490A-8F3F-0AD936C4C8CA}" v="1" dt="2025-05-23T14:32:09.564"/>
    <p1510:client id="{21BD1D15-9772-8C89-0266-31454428197C}" v="2" dt="2025-05-23T14:42:18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400" y="472"/>
      </p:cViewPr>
      <p:guideLst>
        <p:guide orient="horz" pos="21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5F993C83-2184-4286-ABE1-941A40B40C8F}" type="datetimeFigureOut">
              <a:rPr lang="en-US" smtClean="0"/>
              <a:pPr/>
              <a:t>1/15/26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F7603001-E0F2-47E5-A338-816CC267AF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5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6053241F-7ED4-45AC-844C-15DB0D5F9CCD}" type="datetimeFigureOut">
              <a:rPr lang="en-US" smtClean="0"/>
              <a:pPr/>
              <a:t>1/15/26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3324" tIns="46662" rIns="93324" bIns="4666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AD73B8C3-A209-4A55-9261-22C2A02B31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8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 of recent MDR - https://sharepoint.mathworks.com/dev/ltc/rme/Design/_layouts/15/WopiFrame.aspx?sourcedoc={C80CB5FC-9218-4036-908A-B56D878C5370}&amp;file=Live%20Editor%20ViewsNew.pptx&amp;action=default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429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71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0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54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21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55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25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12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Copyright"/>
          <p:cNvSpPr txBox="1"/>
          <p:nvPr userDrawn="1"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2021 The MathWorks, Inc.</a:t>
            </a:r>
          </a:p>
        </p:txBody>
      </p:sp>
      <p:cxnSp>
        <p:nvCxnSpPr>
          <p:cNvPr id="26" name="GrayLine"/>
          <p:cNvCxnSpPr/>
          <p:nvPr userDrawn="1"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 userDrawn="1"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Edit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0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baseline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 userDrawn="1"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0" b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9" r:id="rId4"/>
    <p:sldLayoutId id="2147483663" r:id="rId5"/>
    <p:sldLayoutId id="2147483651" r:id="rId6"/>
    <p:sldLayoutId id="2147483652" r:id="rId7"/>
    <p:sldLayoutId id="2147483664" r:id="rId8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hyperlink" Target="https://mathworks.sharepoint.com/:p:/r/sites/ltc/rme/Design/Shared%20Documents/MDR/2015/2015-06-16%20Rich%20Editor%20Sections/Rich%20Editor%20Section%20Design.pptx?d=wc26f31c0e3e946a2b1232b0c0e7ad541&amp;csf=1&amp;e=caE2SA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works.sharepoint.com/sites/ltc/math/nntb/rfain/Shared%20Documents/Deep%20Learning/Network%20Wrappers%20and%20Layer%20Development/DLDR/Defining%20Networks.pptx?web=1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hyperlink" Target="https://sharepoint.mathworks.com/dev/devu/RFAINcommunity/RFResourceCenter/requirements/DRF_DeVMAPPS/_layouts/15/WopiFrame.aspx?sourcedoc=%7b0BBFA5EC-38D2-4B10-8A2C-9D6F97FA58C5%7d&amp;file=User%20Data%20Sources%20v3.docx&amp;action=default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i="1">
                <a:latin typeface="Arial"/>
                <a:cs typeface="Arial"/>
              </a:rPr>
              <a:t>Title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i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Presenter</a:t>
            </a:r>
            <a:endParaRPr lang="en-US" sz="1600" i="1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600" i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Date of review</a:t>
            </a:r>
          </a:p>
          <a:p>
            <a:r>
              <a:rPr lang="en-US" sz="1600" i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Sponsor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Meeting Goals</a:t>
            </a:r>
          </a:p>
          <a:p>
            <a:r>
              <a:rPr lang="en-US"/>
              <a:t>Design Goals and Direction</a:t>
            </a:r>
          </a:p>
          <a:p>
            <a:r>
              <a:rPr lang="en-US"/>
              <a:t>Design Proposal </a:t>
            </a:r>
          </a:p>
          <a:p>
            <a:r>
              <a:rPr lang="en-US"/>
              <a:t>Alternatives</a:t>
            </a:r>
          </a:p>
          <a:p>
            <a:r>
              <a:rPr lang="en-US"/>
              <a:t>Summary</a:t>
            </a:r>
          </a:p>
          <a:p>
            <a:endParaRPr lang="en-US"/>
          </a:p>
        </p:txBody>
      </p:sp>
      <p:sp>
        <p:nvSpPr>
          <p:cNvPr id="5" name="Rectangle: Folded Corner 4"/>
          <p:cNvSpPr/>
          <p:nvPr/>
        </p:nvSpPr>
        <p:spPr>
          <a:xfrm rot="166620">
            <a:off x="7165613" y="1718801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This basic structure covers the necessary elements of a successful design review.</a:t>
            </a: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Add other sections to fit your needs for a direction setting review.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9617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the goal of today’s meeting?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3535" indent="-343535">
              <a:buFont typeface="Wingdings"/>
            </a:pPr>
            <a:r>
              <a:rPr lang="en-US">
                <a:latin typeface="Arial"/>
                <a:cs typeface="Arial"/>
              </a:rPr>
              <a:t>Goal #1</a:t>
            </a:r>
            <a:endParaRPr lang="en-US"/>
          </a:p>
          <a:p>
            <a:pPr marL="343535" indent="-343535"/>
            <a:r>
              <a:rPr lang="en-US">
                <a:latin typeface="Arial"/>
                <a:cs typeface="Arial"/>
              </a:rPr>
              <a:t>Goal #2</a:t>
            </a:r>
          </a:p>
          <a:p>
            <a:pPr marL="343535" indent="-343535"/>
            <a:endParaRPr lang="en-US"/>
          </a:p>
          <a:p>
            <a:pPr marL="343535" indent="-343535"/>
            <a:r>
              <a:rPr lang="en-US">
                <a:latin typeface="Arial"/>
                <a:cs typeface="Arial"/>
              </a:rPr>
              <a:t>Area of feedback #1</a:t>
            </a:r>
          </a:p>
          <a:p>
            <a:pPr marL="343535" indent="-343535"/>
            <a:r>
              <a:rPr lang="en-US">
                <a:latin typeface="Arial"/>
                <a:cs typeface="Arial"/>
              </a:rPr>
              <a:t>Area of feedback #2</a:t>
            </a:r>
          </a:p>
          <a:p>
            <a:pPr marL="343535" indent="-343535"/>
            <a:endParaRPr lang="en-US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4E89F91A-08D2-46E0-9631-461EDA96AD7D}"/>
              </a:ext>
            </a:extLst>
          </p:cNvPr>
          <p:cNvSpPr/>
          <p:nvPr/>
        </p:nvSpPr>
        <p:spPr>
          <a:xfrm rot="166620">
            <a:off x="7053528" y="1311278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It is important for reviewers to understand the goal of the meeting. </a:t>
            </a: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33363" indent="-233363">
              <a:buFont typeface="+mj-lt"/>
              <a:buAutoNum type="arabicPeriod"/>
            </a:pPr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On this slide, reinforce whether this is a </a:t>
            </a:r>
            <a:r>
              <a:rPr lang="en-US" sz="16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design review</a:t>
            </a:r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or a </a:t>
            </a:r>
            <a:r>
              <a:rPr lang="en-US" sz="16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direction-setting</a:t>
            </a:r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review.</a:t>
            </a: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44214831-C6F3-480B-A690-B531AD9DE970}"/>
              </a:ext>
            </a:extLst>
          </p:cNvPr>
          <p:cNvSpPr/>
          <p:nvPr/>
        </p:nvSpPr>
        <p:spPr>
          <a:xfrm rot="166620">
            <a:off x="6977328" y="3199764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3363" indent="-233363">
              <a:buFont typeface="+mj-lt"/>
              <a:buAutoNum type="arabicPeriod" startAt="2"/>
            </a:pPr>
            <a:r>
              <a:rPr lang="en-US" sz="1600">
                <a:solidFill>
                  <a:schemeClr val="tx1"/>
                </a:solidFill>
              </a:rPr>
              <a:t>State the desired feedback up front so they have a frame of reference.</a:t>
            </a:r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  <a:hlinkClick r:id="rId4"/>
              </a:rPr>
              <a:t>Example (see slide 3)</a:t>
            </a:r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946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20CB-E572-471C-A1E8-BD906F819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Goals and Direction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7073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6C39F-88B9-4C73-BC12-036A310D3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47800"/>
            <a:ext cx="10769600" cy="4648200"/>
          </a:xfrm>
        </p:spPr>
        <p:txBody>
          <a:bodyPr/>
          <a:lstStyle/>
          <a:p>
            <a:r>
              <a:rPr lang="en-US"/>
              <a:t>Who are our users and what are their goals?</a:t>
            </a:r>
          </a:p>
          <a:p>
            <a:endParaRPr lang="en-US"/>
          </a:p>
          <a:p>
            <a:endParaRPr lang="en-US"/>
          </a:p>
          <a:p>
            <a:pPr marL="342900" indent="-342900"/>
            <a:r>
              <a:rPr lang="en-US"/>
              <a:t>What do we need to fix or provide to improve</a:t>
            </a:r>
          </a:p>
          <a:p>
            <a:pPr marL="0" indent="0">
              <a:buNone/>
            </a:pPr>
            <a:r>
              <a:rPr lang="en-US"/>
              <a:t>    the customer’s workflow?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CD2460-0412-424D-997F-D4CC78D51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Who are our users?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9F6235EB-F70B-4A02-8538-724E355DE3D2}"/>
              </a:ext>
            </a:extLst>
          </p:cNvPr>
          <p:cNvSpPr/>
          <p:nvPr/>
        </p:nvSpPr>
        <p:spPr>
          <a:xfrm rot="166620">
            <a:off x="7477147" y="455389"/>
            <a:ext cx="3475897" cy="3629036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Who are the customers?</a:t>
            </a:r>
          </a:p>
          <a:p>
            <a:r>
              <a:rPr lang="en-US" sz="1400">
                <a:solidFill>
                  <a:schemeClr val="tx1"/>
                </a:solidFill>
              </a:rPr>
              <a:t>What do they need to accomplish in the context of this release deliverable?</a:t>
            </a: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Use these to describe your users and their requirements: </a:t>
            </a:r>
          </a:p>
          <a:p>
            <a:pPr lvl="1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User Roles and Goals </a:t>
            </a:r>
          </a:p>
          <a:p>
            <a:pPr lvl="1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workflows</a:t>
            </a:r>
          </a:p>
          <a:p>
            <a:pPr lvl="1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user data and pains</a:t>
            </a:r>
          </a:p>
          <a:p>
            <a:pPr marL="508000" indent="-271463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requirements</a:t>
            </a: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Link or refer to RFA spec, </a:t>
            </a:r>
            <a:r>
              <a:rPr lang="en-US" sz="1400" b="1">
                <a:solidFill>
                  <a:schemeClr val="tx1"/>
                </a:solidFill>
              </a:rPr>
              <a:t>Know Your User</a:t>
            </a:r>
            <a:r>
              <a:rPr lang="en-US" sz="1400">
                <a:solidFill>
                  <a:schemeClr val="tx1"/>
                </a:solidFill>
              </a:rPr>
              <a:t> and </a:t>
            </a:r>
            <a:r>
              <a:rPr lang="en-US" sz="1400" b="1">
                <a:solidFill>
                  <a:schemeClr val="tx1"/>
                </a:solidFill>
              </a:rPr>
              <a:t>Requirements</a:t>
            </a:r>
            <a:r>
              <a:rPr lang="en-US" sz="1400">
                <a:solidFill>
                  <a:schemeClr val="tx1"/>
                </a:solidFill>
              </a:rPr>
              <a:t> sections.</a:t>
            </a:r>
          </a:p>
          <a:p>
            <a:pPr lvl="1" indent="-223838"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4CC18DD2-B593-4979-AEF8-932098794DF6}"/>
              </a:ext>
            </a:extLst>
          </p:cNvPr>
          <p:cNvSpPr/>
          <p:nvPr/>
        </p:nvSpPr>
        <p:spPr>
          <a:xfrm rot="166620">
            <a:off x="7751316" y="4650940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>
              <a:solidFill>
                <a:schemeClr val="tx1"/>
              </a:solidFill>
            </a:endParaRPr>
          </a:p>
          <a:p>
            <a:pPr lvl="1" indent="-457200"/>
            <a:r>
              <a:rPr lang="en-US" sz="1400">
                <a:solidFill>
                  <a:schemeClr val="tx1"/>
                </a:solidFill>
              </a:rPr>
              <a:t>Mine user data from:</a:t>
            </a:r>
            <a:endParaRPr lang="en-US" sz="14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457200" indent="-223838"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tx1"/>
                </a:solidFill>
              </a:rPr>
              <a:t>Gecks</a:t>
            </a:r>
            <a:endParaRPr lang="en-US" sz="1400">
              <a:solidFill>
                <a:schemeClr val="tx1"/>
              </a:solidFill>
            </a:endParaRPr>
          </a:p>
          <a:p>
            <a:pPr marL="457200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UX feedback</a:t>
            </a:r>
          </a:p>
          <a:p>
            <a:pPr marL="457200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Event Reports</a:t>
            </a:r>
          </a:p>
          <a:p>
            <a:pPr marL="457200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Tech Support Calls</a:t>
            </a:r>
          </a:p>
          <a:p>
            <a:pPr marL="457200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Voice of the Customer</a:t>
            </a:r>
          </a:p>
          <a:p>
            <a:pPr marL="457200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From the Frontlines</a:t>
            </a:r>
          </a:p>
          <a:p>
            <a:pPr marL="457200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MATLAB Answers</a:t>
            </a:r>
            <a:endParaRPr lang="en-US" sz="12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9D742758-6A98-4DBE-8222-E2D1C9FF93BA}"/>
              </a:ext>
            </a:extLst>
          </p:cNvPr>
          <p:cNvSpPr/>
          <p:nvPr/>
        </p:nvSpPr>
        <p:spPr>
          <a:xfrm rot="166620">
            <a:off x="4255093" y="4463126"/>
            <a:ext cx="3478617" cy="1894148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</a:rPr>
              <a:t>Be data-driven! Whenever possible, use existing:</a:t>
            </a:r>
          </a:p>
          <a:p>
            <a:pPr marL="457200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User Roles and goals</a:t>
            </a:r>
          </a:p>
          <a:p>
            <a:pPr marL="457200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Customer Workflows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0611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Requirements Summary</a:t>
            </a:r>
            <a:endParaRPr lang="en-US" b="0"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Requirement #1</a:t>
            </a:r>
          </a:p>
          <a:p>
            <a:r>
              <a:rPr lang="en-US"/>
              <a:t>Requirement #2</a:t>
            </a:r>
          </a:p>
          <a:p>
            <a:r>
              <a:rPr lang="en-US"/>
              <a:t>…</a:t>
            </a:r>
          </a:p>
          <a:p>
            <a:pPr marL="0" indent="0">
              <a:buNone/>
            </a:pPr>
            <a:r>
              <a:rPr lang="en-US"/>
              <a:t> </a:t>
            </a:r>
          </a:p>
          <a:p>
            <a:endParaRPr lang="en-US"/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02B95A2C-30CA-4CDE-BF22-C5DCD3172DF3}"/>
              </a:ext>
            </a:extLst>
          </p:cNvPr>
          <p:cNvSpPr/>
          <p:nvPr/>
        </p:nvSpPr>
        <p:spPr>
          <a:xfrm rot="166620">
            <a:off x="7872114" y="1297083"/>
            <a:ext cx="3475897" cy="2131094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  <a:p>
            <a:endParaRPr lang="en-US" sz="1400">
              <a:solidFill>
                <a:schemeClr val="tx1"/>
              </a:solidFill>
            </a:endParaRP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At a high level, summarize and highlight the important requirements for the purpose of this design review.</a:t>
            </a:r>
          </a:p>
          <a:p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Show how your requirements summary ties back to user goals.</a:t>
            </a:r>
          </a:p>
          <a:p>
            <a:r>
              <a:rPr lang="en-US" sz="1600">
                <a:solidFill>
                  <a:schemeClr val="tx1"/>
                </a:solidFill>
              </a:rPr>
              <a:t>Link or refer to RFA spec </a:t>
            </a:r>
            <a:r>
              <a:rPr lang="en-US" sz="1600" b="1">
                <a:solidFill>
                  <a:schemeClr val="tx1"/>
                </a:solidFill>
              </a:rPr>
              <a:t>Requirements</a:t>
            </a:r>
            <a:r>
              <a:rPr lang="en-US" sz="1600">
                <a:solidFill>
                  <a:schemeClr val="tx1"/>
                </a:solidFill>
              </a:rPr>
              <a:t> section.</a:t>
            </a:r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889FDE37-07D1-4A04-9EE8-3CDDD3454499}"/>
              </a:ext>
            </a:extLst>
          </p:cNvPr>
          <p:cNvSpPr/>
          <p:nvPr/>
        </p:nvSpPr>
        <p:spPr>
          <a:xfrm rot="166620">
            <a:off x="7725069" y="3509219"/>
            <a:ext cx="3432357" cy="2819518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1" indent="-457200"/>
            <a:endParaRPr lang="en-US" sz="1400">
              <a:solidFill>
                <a:schemeClr val="tx1"/>
              </a:solidFill>
            </a:endParaRPr>
          </a:p>
          <a:p>
            <a:r>
              <a:rPr lang="en-US" sz="1600">
                <a:solidFill>
                  <a:srgbClr val="FF0000"/>
                </a:solidFill>
              </a:rPr>
              <a:t>(NEW) </a:t>
            </a:r>
            <a:r>
              <a:rPr lang="en-US" sz="1600">
                <a:solidFill>
                  <a:schemeClr val="tx1"/>
                </a:solidFill>
              </a:rPr>
              <a:t>Summarize and highlight performance requirements most applicable for this design review.</a:t>
            </a:r>
          </a:p>
          <a:p>
            <a:endParaRPr lang="en-US" sz="1600">
              <a:solidFill>
                <a:schemeClr val="tx1"/>
              </a:solidFill>
            </a:endParaRPr>
          </a:p>
          <a:p>
            <a:r>
              <a:rPr lang="en-US" sz="1600">
                <a:solidFill>
                  <a:schemeClr val="tx1"/>
                </a:solidFill>
              </a:rPr>
              <a:t>Link or refer to the performance requirements and benchmarking strategies discussion in your RFA spec.</a:t>
            </a:r>
            <a:endParaRPr lang="en-US" sz="1600">
              <a:solidFill>
                <a:schemeClr val="tx1"/>
              </a:solidFill>
              <a:cs typeface="Arial"/>
            </a:endParaRPr>
          </a:p>
          <a:p>
            <a:endParaRPr lang="en-US" sz="1600">
              <a:solidFill>
                <a:schemeClr val="tx1"/>
              </a:solidFill>
            </a:endParaRPr>
          </a:p>
          <a:p>
            <a:r>
              <a:rPr lang="en-US" sz="1600">
                <a:solidFill>
                  <a:schemeClr val="tx1"/>
                </a:solidFill>
                <a:hlinkClick r:id="rId3"/>
              </a:rPr>
              <a:t>Example (slide 33)</a:t>
            </a:r>
            <a:endParaRPr lang="en-US" sz="160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793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073DE-9DF9-4CEE-E285-2A9486E6A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BF353-38E0-18F7-17CE-04F4E0AF5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38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20CB-E572-471C-A1E8-BD906F819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Design Proposal and Assessment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928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Walkthrough (proposed design)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04DD3101-10CE-4260-A6A5-F0C647D8B171}"/>
              </a:ext>
            </a:extLst>
          </p:cNvPr>
          <p:cNvSpPr/>
          <p:nvPr/>
        </p:nvSpPr>
        <p:spPr>
          <a:xfrm rot="166620">
            <a:off x="7823003" y="698764"/>
            <a:ext cx="3762989" cy="3392236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4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A design proposal is best conveyed using a </a:t>
            </a:r>
            <a:r>
              <a:rPr lang="en-US" sz="1600" b="1" dirty="0">
                <a:solidFill>
                  <a:schemeClr val="tx1"/>
                </a:solidFill>
              </a:rPr>
              <a:t>visual walkthrough</a:t>
            </a:r>
            <a:r>
              <a:rPr lang="en-US" sz="1600" dirty="0">
                <a:solidFill>
                  <a:schemeClr val="tx1"/>
                </a:solidFill>
              </a:rPr>
              <a:t> (with screenshots or sample code and output)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of a design case. 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Set context by telling reviewers how much detail you will go into in the walkthrough (and whether you’ll show supplemental details later).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Start at the beginning of the workflow.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47C0EC3B-D3C8-4AA3-AB4C-51CD2F3632FB}"/>
              </a:ext>
            </a:extLst>
          </p:cNvPr>
          <p:cNvSpPr/>
          <p:nvPr/>
        </p:nvSpPr>
        <p:spPr>
          <a:xfrm rot="166620">
            <a:off x="7752448" y="3404671"/>
            <a:ext cx="3753049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 dirty="0">
              <a:solidFill>
                <a:schemeClr val="tx1"/>
              </a:solidFill>
              <a:hlinkClick r:id="rId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Focus on </a:t>
            </a:r>
            <a:r>
              <a:rPr lang="en-US" sz="1600" b="1" dirty="0">
                <a:solidFill>
                  <a:schemeClr val="tx1"/>
                </a:solidFill>
              </a:rPr>
              <a:t>ideal path </a:t>
            </a:r>
            <a:r>
              <a:rPr lang="en-US" sz="1600" dirty="0">
                <a:solidFill>
                  <a:schemeClr val="tx1"/>
                </a:solidFill>
              </a:rPr>
              <a:t>first – then show edge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Walk through the design slowly,</a:t>
            </a:r>
            <a:r>
              <a:rPr lang="en-US" sz="1600" b="1" dirty="0">
                <a:solidFill>
                  <a:schemeClr val="tx1"/>
                </a:solidFill>
              </a:rPr>
              <a:t> from the user’s perspective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endParaRPr lang="en-US" sz="16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7971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6F2AA-4FFD-43C1-9EE0-4B15423D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Additional design details…</a:t>
            </a:r>
            <a:endParaRPr lang="en-US" b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65AA1-524F-49B8-8CFE-B0C6DABD4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E67F163C-2FB7-4718-ABAF-28D842D73150}"/>
              </a:ext>
            </a:extLst>
          </p:cNvPr>
          <p:cNvSpPr/>
          <p:nvPr/>
        </p:nvSpPr>
        <p:spPr>
          <a:xfrm rot="166620">
            <a:off x="7873958" y="988993"/>
            <a:ext cx="3475897" cy="2671252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4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Add pertinent details about the design. Consider linking to the RFA spec </a:t>
            </a:r>
            <a:r>
              <a:rPr lang="en-US" sz="1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FUNCTIONAL DESIGN 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section to show specified content.</a:t>
            </a: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For an API design review, you may show more details about the code. Consider a handout.  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3CC8B036-2E5B-441B-86EE-56573821922D}"/>
              </a:ext>
            </a:extLst>
          </p:cNvPr>
          <p:cNvSpPr/>
          <p:nvPr/>
        </p:nvSpPr>
        <p:spPr>
          <a:xfrm rot="166620">
            <a:off x="7796628" y="3826338"/>
            <a:ext cx="3475897" cy="1264725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4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Consider discussing how aspects of the functional design may impact meeting performance requirements.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6022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9D44-79E3-4BAD-A689-860F14476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Benchmarks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F31FF2-7DB7-4FDB-AA2A-11E49F213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/>
          <a:p>
            <a:r>
              <a:rPr lang="en-US"/>
              <a:t>Benchmark #1</a:t>
            </a:r>
          </a:p>
          <a:p>
            <a:r>
              <a:rPr lang="en-US"/>
              <a:t>Benchmark #2</a:t>
            </a:r>
          </a:p>
          <a:p>
            <a:r>
              <a:rPr lang="en-US"/>
              <a:t>…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DC0235DA-3E60-4EE3-A544-458767827391}"/>
              </a:ext>
            </a:extLst>
          </p:cNvPr>
          <p:cNvSpPr/>
          <p:nvPr/>
        </p:nvSpPr>
        <p:spPr>
          <a:xfrm rot="166620">
            <a:off x="7227472" y="470953"/>
            <a:ext cx="3856505" cy="5908813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Include at least one benchmark. How do other applications solve this or similar problems?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Toolstrip: How do Office’s applications compare?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Data manipulation: 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 manipulation: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Programming features: IntelliJ, </a:t>
            </a:r>
            <a:r>
              <a:rPr lang="en-US" dirty="0" err="1">
                <a:solidFill>
                  <a:schemeClr val="tx1"/>
                </a:solidFill>
              </a:rPr>
              <a:t>XCode</a:t>
            </a:r>
            <a:r>
              <a:rPr lang="en-US" dirty="0">
                <a:solidFill>
                  <a:schemeClr val="tx1"/>
                </a:solidFill>
              </a:rPr>
              <a:t>, Visual Studio,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Notebook features: </a:t>
            </a:r>
            <a:r>
              <a:rPr lang="en-US" dirty="0" err="1">
                <a:solidFill>
                  <a:schemeClr val="tx1"/>
                </a:solidFill>
              </a:rPr>
              <a:t>Jupyter</a:t>
            </a:r>
            <a:r>
              <a:rPr lang="en-US" dirty="0">
                <a:solidFill>
                  <a:schemeClr val="tx1"/>
                </a:solidFill>
              </a:rPr>
              <a:t>, Mathematica, R, …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This should come after the design proposal – sometimes it may serve to reinforce the proposal.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9CE50-F382-6A80-300D-6959DD3C261D}"/>
              </a:ext>
            </a:extLst>
          </p:cNvPr>
          <p:cNvSpPr txBox="1"/>
          <p:nvPr/>
        </p:nvSpPr>
        <p:spPr>
          <a:xfrm>
            <a:off x="4724400" y="3200400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Arial" pitchFamily="34" charset="0"/>
                <a:cs typeface="Arial" pitchFamily="34" charset="0"/>
              </a:rPr>
              <a:t>Click to add text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4668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Alternative #1: Name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Design Details </a:t>
            </a:r>
          </a:p>
          <a:p>
            <a:endParaRPr lang="en-US"/>
          </a:p>
          <a:p>
            <a:r>
              <a:rPr lang="en-US"/>
              <a:t>PROS  </a:t>
            </a:r>
          </a:p>
          <a:p>
            <a:endParaRPr lang="en-US"/>
          </a:p>
          <a:p>
            <a:r>
              <a:rPr lang="en-US"/>
              <a:t>CONS 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BBB66951-48AA-44ED-892D-565D62EB61A1}"/>
              </a:ext>
            </a:extLst>
          </p:cNvPr>
          <p:cNvSpPr/>
          <p:nvPr/>
        </p:nvSpPr>
        <p:spPr>
          <a:xfrm rot="166620">
            <a:off x="7608646" y="1274983"/>
            <a:ext cx="347589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  <a:p>
            <a:endParaRPr lang="en-US" sz="1400">
              <a:solidFill>
                <a:schemeClr val="tx1"/>
              </a:solidFill>
            </a:endParaRPr>
          </a:p>
          <a:p>
            <a:endParaRPr lang="en-US" sz="1600">
              <a:solidFill>
                <a:schemeClr val="tx1"/>
              </a:solidFill>
            </a:endParaRPr>
          </a:p>
          <a:p>
            <a:endParaRPr lang="en-US" sz="1600">
              <a:solidFill>
                <a:schemeClr val="tx1"/>
              </a:solidFill>
            </a:endParaRPr>
          </a:p>
          <a:p>
            <a:endParaRPr lang="en-US" sz="16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Consult the Design Alternatives Guidelines.</a:t>
            </a:r>
          </a:p>
          <a:p>
            <a:r>
              <a:rPr lang="en-US" sz="1400">
                <a:solidFill>
                  <a:schemeClr val="tx1"/>
                </a:solidFill>
              </a:rPr>
              <a:t>Show at least two alternative designs. Don’t skip or skimp on this section - this is often what inspires the most useful feedback.</a:t>
            </a:r>
          </a:p>
          <a:p>
            <a:r>
              <a:rPr lang="en-US" sz="1400">
                <a:solidFill>
                  <a:schemeClr val="tx1"/>
                </a:solidFill>
              </a:rPr>
              <a:t>Refer or link to RFA spec, </a:t>
            </a:r>
            <a:r>
              <a:rPr lang="en-US" sz="1400" b="1">
                <a:solidFill>
                  <a:schemeClr val="tx1"/>
                </a:solidFill>
              </a:rPr>
              <a:t>DESIGNS CONSIDERED</a:t>
            </a:r>
            <a:r>
              <a:rPr lang="en-US" sz="1400">
                <a:solidFill>
                  <a:schemeClr val="tx1"/>
                </a:solidFill>
              </a:rPr>
              <a:t> section.</a:t>
            </a:r>
          </a:p>
          <a:p>
            <a:pPr marL="60325"/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tx1"/>
              </a:solidFill>
            </a:endParaRP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EAE720B3-D9FA-4A20-988D-173561DB8880}"/>
              </a:ext>
            </a:extLst>
          </p:cNvPr>
          <p:cNvSpPr/>
          <p:nvPr/>
        </p:nvSpPr>
        <p:spPr>
          <a:xfrm rot="166620">
            <a:off x="7608672" y="3312179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344488" indent="-231775" defTabSz="344488"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Give details about each alternative.</a:t>
            </a:r>
          </a:p>
          <a:p>
            <a:pPr marL="344488" indent="-231775" defTabSz="344488">
              <a:buFont typeface="+mj-lt"/>
              <a:buAutoNum type="arabicPeriod" startAt="2"/>
            </a:pPr>
            <a:r>
              <a:rPr lang="en-US" sz="1400" dirty="0">
                <a:solidFill>
                  <a:schemeClr val="tx1"/>
                </a:solidFill>
              </a:rPr>
              <a:t>Highlight the pros and cons.</a:t>
            </a:r>
          </a:p>
          <a:p>
            <a:pPr marL="344488" indent="-231775" defTabSz="344488">
              <a:buFont typeface="+mj-lt"/>
              <a:buAutoNum type="arabicPeriod" startAt="2"/>
            </a:pPr>
            <a:r>
              <a:rPr lang="en-US" sz="1400" dirty="0">
                <a:solidFill>
                  <a:schemeClr val="tx1"/>
                </a:solidFill>
              </a:rPr>
              <a:t>Summarize the pros and cons, reinforcing why the proposed design is preferred.</a:t>
            </a:r>
          </a:p>
          <a:p>
            <a:pPr marL="112713" lvl="1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46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Alternative #2: Name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Design Details </a:t>
            </a:r>
          </a:p>
          <a:p>
            <a:endParaRPr lang="en-US"/>
          </a:p>
          <a:p>
            <a:r>
              <a:rPr lang="en-US"/>
              <a:t>PROS  </a:t>
            </a:r>
          </a:p>
          <a:p>
            <a:endParaRPr lang="en-US"/>
          </a:p>
          <a:p>
            <a:r>
              <a:rPr lang="en-US"/>
              <a:t>CONS </a:t>
            </a:r>
          </a:p>
          <a:p>
            <a:endParaRPr lang="en-US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DBA31BAA-3181-48BF-90C9-001C23995928}"/>
              </a:ext>
            </a:extLst>
          </p:cNvPr>
          <p:cNvSpPr/>
          <p:nvPr/>
        </p:nvSpPr>
        <p:spPr>
          <a:xfrm rot="166620">
            <a:off x="7510728" y="1834651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344488" indent="-231775" defTabSz="344488"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Give details about each alternative.</a:t>
            </a:r>
          </a:p>
          <a:p>
            <a:pPr marL="344488" indent="-231775" defTabSz="344488">
              <a:buFont typeface="+mj-lt"/>
              <a:buAutoNum type="arabicPeriod" startAt="2"/>
            </a:pPr>
            <a:r>
              <a:rPr lang="en-US" sz="1400" dirty="0">
                <a:solidFill>
                  <a:schemeClr val="tx1"/>
                </a:solidFill>
              </a:rPr>
              <a:t>Highlight the pros and cons.</a:t>
            </a:r>
          </a:p>
          <a:p>
            <a:pPr marL="344488" indent="-231775" defTabSz="344488">
              <a:buFont typeface="+mj-lt"/>
              <a:buAutoNum type="arabicPeriod" startAt="2"/>
            </a:pPr>
            <a:r>
              <a:rPr lang="en-US" sz="1400" dirty="0">
                <a:solidFill>
                  <a:schemeClr val="tx1"/>
                </a:solidFill>
              </a:rPr>
              <a:t>Summarize the pros and cons, reinforcing why the proposed design is preferred.</a:t>
            </a:r>
          </a:p>
          <a:p>
            <a:pPr marL="344488" indent="-231775" defTabSz="344488">
              <a:buFont typeface="+mj-lt"/>
              <a:buAutoNum type="arabicPeriod" startAt="2"/>
            </a:pPr>
            <a:endParaRPr lang="en-US" sz="1400" dirty="0">
              <a:solidFill>
                <a:schemeClr val="tx1"/>
              </a:solidFill>
            </a:endParaRPr>
          </a:p>
          <a:p>
            <a:pPr marL="112713" lvl="1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083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Pros and Cons of Design Alternatives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898D8FB5-4E11-460F-9810-069AFEA8141B}"/>
              </a:ext>
            </a:extLst>
          </p:cNvPr>
          <p:cNvSpPr/>
          <p:nvPr/>
        </p:nvSpPr>
        <p:spPr>
          <a:xfrm rot="166620">
            <a:off x="7302715" y="453510"/>
            <a:ext cx="3432357" cy="4044933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112713" defTabSz="344488"/>
            <a:endParaRPr lang="en-US" sz="1400" dirty="0">
              <a:solidFill>
                <a:schemeClr val="tx1"/>
              </a:solidFill>
            </a:endParaRPr>
          </a:p>
          <a:p>
            <a:pPr marL="112713" defTabSz="344488"/>
            <a:r>
              <a:rPr lang="en-US" sz="1400" dirty="0">
                <a:solidFill>
                  <a:schemeClr val="tx1"/>
                </a:solidFill>
              </a:rPr>
              <a:t>Summarize the pros and cons of each alternative, including the proposed design. Reinforce why the proposed design is preferred. Use visuals to refer to each design.</a:t>
            </a:r>
          </a:p>
          <a:p>
            <a:pPr marL="112713" defTabSz="344488"/>
            <a:endParaRPr lang="en-US" sz="1400" dirty="0">
              <a:solidFill>
                <a:schemeClr val="tx1"/>
              </a:solidFill>
            </a:endParaRPr>
          </a:p>
          <a:p>
            <a:pPr marL="344488" lvl="1" indent="-231775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204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Proposal Summary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DEBFF021-BEFC-4C16-BA5C-7F173B6B64EF}"/>
              </a:ext>
            </a:extLst>
          </p:cNvPr>
          <p:cNvSpPr/>
          <p:nvPr/>
        </p:nvSpPr>
        <p:spPr>
          <a:xfrm rot="166620">
            <a:off x="7436440" y="1988061"/>
            <a:ext cx="3475897" cy="1943526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Highlight key elements of the design.</a:t>
            </a:r>
            <a:br>
              <a:rPr lang="en-US" sz="1600">
                <a:solidFill>
                  <a:schemeClr val="tx1"/>
                </a:solidFill>
              </a:rPr>
            </a:br>
            <a:endParaRPr lang="en-US" sz="16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Include visual reminders.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List API design considerations…</a:t>
            </a:r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182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BF1DE-AC91-4C67-93D2-306B4DB95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 Requested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DB73F323-0776-4D9F-AD79-8004F19C7F48}"/>
              </a:ext>
            </a:extLst>
          </p:cNvPr>
          <p:cNvSpPr/>
          <p:nvPr/>
        </p:nvSpPr>
        <p:spPr>
          <a:xfrm rot="166620">
            <a:off x="7588840" y="1835661"/>
            <a:ext cx="3475897" cy="1943526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Restate the desired feedback.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Include next steps – e.g., if an IDR is next.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3298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MW_Public_widescreen">
  <a:themeElements>
    <a:clrScheme name="MW">
      <a:dk1>
        <a:srgbClr val="000000"/>
      </a:dk1>
      <a:lt1>
        <a:srgbClr val="FFFFFF"/>
      </a:lt1>
      <a:dk2>
        <a:srgbClr val="0076A8"/>
      </a:dk2>
      <a:lt2>
        <a:srgbClr val="ECF5F8"/>
      </a:lt2>
      <a:accent1>
        <a:srgbClr val="D78824"/>
      </a:accent1>
      <a:accent2>
        <a:srgbClr val="004B87"/>
      </a:accent2>
      <a:accent3>
        <a:srgbClr val="00A9E0"/>
      </a:accent3>
      <a:accent4>
        <a:srgbClr val="F2A900"/>
      </a:accent4>
      <a:accent5>
        <a:srgbClr val="B7302C"/>
      </a:accent5>
      <a:accent6>
        <a:srgbClr val="48A23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public.potx" id="{6373C024-208B-4210-B9D7-DE9E6D46232F}" vid="{0AAF3998-E945-49EA-AE21-DC9C55644A9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33291C80D20540A94D9CFBF1780E8F" ma:contentTypeVersion="15" ma:contentTypeDescription="Create a new document." ma:contentTypeScope="" ma:versionID="39d7a9c272b837caf57fd7c18d0fa356">
  <xsd:schema xmlns:xsd="http://www.w3.org/2001/XMLSchema" xmlns:xs="http://www.w3.org/2001/XMLSchema" xmlns:p="http://schemas.microsoft.com/office/2006/metadata/properties" xmlns:ns2="ee0baada-77a5-4611-8cd6-672a68aeea58" xmlns:ns3="a5c3e8b0-7608-49eb-a067-53f2827a6faf" targetNamespace="http://schemas.microsoft.com/office/2006/metadata/properties" ma:root="true" ma:fieldsID="7b3a0b646f601630b8901e2664c3efc3" ns2:_="" ns3:_="">
    <xsd:import namespace="ee0baada-77a5-4611-8cd6-672a68aeea58"/>
    <xsd:import namespace="a5c3e8b0-7608-49eb-a067-53f2827a6f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0baada-77a5-4611-8cd6-672a68aeea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c3e8b0-7608-49eb-a067-53f2827a6f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5c3e8b0-7608-49eb-a067-53f2827a6faf">
      <UserInfo>
        <DisplayName>Andreas Sorgatz</DisplayName>
        <AccountId>407</AccountId>
        <AccountType/>
      </UserInfo>
      <UserInfo>
        <DisplayName>Steph Round</DisplayName>
        <AccountId>220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CFCCB852-5936-4FF3-922C-9D47B073236D}">
  <ds:schemaRefs>
    <ds:schemaRef ds:uri="a5c3e8b0-7608-49eb-a067-53f2827a6faf"/>
    <ds:schemaRef ds:uri="ee0baada-77a5-4611-8cd6-672a68aeea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B61DF2E-245C-45DF-A9A5-EABECEA429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B851B7-D313-4E85-A1E0-5976CFE11EC3}">
  <ds:schemaRefs>
    <ds:schemaRef ds:uri="a5c3e8b0-7608-49eb-a067-53f2827a6faf"/>
    <ds:schemaRef ds:uri="ee0baada-77a5-4611-8cd6-672a68aeea5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799</Words>
  <Application>Microsoft Macintosh PowerPoint</Application>
  <PresentationFormat>Widescreen</PresentationFormat>
  <Paragraphs>173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Courier New</vt:lpstr>
      <vt:lpstr>Wingdings</vt:lpstr>
      <vt:lpstr>MW_Public_widescreen</vt:lpstr>
      <vt:lpstr>Title</vt:lpstr>
      <vt:lpstr>Agenda </vt:lpstr>
      <vt:lpstr>What is the goal of today’s meeting?</vt:lpstr>
      <vt:lpstr>Design Goals and Direction</vt:lpstr>
      <vt:lpstr>Who are our users?</vt:lpstr>
      <vt:lpstr>Requirements Summary</vt:lpstr>
      <vt:lpstr>PowerPoint Presentation</vt:lpstr>
      <vt:lpstr>Design Proposal and Assessment</vt:lpstr>
      <vt:lpstr>Design Walkthrough (proposed design)</vt:lpstr>
      <vt:lpstr>Additional design details…</vt:lpstr>
      <vt:lpstr>Benchmarks</vt:lpstr>
      <vt:lpstr>Design Alternative #1: Name</vt:lpstr>
      <vt:lpstr>Design Alternative #2: Name</vt:lpstr>
      <vt:lpstr>Pros and Cons of Design Alternatives</vt:lpstr>
      <vt:lpstr>Design Proposal Summary</vt:lpstr>
      <vt:lpstr>Feedback Requested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 Practices for Organizational Design Review Presentations</dc:title>
  <dc:subject/>
  <dc:creator>Nirja Mehta</dc:creator>
  <cp:keywords>Version 21.2</cp:keywords>
  <dc:description/>
  <cp:lastModifiedBy>Michelle Hirsch</cp:lastModifiedBy>
  <cp:revision>3</cp:revision>
  <cp:lastPrinted>2024-12-10T20:16:37Z</cp:lastPrinted>
  <dcterms:created xsi:type="dcterms:W3CDTF">2021-10-15T18:21:21Z</dcterms:created>
  <dcterms:modified xsi:type="dcterms:W3CDTF">2026-01-15T20:55:16Z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441712758</vt:i4>
  </property>
  <property fmtid="{D5CDD505-2E9C-101B-9397-08002B2CF9AE}" pid="3" name="_NewReviewCycle">
    <vt:lpwstr/>
  </property>
  <property fmtid="{D5CDD505-2E9C-101B-9397-08002B2CF9AE}" pid="4" name="_EmailSubject">
    <vt:lpwstr>Quick PPT question</vt:lpwstr>
  </property>
  <property fmtid="{D5CDD505-2E9C-101B-9397-08002B2CF9AE}" pid="5" name="_AuthorEmail">
    <vt:lpwstr>Julie.Cornell@mathworks.com</vt:lpwstr>
  </property>
  <property fmtid="{D5CDD505-2E9C-101B-9397-08002B2CF9AE}" pid="6" name="_AuthorEmailDisplayName">
    <vt:lpwstr>Julie Cornell</vt:lpwstr>
  </property>
  <property fmtid="{D5CDD505-2E9C-101B-9397-08002B2CF9AE}" pid="7" name="ContentTypeId">
    <vt:lpwstr>0x0101003B33291C80D20540A94D9CFBF1780E8F</vt:lpwstr>
  </property>
  <property fmtid="{D5CDD505-2E9C-101B-9397-08002B2CF9AE}" pid="8" name="Order">
    <vt:r8>47491500</vt:r8>
  </property>
  <property fmtid="{D5CDD505-2E9C-101B-9397-08002B2CF9AE}" pid="9" name="xd_Signature">
    <vt:bool>false</vt:bool>
  </property>
  <property fmtid="{D5CDD505-2E9C-101B-9397-08002B2CF9AE}" pid="10" name="xd_ProgID">
    <vt:lpwstr/>
  </property>
  <property fmtid="{D5CDD505-2E9C-101B-9397-08002B2CF9AE}" pid="11" name="ComplianceAssetId">
    <vt:lpwstr/>
  </property>
  <property fmtid="{D5CDD505-2E9C-101B-9397-08002B2CF9AE}" pid="12" name="TemplateUrl">
    <vt:lpwstr/>
  </property>
</Properties>
</file>