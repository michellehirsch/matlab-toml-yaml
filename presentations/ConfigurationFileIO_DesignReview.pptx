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1" r:id="rId5"/>
    <p:sldId id="343" r:id="rId6"/>
    <p:sldId id="276" r:id="rId7"/>
    <p:sldId id="345" r:id="rId8"/>
    <p:sldId id="346" r:id="rId9"/>
    <p:sldId id="356" r:id="rId10"/>
    <p:sldId id="358" r:id="rId11"/>
    <p:sldId id="344" r:id="rId12"/>
    <p:sldId id="350" r:id="rId13"/>
    <p:sldId id="357" r:id="rId14"/>
    <p:sldId id="355" r:id="rId15"/>
    <p:sldId id="288" r:id="rId16"/>
    <p:sldId id="293" r:id="rId17"/>
    <p:sldId id="354" r:id="rId18"/>
    <p:sldId id="292" r:id="rId19"/>
    <p:sldId id="295" r:id="rId20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367" r:id="rId37"/>
    <p:sldId id="368" r:id="rId38"/>
    <p:sldId id="369" r:id="rId39"/>
    <p:sldId id="370" r:id="rId40"/>
    <p:sldId id="371" r:id="rId41"/>
    <p:sldId id="372" r:id="rId42"/>
    <p:sldId id="373" r:id="rId43"/>
    <p:sldId id="374" r:id="rId44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5830D-16F3-DFFC-96BC-2F13F54A9960}" name="Nandini Sen" initials="NS" userId="S::nsen@mathworks.com::1eb59307-e418-4d42-8660-c8a76b2e6d80" providerId="AD"/>
  <p188:author id="{FB2483CC-9708-B07E-3E19-3754C1E19721}" name="John Booker" initials="JB" userId="S::jbooker@mathworks.com::6f49b1c6-d488-4c0f-97fd-9cdf97f6b4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400"/>
    <a:srgbClr val="228B22"/>
    <a:srgbClr val="A020F6"/>
    <a:srgbClr val="0000FF"/>
    <a:srgbClr val="636569"/>
    <a:srgbClr val="715091"/>
    <a:srgbClr val="176DAD"/>
    <a:srgbClr val="0D78C9"/>
    <a:srgbClr val="024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78CE3-BB38-490A-8F3F-0AD936C4C8CA}" v="1" dt="2025-05-23T14:32:09.564"/>
    <p1510:client id="{21BD1D15-9772-8C89-0266-31454428197C}" v="2" dt="2025-05-23T14:42:18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microsoft.com/office/2018/10/relationships/authors" Target="authors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of recent MDR - https://sharepoint.mathworks.com/dev/ltc/rme/Design/_layouts/15/WopiFrame.aspx?sourcedoc={C80CB5FC-9218-4036-908A-B56D878C5370}&amp;file=Live%20Editor%20ViewsNew.pptx&amp;action=default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29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7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54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21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55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25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124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Relationship Id="rId4" Type="http://schemas.openxmlformats.org/officeDocument/2006/relationships/hyperlink" Target="https://mathworks.sharepoint.com/:p:/r/sites/ltc/rme/Design/Shared%20Documents/MDR/2015/2015-06-16%20Rich%20Editor%20Sections/Rich%20Editor%20Section%20Design.pptx?d=wc26f31c0e3e946a2b1232b0c0e7ad541&amp;csf=1&amp;e=caE2S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3" Type="http://schemas.openxmlformats.org/officeDocument/2006/relationships/hyperlink" Target="https://mathworks.sharepoint.com/sites/ltc/math/nntb/rfain/Shared%20Documents/Deep%20Learning/Network%20Wrappers%20and%20Layer%20Development/DLDR/Defining%20Networks.pptx?web=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hyperlink" Target="https://sharepoint.mathworks.com/dev/devu/RFAINcommunity/RFResourceCenter/requirements/DRF_DeVMAPPS/_layouts/15/WopiFrame.aspx?sourcedoc=%7b0BBFA5EC-38D2-4B10-8A2C-9D6F97FA58C5%7d&amp;file=User%20Data%20Sources%20v3.docx&amp;action=defaul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>
                <a:latin typeface="Arial"/>
                <a:cs typeface="Arial"/>
              </a:rPr>
              <a:t>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Presenter</a:t>
            </a:r>
            <a:endParaRPr lang="en-US" sz="1600" i="1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Date of review</a:t>
            </a:r>
          </a:p>
          <a:p>
            <a:r>
              <a:rPr lang="en-US" sz="1600" i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Sponsor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Meeting Goals</a:t>
            </a:r>
          </a:p>
          <a:p>
            <a:r>
              <a:t>Background</a:t>
            </a:r>
          </a:p>
          <a:p>
            <a:r>
              <a:t>Design Goals and Direction</a:t>
            </a:r>
          </a:p>
          <a:p>
            <a:r>
              <a:t>Design Proposal</a:t>
            </a:r>
          </a:p>
          <a:p>
            <a:r>
              <a:t>Alternatives Considered</a:t>
            </a:r>
          </a:p>
          <a:p>
            <a:r>
              <a:t>Summary and Next Steps</a:t>
            </a:r>
          </a:p>
        </p:txBody>
      </p:sp>
      <p:sp>
        <p:nvSpPr>
          <p:cNvPr id="5" name="Rectangle: Folded Corner 4"/>
          <p:cNvSpPr/>
          <p:nvPr/>
        </p:nvSpPr>
        <p:spPr>
          <a:xfrm rot="166620">
            <a:off x="7165613" y="1718801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This basic structure covers the necessary elements of a successful design review.</a:t>
            </a: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Add other sections to fit your needs for a direction setting review.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9617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goal of today’s meeting?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3535" indent="-343535">
              <a:buFont typeface="Wingdings"/>
            </a:pPr>
            <a:r>
              <a:rPr lang="en-US">
                <a:latin typeface="Arial"/>
                <a:cs typeface="Arial"/>
              </a:rPr>
              <a:t>Goal #1</a:t>
            </a:r>
            <a:endParaRPr lang="en-US"/>
          </a:p>
          <a:p>
            <a:pPr marL="343535" indent="-343535"/>
            <a:r>
              <a:rPr lang="en-US">
                <a:latin typeface="Arial"/>
                <a:cs typeface="Arial"/>
              </a:rPr>
              <a:t>Goal #2</a:t>
            </a:r>
          </a:p>
          <a:p>
            <a:pPr marL="343535" indent="-343535"/>
            <a:endParaRPr lang="en-US"/>
          </a:p>
          <a:p>
            <a:pPr marL="343535" indent="-343535"/>
            <a:r>
              <a:rPr lang="en-US">
                <a:latin typeface="Arial"/>
                <a:cs typeface="Arial"/>
              </a:rPr>
              <a:t>Area of feedback #1</a:t>
            </a:r>
          </a:p>
          <a:p>
            <a:pPr marL="343535" indent="-343535"/>
            <a:r>
              <a:rPr lang="en-US">
                <a:latin typeface="Arial"/>
                <a:cs typeface="Arial"/>
              </a:rPr>
              <a:t>Area of feedback #2</a:t>
            </a:r>
          </a:p>
          <a:p>
            <a:pPr marL="343535" indent="-343535"/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E89F91A-08D2-46E0-9631-461EDA96AD7D}"/>
              </a:ext>
            </a:extLst>
          </p:cNvPr>
          <p:cNvSpPr/>
          <p:nvPr/>
        </p:nvSpPr>
        <p:spPr>
          <a:xfrm rot="166620">
            <a:off x="7053528" y="1311278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 is important for reviewers to understand the goal of the meeting. </a:t>
            </a: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33363" indent="-233363">
              <a:buFont typeface="+mj-lt"/>
              <a:buAutoNum type="arabicPeriod"/>
            </a:pP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On this slide, reinforce whether this is a </a:t>
            </a:r>
            <a:r>
              <a:rPr lang="en-US" sz="1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design review</a:t>
            </a: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or a </a:t>
            </a:r>
            <a:r>
              <a:rPr lang="en-US" sz="16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direction-setting</a:t>
            </a: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review.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4214831-C6F3-480B-A690-B531AD9DE970}"/>
              </a:ext>
            </a:extLst>
          </p:cNvPr>
          <p:cNvSpPr/>
          <p:nvPr/>
        </p:nvSpPr>
        <p:spPr>
          <a:xfrm rot="166620">
            <a:off x="6977328" y="3199764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3363" indent="-233363">
              <a:buFont typeface="+mj-lt"/>
              <a:buAutoNum type="arabicPeriod" startAt="2"/>
            </a:pPr>
            <a:r>
              <a:rPr lang="en-US" sz="1600">
                <a:solidFill>
                  <a:schemeClr val="tx1"/>
                </a:solidFill>
              </a:rPr>
              <a:t>State the desired feedback up front so they have a frame of reference.</a:t>
            </a:r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  <a:hlinkClick r:id="rId4"/>
              </a:rPr>
              <a:t>Example (see slide 3)</a:t>
            </a:r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46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20CB-E572-471C-A1E8-BD906F81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Goals and Direction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707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C39F-88B9-4C73-BC12-036A310D3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10769600" cy="4648200"/>
          </a:xfrm>
        </p:spPr>
        <p:txBody>
          <a:bodyPr/>
          <a:lstStyle/>
          <a:p>
            <a:r>
              <a:rPr lang="en-US"/>
              <a:t>Who are our users and what are their goals?</a:t>
            </a:r>
          </a:p>
          <a:p>
            <a:endParaRPr lang="en-US"/>
          </a:p>
          <a:p>
            <a:endParaRPr lang="en-US"/>
          </a:p>
          <a:p>
            <a:pPr marL="342900" indent="-342900"/>
            <a:r>
              <a:rPr lang="en-US"/>
              <a:t>What do we need to fix or provide to improve</a:t>
            </a:r>
          </a:p>
          <a:p>
            <a:pPr marL="0" indent="0">
              <a:buNone/>
            </a:pPr>
            <a:r>
              <a:rPr lang="en-US"/>
              <a:t>    the customer’s workflow?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D2460-0412-424D-997F-D4CC78D5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are our users?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9F6235EB-F70B-4A02-8538-724E355DE3D2}"/>
              </a:ext>
            </a:extLst>
          </p:cNvPr>
          <p:cNvSpPr/>
          <p:nvPr/>
        </p:nvSpPr>
        <p:spPr>
          <a:xfrm rot="166620">
            <a:off x="7477147" y="455389"/>
            <a:ext cx="3475897" cy="36290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are the customers?</a:t>
            </a:r>
          </a:p>
          <a:p>
            <a:r>
              <a:rPr lang="en-US" sz="1400">
                <a:solidFill>
                  <a:schemeClr val="tx1"/>
                </a:solidFill>
              </a:rPr>
              <a:t>What do they need to accomplish in the context of this release deliverable?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Use these to describe your users and their requirements: 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User Roles and Goals 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workflows</a:t>
            </a:r>
          </a:p>
          <a:p>
            <a:pPr lvl="1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user data and pains</a:t>
            </a:r>
          </a:p>
          <a:p>
            <a:pPr marL="508000" indent="-271463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requirements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Link or refer to RFA spec, </a:t>
            </a:r>
            <a:r>
              <a:rPr lang="en-US" sz="1400" b="1">
                <a:solidFill>
                  <a:schemeClr val="tx1"/>
                </a:solidFill>
              </a:rPr>
              <a:t>Know Your User</a:t>
            </a:r>
            <a:r>
              <a:rPr lang="en-US" sz="1400">
                <a:solidFill>
                  <a:schemeClr val="tx1"/>
                </a:solidFill>
              </a:rPr>
              <a:t> and </a:t>
            </a:r>
            <a:r>
              <a:rPr lang="en-US" sz="1400" b="1">
                <a:solidFill>
                  <a:schemeClr val="tx1"/>
                </a:solidFill>
              </a:rPr>
              <a:t>Requirements</a:t>
            </a:r>
            <a:r>
              <a:rPr lang="en-US" sz="1400">
                <a:solidFill>
                  <a:schemeClr val="tx1"/>
                </a:solidFill>
              </a:rPr>
              <a:t> sections.</a:t>
            </a:r>
          </a:p>
          <a:p>
            <a:pPr lvl="1" indent="-223838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4CC18DD2-B593-4979-AEF8-932098794DF6}"/>
              </a:ext>
            </a:extLst>
          </p:cNvPr>
          <p:cNvSpPr/>
          <p:nvPr/>
        </p:nvSpPr>
        <p:spPr>
          <a:xfrm rot="166620">
            <a:off x="7751316" y="4650940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>
              <a:solidFill>
                <a:schemeClr val="tx1"/>
              </a:solidFill>
            </a:endParaRPr>
          </a:p>
          <a:p>
            <a:pPr lvl="1" indent="-457200"/>
            <a:r>
              <a:rPr lang="en-US" sz="1400">
                <a:solidFill>
                  <a:schemeClr val="tx1"/>
                </a:solidFill>
              </a:rPr>
              <a:t>Mine user data from:</a:t>
            </a:r>
            <a:endParaRPr lang="en-US" sz="1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1"/>
                </a:solidFill>
              </a:rPr>
              <a:t>Gecks</a:t>
            </a:r>
            <a:endParaRPr lang="en-US" sz="1400">
              <a:solidFill>
                <a:schemeClr val="tx1"/>
              </a:solidFill>
            </a:endParaRP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UX feedback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Event Reports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Tech Support Calls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Voice of the Customer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From the Frontlines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MATLAB Answers</a:t>
            </a:r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9D742758-6A98-4DBE-8222-E2D1C9FF93BA}"/>
              </a:ext>
            </a:extLst>
          </p:cNvPr>
          <p:cNvSpPr/>
          <p:nvPr/>
        </p:nvSpPr>
        <p:spPr>
          <a:xfrm rot="166620">
            <a:off x="4255093" y="4463126"/>
            <a:ext cx="3478617" cy="1894148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</a:rPr>
              <a:t>Be data-driven! Whenever possible, use existing: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User Roles and goals</a:t>
            </a:r>
          </a:p>
          <a:p>
            <a:pPr marL="457200" indent="-223838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Customer Workflows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61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Requirements Summary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Requirement #1</a:t>
            </a:r>
          </a:p>
          <a:p>
            <a:r>
              <a:rPr lang="en-US"/>
              <a:t>Requirement #2</a:t>
            </a:r>
          </a:p>
          <a:p>
            <a:r>
              <a:rPr lang="en-US"/>
              <a:t>…</a:t>
            </a:r>
          </a:p>
          <a:p>
            <a:pPr marL="0" indent="0">
              <a:buNone/>
            </a:pPr>
            <a:r>
              <a:rPr lang="en-US"/>
              <a:t> </a:t>
            </a:r>
          </a:p>
          <a:p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02B95A2C-30CA-4CDE-BF22-C5DCD3172DF3}"/>
              </a:ext>
            </a:extLst>
          </p:cNvPr>
          <p:cNvSpPr/>
          <p:nvPr/>
        </p:nvSpPr>
        <p:spPr>
          <a:xfrm rot="166620">
            <a:off x="7872114" y="1297083"/>
            <a:ext cx="3475897" cy="2131094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 a high level, summarize and highlight the important requirements for the purpose of this design review.</a:t>
            </a:r>
          </a:p>
          <a:p>
            <a:r>
              <a:rPr lang="en-US" sz="16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Show how your requirements summary ties back to user goals.</a:t>
            </a:r>
          </a:p>
          <a:p>
            <a:r>
              <a:rPr lang="en-US" sz="1600">
                <a:solidFill>
                  <a:schemeClr val="tx1"/>
                </a:solidFill>
              </a:rPr>
              <a:t>Link or refer to RFA spec </a:t>
            </a:r>
            <a:r>
              <a:rPr lang="en-US" sz="1600" b="1">
                <a:solidFill>
                  <a:schemeClr val="tx1"/>
                </a:solidFill>
              </a:rPr>
              <a:t>Requirements</a:t>
            </a:r>
            <a:r>
              <a:rPr lang="en-US" sz="1600">
                <a:solidFill>
                  <a:schemeClr val="tx1"/>
                </a:solidFill>
              </a:rPr>
              <a:t> section.</a:t>
            </a:r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889FDE37-07D1-4A04-9EE8-3CDDD3454499}"/>
              </a:ext>
            </a:extLst>
          </p:cNvPr>
          <p:cNvSpPr/>
          <p:nvPr/>
        </p:nvSpPr>
        <p:spPr>
          <a:xfrm rot="166620">
            <a:off x="7725069" y="3509219"/>
            <a:ext cx="3432357" cy="2819518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 indent="-457200"/>
            <a:endParaRPr lang="en-US" sz="1400">
              <a:solidFill>
                <a:schemeClr val="tx1"/>
              </a:solidFill>
            </a:endParaRPr>
          </a:p>
          <a:p>
            <a:r>
              <a:rPr lang="en-US" sz="1600">
                <a:solidFill>
                  <a:srgbClr val="FF0000"/>
                </a:solidFill>
              </a:rPr>
              <a:t>(NEW) </a:t>
            </a:r>
            <a:r>
              <a:rPr lang="en-US" sz="1600">
                <a:solidFill>
                  <a:schemeClr val="tx1"/>
                </a:solidFill>
              </a:rPr>
              <a:t>Summarize and highlight performance requirements most applicable for this design review.</a:t>
            </a: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Link or refer to the performance requirements and benchmarking strategies discussion in your RFA spec.</a:t>
            </a:r>
            <a:endParaRPr lang="en-US" sz="1600">
              <a:solidFill>
                <a:schemeClr val="tx1"/>
              </a:solidFill>
              <a:cs typeface="Arial"/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  <a:hlinkClick r:id="rId3"/>
              </a:rPr>
              <a:t>Example (slide 33)</a:t>
            </a:r>
            <a:endParaRPr lang="en-US" sz="160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93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73DE-9DF9-4CEE-E285-2A9486E6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F353-38E0-18F7-17CE-04F4E0AF5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3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20CB-E572-471C-A1E8-BD906F81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Design Proposal and Assessment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28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Walkthrough (proposed design)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04DD3101-10CE-4260-A6A5-F0C647D8B171}"/>
              </a:ext>
            </a:extLst>
          </p:cNvPr>
          <p:cNvSpPr/>
          <p:nvPr/>
        </p:nvSpPr>
        <p:spPr>
          <a:xfrm rot="166620">
            <a:off x="7823003" y="698764"/>
            <a:ext cx="3762989" cy="33922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A design proposal is best conveyed using a </a:t>
            </a:r>
            <a:r>
              <a:rPr lang="en-US" sz="1600" b="1" dirty="0">
                <a:solidFill>
                  <a:schemeClr val="tx1"/>
                </a:solidFill>
              </a:rPr>
              <a:t>visual walkthrough</a:t>
            </a:r>
            <a:r>
              <a:rPr lang="en-US" sz="1600" dirty="0">
                <a:solidFill>
                  <a:schemeClr val="tx1"/>
                </a:solidFill>
              </a:rPr>
              <a:t> (with screenshots or sample code and output)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of a design case.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Set context by telling reviewers how much detail you will go into in the walkthrough (and whether you’ll show supplemental details later).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 at the beginning of the workflow.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7C0EC3B-D3C8-4AA3-AB4C-51CD2F3632FB}"/>
              </a:ext>
            </a:extLst>
          </p:cNvPr>
          <p:cNvSpPr/>
          <p:nvPr/>
        </p:nvSpPr>
        <p:spPr>
          <a:xfrm rot="166620">
            <a:off x="7752448" y="3404671"/>
            <a:ext cx="3753049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Focus on </a:t>
            </a:r>
            <a:r>
              <a:rPr lang="en-US" sz="1600" b="1" dirty="0">
                <a:solidFill>
                  <a:schemeClr val="tx1"/>
                </a:solidFill>
              </a:rPr>
              <a:t>ideal path </a:t>
            </a:r>
            <a:r>
              <a:rPr lang="en-US" sz="1600" dirty="0">
                <a:solidFill>
                  <a:schemeClr val="tx1"/>
                </a:solidFill>
              </a:rPr>
              <a:t>first – then show edge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Walk through the design slowly,</a:t>
            </a:r>
            <a:r>
              <a:rPr lang="en-US" sz="1600" b="1" dirty="0">
                <a:solidFill>
                  <a:schemeClr val="tx1"/>
                </a:solidFill>
              </a:rPr>
              <a:t> from the user’s perspective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971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F2AA-4FFD-43C1-9EE0-4B15423D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Additional design details…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65AA1-524F-49B8-8CFE-B0C6DABD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67F163C-2FB7-4718-ABAF-28D842D73150}"/>
              </a:ext>
            </a:extLst>
          </p:cNvPr>
          <p:cNvSpPr/>
          <p:nvPr/>
        </p:nvSpPr>
        <p:spPr>
          <a:xfrm rot="166620">
            <a:off x="7873958" y="988993"/>
            <a:ext cx="3475897" cy="2671252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Add pertinent details about the design. Consider linking to the RFA spec </a:t>
            </a:r>
            <a:r>
              <a:rPr lang="en-US" sz="16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FUNCTIONAL DESIGN </a:t>
            </a:r>
            <a:r>
              <a:rPr lang="en-US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section to show specified content.</a:t>
            </a: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For an API design review, you may show more details about the code. Consider a handout.  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C8B036-2E5B-441B-86EE-56573821922D}"/>
              </a:ext>
            </a:extLst>
          </p:cNvPr>
          <p:cNvSpPr/>
          <p:nvPr/>
        </p:nvSpPr>
        <p:spPr>
          <a:xfrm rot="166620">
            <a:off x="7796628" y="3826338"/>
            <a:ext cx="3475897" cy="1264725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Consider discussing how aspects of the functional design may impact meeting performance requirements.</a:t>
            </a: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602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9D44-79E3-4BAD-A689-860F1447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Benchmarks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F31FF2-7DB7-4FDB-AA2A-11E49F213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/>
          <a:p>
            <a:r>
              <a:rPr lang="en-US"/>
              <a:t>Benchmark #1</a:t>
            </a:r>
          </a:p>
          <a:p>
            <a:r>
              <a:rPr lang="en-US"/>
              <a:t>Benchmark #2</a:t>
            </a:r>
          </a:p>
          <a:p>
            <a:r>
              <a:rPr lang="en-US"/>
              <a:t>…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DC0235DA-3E60-4EE3-A544-458767827391}"/>
              </a:ext>
            </a:extLst>
          </p:cNvPr>
          <p:cNvSpPr/>
          <p:nvPr/>
        </p:nvSpPr>
        <p:spPr>
          <a:xfrm rot="166620">
            <a:off x="7227472" y="470953"/>
            <a:ext cx="3856505" cy="5908813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Include at least one benchmark. How do other applications solve this or similar problems?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Toolstrip: How do Office’s applications compare?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manipulation: 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 manipulation: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Programming features: IntelliJ, </a:t>
            </a:r>
            <a:r>
              <a:rPr lang="en-US" dirty="0" err="1">
                <a:solidFill>
                  <a:schemeClr val="tx1"/>
                </a:solidFill>
              </a:rPr>
              <a:t>XCode</a:t>
            </a:r>
            <a:r>
              <a:rPr lang="en-US" dirty="0">
                <a:solidFill>
                  <a:schemeClr val="tx1"/>
                </a:solidFill>
              </a:rPr>
              <a:t>, Visual Studio,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Notebook features: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, Mathematica, R, 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should come after the design proposal – sometimes it may serve to reinforce the proposal.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9CE50-F382-6A80-300D-6959DD3C261D}"/>
              </a:ext>
            </a:extLst>
          </p:cNvPr>
          <p:cNvSpPr txBox="1"/>
          <p:nvPr/>
        </p:nvSpPr>
        <p:spPr>
          <a:xfrm>
            <a:off x="4724400" y="3200400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latin typeface="Arial" pitchFamily="34" charset="0"/>
                <a:cs typeface="Arial" pitchFamily="34" charset="0"/>
              </a:rPr>
              <a:t>Click to add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466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#1: Name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Design Details </a:t>
            </a:r>
          </a:p>
          <a:p>
            <a:endParaRPr lang="en-US"/>
          </a:p>
          <a:p>
            <a:r>
              <a:rPr lang="en-US"/>
              <a:t>PROS  </a:t>
            </a:r>
          </a:p>
          <a:p>
            <a:endParaRPr lang="en-US"/>
          </a:p>
          <a:p>
            <a:r>
              <a:rPr lang="en-US"/>
              <a:t>CONS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BBB66951-48AA-44ED-892D-565D62EB61A1}"/>
              </a:ext>
            </a:extLst>
          </p:cNvPr>
          <p:cNvSpPr/>
          <p:nvPr/>
        </p:nvSpPr>
        <p:spPr>
          <a:xfrm rot="166620">
            <a:off x="7608646" y="1274983"/>
            <a:ext cx="347589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  <a:p>
            <a:endParaRPr lang="en-US" sz="14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Consult the Design Alternatives Guidelines.</a:t>
            </a:r>
          </a:p>
          <a:p>
            <a:r>
              <a:rPr lang="en-US" sz="1400">
                <a:solidFill>
                  <a:schemeClr val="tx1"/>
                </a:solidFill>
              </a:rPr>
              <a:t>Show at least two alternative designs. Don’t skip or skimp on this section - this is often what inspires the most useful feedback.</a:t>
            </a:r>
          </a:p>
          <a:p>
            <a:r>
              <a:rPr lang="en-US" sz="1400">
                <a:solidFill>
                  <a:schemeClr val="tx1"/>
                </a:solidFill>
              </a:rPr>
              <a:t>Refer or link to RFA spec, </a:t>
            </a:r>
            <a:r>
              <a:rPr lang="en-US" sz="1400" b="1">
                <a:solidFill>
                  <a:schemeClr val="tx1"/>
                </a:solidFill>
              </a:rPr>
              <a:t>DESIGNS CONSIDERED</a:t>
            </a:r>
            <a:r>
              <a:rPr lang="en-US" sz="1400">
                <a:solidFill>
                  <a:schemeClr val="tx1"/>
                </a:solidFill>
              </a:rPr>
              <a:t> section.</a:t>
            </a:r>
          </a:p>
          <a:p>
            <a:pPr marL="60325"/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chemeClr val="tx1"/>
              </a:solidFill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EAE720B3-D9FA-4A20-988D-173561DB8880}"/>
              </a:ext>
            </a:extLst>
          </p:cNvPr>
          <p:cNvSpPr/>
          <p:nvPr/>
        </p:nvSpPr>
        <p:spPr>
          <a:xfrm rot="166620">
            <a:off x="7608672" y="3312179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4488" indent="-231775" defTabSz="344488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Give details about each alternative.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Highlight the pros and cons.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Summarize the pros and cons, reinforcing why the proposed design is preferred.</a:t>
            </a:r>
          </a:p>
          <a:p>
            <a:pPr marL="112713"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4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 #2: Name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Design Details </a:t>
            </a:r>
          </a:p>
          <a:p>
            <a:endParaRPr lang="en-US"/>
          </a:p>
          <a:p>
            <a:r>
              <a:rPr lang="en-US"/>
              <a:t>PROS  </a:t>
            </a:r>
          </a:p>
          <a:p>
            <a:endParaRPr lang="en-US"/>
          </a:p>
          <a:p>
            <a:r>
              <a:rPr lang="en-US"/>
              <a:t>CONS </a:t>
            </a:r>
          </a:p>
          <a:p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BA31BAA-3181-48BF-90C9-001C23995928}"/>
              </a:ext>
            </a:extLst>
          </p:cNvPr>
          <p:cNvSpPr/>
          <p:nvPr/>
        </p:nvSpPr>
        <p:spPr>
          <a:xfrm rot="166620">
            <a:off x="7510728" y="1834651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4488" indent="-231775" defTabSz="344488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Give details about each alternative.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Highlight the pros and cons.</a:t>
            </a:r>
          </a:p>
          <a:p>
            <a:pPr marL="344488" indent="-231775" defTabSz="344488">
              <a:buFont typeface="+mj-lt"/>
              <a:buAutoNum type="arabicPeriod" startAt="2"/>
            </a:pPr>
            <a:r>
              <a:rPr lang="en-US" sz="1400" dirty="0">
                <a:solidFill>
                  <a:schemeClr val="tx1"/>
                </a:solidFill>
              </a:rPr>
              <a:t>Summarize the pros and cons, reinforcing why the proposed design is preferred.</a:t>
            </a:r>
          </a:p>
          <a:p>
            <a:pPr marL="344488" indent="-231775" defTabSz="344488">
              <a:buFont typeface="+mj-lt"/>
              <a:buAutoNum type="arabicPeriod" startAt="2"/>
            </a:pPr>
            <a:endParaRPr lang="en-US" sz="1400" dirty="0">
              <a:solidFill>
                <a:schemeClr val="tx1"/>
              </a:solidFill>
            </a:endParaRPr>
          </a:p>
          <a:p>
            <a:pPr marL="112713"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8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Pros and Cons of Design Alternatives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898D8FB5-4E11-460F-9810-069AFEA8141B}"/>
              </a:ext>
            </a:extLst>
          </p:cNvPr>
          <p:cNvSpPr/>
          <p:nvPr/>
        </p:nvSpPr>
        <p:spPr>
          <a:xfrm rot="166620">
            <a:off x="7302715" y="453510"/>
            <a:ext cx="3432357" cy="4044933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112713" defTabSz="344488"/>
            <a:endParaRPr lang="en-US" sz="1400" dirty="0">
              <a:solidFill>
                <a:schemeClr val="tx1"/>
              </a:solidFill>
            </a:endParaRPr>
          </a:p>
          <a:p>
            <a:pPr marL="112713" defTabSz="344488"/>
            <a:r>
              <a:rPr lang="en-US" sz="1400" dirty="0">
                <a:solidFill>
                  <a:schemeClr val="tx1"/>
                </a:solidFill>
              </a:rPr>
              <a:t>Summarize the pros and cons of each alternative, including the proposed design. Reinforce why the proposed design is preferred. Use visuals to refer to each design.</a:t>
            </a:r>
          </a:p>
          <a:p>
            <a:pPr marL="112713" defTabSz="344488"/>
            <a:endParaRPr lang="en-US" sz="1400" dirty="0">
              <a:solidFill>
                <a:schemeClr val="tx1"/>
              </a:solidFill>
            </a:endParaRPr>
          </a:p>
          <a:p>
            <a:pPr marL="344488" lvl="1" indent="-231775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204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Proposal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DEBFF021-BEFC-4C16-BA5C-7F173B6B64EF}"/>
              </a:ext>
            </a:extLst>
          </p:cNvPr>
          <p:cNvSpPr/>
          <p:nvPr/>
        </p:nvSpPr>
        <p:spPr>
          <a:xfrm rot="166620">
            <a:off x="7436440" y="1988061"/>
            <a:ext cx="3475897" cy="194352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Highlight key elements of the design.</a:t>
            </a:r>
            <a:br>
              <a:rPr lang="en-US" sz="1600">
                <a:solidFill>
                  <a:schemeClr val="tx1"/>
                </a:solidFill>
              </a:rPr>
            </a:b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Include visual reminders.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List API design considerations…</a:t>
            </a:r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8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F1DE-AC91-4C67-93D2-306B4DB9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Requested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B73F323-0776-4D9F-AD79-8004F19C7F48}"/>
              </a:ext>
            </a:extLst>
          </p:cNvPr>
          <p:cNvSpPr/>
          <p:nvPr/>
        </p:nvSpPr>
        <p:spPr>
          <a:xfrm rot="166620">
            <a:off x="7588840" y="1835661"/>
            <a:ext cx="3475897" cy="194352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Restate the desired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Include next steps – e.g., if an IDR is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329860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Configuration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 files store application settings, build parameters, and project metadata in human-readable formats</a:t>
            </a:r>
          </a:p>
          <a:p/>
          <a:p>
            <a:r>
              <a:rPr b="1"/>
              <a:t>Common Modern Formats:</a:t>
            </a:r>
          </a:p>
          <a:p>
            <a:pPr/>
            <a:r>
              <a:t>YAML - GitHub Actions, Docker Compose, Kubernetes</a:t>
            </a:r>
          </a:p>
          <a:p>
            <a:pPr/>
            <a:r>
              <a:t>TOML - Python (pyproject.toml), Rust (Cargo.toml)</a:t>
            </a:r>
          </a:p>
          <a:p>
            <a:pPr/>
            <a:r>
              <a:t>INI - Legacy config files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TOML (Tom's Obvious Minimal Language) - Easy to read and write</a:t>
            </a:r>
          </a:p>
          <a:p/>
          <a:p>
            <a:r>
              <a:t># Comments start with hash</a:t>
            </a:r>
          </a:p>
          <a:p>
            <a:r>
              <a:t>name = "my-project"</a:t>
            </a:r>
          </a:p>
          <a:p>
            <a:r>
              <a:t>version = "1.0.0"</a:t>
            </a:r>
          </a:p>
          <a:p>
            <a:r>
              <a:t>enabled = true</a:t>
            </a:r>
          </a:p>
          <a:p>
            <a:r>
              <a:t>count = 42</a:t>
            </a:r>
          </a:p>
          <a:p/>
          <a:p>
            <a:r>
              <a:t>Key-value pairs, strongly typed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TOML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 organize related settings</a:t>
            </a:r>
          </a:p>
          <a:p/>
          <a:p>
            <a:r>
              <a:t>[project]</a:t>
            </a:r>
          </a:p>
          <a:p>
            <a:r>
              <a:t>name = "example"</a:t>
            </a:r>
          </a:p>
          <a:p/>
          <a:p>
            <a:r>
              <a:t>[project.urls]</a:t>
            </a:r>
          </a:p>
          <a:p>
            <a:r>
              <a:t>homepage = "https://example.com"</a:t>
            </a:r>
          </a:p>
          <a:p/>
          <a:p>
            <a:r>
              <a:t>Creates: project.urls.homepage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TOML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Inline arrays:</a:t>
            </a:r>
          </a:p>
          <a:p>
            <a:r>
              <a:t>deps = ["numpy", "pandas"]</a:t>
            </a:r>
          </a:p>
          <a:p/>
          <a:p>
            <a:r>
              <a:t>Array of tables:</a:t>
            </a:r>
          </a:p>
          <a:p>
            <a:r>
              <a:t>[[servers]]</a:t>
            </a:r>
          </a:p>
          <a:p>
            <a:r>
              <a:t>name = "alpha"</a:t>
            </a:r>
          </a:p>
          <a:p/>
          <a:p>
            <a:r>
              <a:t>[[servers]]</a:t>
            </a:r>
          </a:p>
          <a:p>
            <a:r>
              <a:t>name = "beta"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YAML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YAML (YAML Ain't Markup Language)</a:t>
            </a:r>
          </a:p>
          <a:p/>
          <a:p>
            <a:r>
              <a:t># Comments start with hash</a:t>
            </a:r>
          </a:p>
          <a:p>
            <a:r>
              <a:t>name: my-application</a:t>
            </a:r>
          </a:p>
          <a:p>
            <a:r>
              <a:t>version: 1.0.0</a:t>
            </a:r>
          </a:p>
          <a:p>
            <a:r>
              <a:t>enabled: true</a:t>
            </a:r>
          </a:p>
          <a:p>
            <a:r>
              <a:t>count: 42</a:t>
            </a:r>
          </a:p>
          <a:p/>
          <a:p>
            <a:r>
              <a:t>Indentation-based structure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YAML Nested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Mappings create nested data</a:t>
            </a:r>
          </a:p>
          <a:p/>
          <a:p>
            <a:r>
              <a:t>database:</a:t>
            </a:r>
          </a:p>
          <a:p>
            <a:r>
              <a:t>  host: localhost</a:t>
            </a:r>
          </a:p>
          <a:p>
            <a:r>
              <a:t>  port: 5432</a:t>
            </a:r>
          </a:p>
          <a:p>
            <a:r>
              <a:t>  credentials:</a:t>
            </a:r>
          </a:p>
          <a:p>
            <a:r>
              <a:t>    username: admin</a:t>
            </a:r>
          </a:p>
          <a:p/>
          <a:p>
            <a:r>
              <a:t>Access: database.credentials.username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YAML Arrays (Sequences)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style:</a:t>
            </a:r>
          </a:p>
          <a:p>
            <a:r>
              <a:t>ports:</a:t>
            </a:r>
          </a:p>
          <a:p>
            <a:r>
              <a:t>  - 8080</a:t>
            </a:r>
          </a:p>
          <a:p>
            <a:r>
              <a:t>  - 8443</a:t>
            </a:r>
          </a:p>
          <a:p/>
          <a:p>
            <a:r>
              <a:t>Flow style:</a:t>
            </a:r>
          </a:p>
          <a:p>
            <a:r>
              <a:t>ports: [8080, 8443, 9000]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Modify GitHub Actions workflows</a:t>
            </a:r>
          </a:p>
          <a:p>
            <a:pPr/>
            <a:r>
              <a:t>Access Python package metadata</a:t>
            </a:r>
          </a:p>
          <a:p>
            <a:pPr/>
            <a:r>
              <a:t>Store application settings</a:t>
            </a:r>
          </a:p>
          <a:p>
            <a:pPr/>
            <a:r>
              <a:t>Generate Docker/Kubernetes configs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Walkthrough: Reading TOML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% Read TOML</a:t>
            </a:r>
          </a:p>
          <a:p>
            <a:r>
              <a:t>project = readtoml("pyproject.toml");</a:t>
            </a:r>
          </a:p>
          <a:p/>
          <a:p>
            <a:r>
              <a:t>% Nested tables</a:t>
            </a:r>
          </a:p>
          <a:p>
            <a:r>
              <a:t>name = project.project.name;</a:t>
            </a:r>
          </a:p>
          <a:p/>
          <a:p>
            <a:r>
              <a:t>% Special characters</a:t>
            </a:r>
          </a:p>
          <a:p>
            <a:r>
              <a:t>backend = project.("build-system").("build-backend");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Walkthrough: Writing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% Create data</a:t>
            </a:r>
          </a:p>
          <a:p>
            <a:r>
              <a:t>config = YAMLData();</a:t>
            </a:r>
          </a:p>
          <a:p>
            <a:r>
              <a:t>config.server.host = "localhost";</a:t>
            </a:r>
          </a:p>
          <a:p/>
          <a:p>
            <a:r>
              <a:t>% Write</a:t>
            </a:r>
          </a:p>
          <a:p>
            <a:r>
              <a:t>writeyaml(config, "server.yaml");</a:t>
            </a:r>
          </a:p>
          <a:p/>
          <a:p>
            <a:r>
              <a:t>% With options</a:t>
            </a:r>
          </a:p>
          <a:p>
            <a:r>
              <a:t>writeyaml(config, "server.yaml", Indent=4);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ConfigurationData Class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 base for structured config</a:t>
            </a:r>
          </a:p>
          <a:p/>
          <a:p>
            <a:r>
              <a:rPr b="1"/>
              <a:t>Key Decisions:</a:t>
            </a:r>
          </a:p>
          <a:p>
            <a:pPr/>
            <a:r>
              <a:t>Value class</a:t>
            </a:r>
          </a:p>
          <a:p>
            <a:pPr/>
            <a:r>
              <a:t>Uses dictionary (R2022b+)</a:t>
            </a:r>
          </a:p>
          <a:p>
            <a:pPr/>
            <a:r>
              <a:t>RedefinesDot mixin</a:t>
            </a:r>
          </a:p>
          <a:p>
            <a:pPr/>
            <a:r>
              <a:t>Key aliasing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Overview: Read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data = readyaml(filename)</a:t>
            </a:r>
          </a:p>
          <a:p>
            <a:r>
              <a:rPr b="1"/>
              <a:t>data = readtoml(filename)</a:t>
            </a:r>
          </a:p>
          <a:p>
            <a:r>
              <a:rPr b="1"/>
              <a:t>data = readini(filename)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Overview: Write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writeyaml(data, filename)</a:t>
            </a:r>
          </a:p>
          <a:p>
            <a:r>
              <a:rPr b="1"/>
              <a:t>writetoml(data, filename)</a:t>
            </a:r>
          </a:p>
          <a:p>
            <a:r>
              <a:rPr b="1"/>
              <a:t>writeini(data, filename)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SequenceRule:</a:t>
            </a:r>
          </a:p>
          <a:p>
            <a:pPr/>
            <a:r>
              <a:t>"auto" or "cell"</a:t>
            </a:r>
          </a:p>
          <a:p/>
          <a:p>
            <a:r>
              <a:rPr b="1"/>
              <a:t>Indent:</a:t>
            </a:r>
          </a:p>
          <a:p>
            <a:pPr/>
            <a:r>
              <a:t>Number of spaces</a:t>
            </a:r>
          </a:p>
          <a:p/>
          <a:p>
            <a:r>
              <a:rPr b="1"/>
              <a:t>ArrayStyle:</a:t>
            </a:r>
          </a:p>
          <a:p>
            <a:pPr/>
            <a:r>
              <a:t>"flow" or "block"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Alternative 3: Struct with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structs with wrapper</a:t>
            </a:r>
          </a:p>
          <a:p/>
          <a:p>
            <a:r>
              <a:rPr b="1"/>
              <a:t>PROS</a:t>
            </a:r>
          </a:p>
          <a:p>
            <a:pPr/>
            <a:r>
              <a:t>Structs familiar</a:t>
            </a:r>
          </a:p>
          <a:p/>
          <a:p>
            <a:r>
              <a:rPr b="1"/>
              <a:t>CONS</a:t>
            </a:r>
          </a:p>
          <a:p>
            <a:pPr/>
            <a:r>
              <a:t>No special characters</a:t>
            </a:r>
          </a:p>
          <a:p>
            <a:pPr/>
            <a:r>
              <a:t>Two outputs awkward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6373C024-208B-4210-B9D7-DE9E6D46232F}" vid="{0AAF3998-E945-49EA-AE21-DC9C55644A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33291C80D20540A94D9CFBF1780E8F" ma:contentTypeVersion="15" ma:contentTypeDescription="Create a new document." ma:contentTypeScope="" ma:versionID="39d7a9c272b837caf57fd7c18d0fa356">
  <xsd:schema xmlns:xsd="http://www.w3.org/2001/XMLSchema" xmlns:xs="http://www.w3.org/2001/XMLSchema" xmlns:p="http://schemas.microsoft.com/office/2006/metadata/properties" xmlns:ns2="ee0baada-77a5-4611-8cd6-672a68aeea58" xmlns:ns3="a5c3e8b0-7608-49eb-a067-53f2827a6faf" targetNamespace="http://schemas.microsoft.com/office/2006/metadata/properties" ma:root="true" ma:fieldsID="7b3a0b646f601630b8901e2664c3efc3" ns2:_="" ns3:_="">
    <xsd:import namespace="ee0baada-77a5-4611-8cd6-672a68aeea58"/>
    <xsd:import namespace="a5c3e8b0-7608-49eb-a067-53f2827a6f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baada-77a5-4611-8cd6-672a68aee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c3e8b0-7608-49eb-a067-53f2827a6f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5c3e8b0-7608-49eb-a067-53f2827a6faf">
      <UserInfo>
        <DisplayName>Andreas Sorgatz</DisplayName>
        <AccountId>407</AccountId>
        <AccountType/>
      </UserInfo>
      <UserInfo>
        <DisplayName>Steph Round</DisplayName>
        <AccountId>220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FCCB852-5936-4FF3-922C-9D47B073236D}">
  <ds:schemaRefs>
    <ds:schemaRef ds:uri="a5c3e8b0-7608-49eb-a067-53f2827a6faf"/>
    <ds:schemaRef ds:uri="ee0baada-77a5-4611-8cd6-672a68aeea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B851B7-D313-4E85-A1E0-5976CFE11EC3}">
  <ds:schemaRefs>
    <ds:schemaRef ds:uri="a5c3e8b0-7608-49eb-a067-53f2827a6faf"/>
    <ds:schemaRef ds:uri="ee0baada-77a5-4611-8cd6-672a68aeea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799</Words>
  <Application>Microsoft Macintosh PowerPoint</Application>
  <PresentationFormat>Widescreen</PresentationFormat>
  <Paragraphs>173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Wingdings</vt:lpstr>
      <vt:lpstr>MW_Public_widescreen</vt:lpstr>
      <vt:lpstr>Title</vt:lpstr>
      <vt:lpstr>Agenda </vt:lpstr>
      <vt:lpstr>What is the goal of today’s meeting?</vt:lpstr>
      <vt:lpstr>Design Goals and Direction</vt:lpstr>
      <vt:lpstr>Who are our users?</vt:lpstr>
      <vt:lpstr>Requirements Summary</vt:lpstr>
      <vt:lpstr>PowerPoint Presentation</vt:lpstr>
      <vt:lpstr>Design Proposal and Assessment</vt:lpstr>
      <vt:lpstr>Design Walkthrough (proposed design)</vt:lpstr>
      <vt:lpstr>Additional design details…</vt:lpstr>
      <vt:lpstr>Benchmarks</vt:lpstr>
      <vt:lpstr>Design Alternative #1: Name</vt:lpstr>
      <vt:lpstr>Design Alternative #2: Name</vt:lpstr>
      <vt:lpstr>Pros and Cons of Design Alternatives</vt:lpstr>
      <vt:lpstr>Design Proposal Summary</vt:lpstr>
      <vt:lpstr>Feedback Requested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Practices for Organizational Design Review Presentations</dc:title>
  <dc:subject/>
  <dc:creator>Nirja Mehta</dc:creator>
  <cp:keywords>Version 21.2</cp:keywords>
  <dc:description/>
  <cp:lastModifiedBy>Michelle Hirsch</cp:lastModifiedBy>
  <cp:revision>3</cp:revision>
  <cp:lastPrinted>2024-12-10T20:16:37Z</cp:lastPrinted>
  <dcterms:created xsi:type="dcterms:W3CDTF">2021-10-15T18:21:21Z</dcterms:created>
  <dcterms:modified xsi:type="dcterms:W3CDTF">2026-01-15T20:55:16Z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0x0101003B33291C80D20540A94D9CFBF1780E8F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